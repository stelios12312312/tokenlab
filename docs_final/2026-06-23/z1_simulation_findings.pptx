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Today I will summarize the main findings from the Z1 simulation program and the practical next steps. The purpose of the work was not to prove that every future configuration is safe. It was to identify a viable operating region, understand the controls that matter most, and show where empirical calibration is still needed. The key themes are the bootstrap path, the settlement and Treasury controls, the role of governance and parameter locks, Zee-scale onboarding, and the next phase of simulation and publication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The engagement produced two connected deliverables. First, the formal specification translated Z1 into a traceable system of mechanisms, policies, parameters, accounting rules, and control pathways. Second, the TokenLab simulations tested the core economy in progressively richer stages, from solvency through market dynamics and broader resilience. The important point is that the specification and the simulation now reinforce each other: the vault explains what the system is intended to do, while the simulation shows how the most important feedback loops behave under different assumptions.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The first finding is that Z1 should be treated as a planned bootstrap economy. The genesis pools provide runway while the utility side of the system develops. The simulation does not yet give one final breakeven number, because that depends on real user behavior, but it gives us the structure needed to calculate it. We can now connect adoption, claim behavior, utility spending, fee capture, Treasury runway, and reserve support in one model. The next phase is to widen the sweeps and replace provisional behavior with Zee data so that the bootstrap plan becomes a set of measurable operating targets.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The central simulation result is that a viable operating region exists under the tested assumptions. The supporting report records that most baseline randomized runs remained above the solvency floor, while dynamic settlement control performed better than a fixed ratio in adversarial conditions. Settlement ratio is the strongest individual lever, but it is not the only one. Claim intensity, vesting timing, utility recirculation, and fee capture also matter. The practical implication is positive: the system can be managed through a compact set of controls, provided those controls are calibrated as ranges and monitored through clear operating indicators.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These considerations define the main design frontiers for Z1. Participation growth is valuable, but it increases reserve demand. Governance needs strong protections, but the process also has to remain usable enough for real participation. Brand activation can add important demand, while compliance controls define how that demand is introduced. Scale increases both opportunity and the need for robust identity controls. Finally, large onboarding cohorts create vesting waves that must be deliberately staggered. The purpose of simulation is to quantify these trade-offs and identify combinations that preserve both usability and resilience.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Three layers deserve special attention. Treasury is the most connected coordination hub because it supports reserve top-ups, incentives, validators, and operations. That does not mean every economic flow passes through Treasury, but changes to Treasury policy have broad consequences. Integrity is the trust root because recognition, campaigns, and governance all depend on credible identity and participation signals. Settlement is the bridge between ACR and Z1U, so its ratio, caps, and queue rules translate audience activity into reserve demand. Together, these three layers explain why monitoring, authorization, and parameter locks are so important.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Zee gives Z1 a distribution advantage that most token systems do not have. The same advantage changes the load profile of the economy. Onboarding may arrive in large waves through campaigns, broadcast events, or platform integrations, and those cohorts can later reach vesting eligibility at similar times. The specified hash-based staggering mechanism is designed to spread that pressure across a longer window. The next phase should validate the mechanism using realistic audience cohorts, rollout curves, and vesting schedules. The objective is not to slow growth; it is to make growth predictable enough for the reserve and Treasury to support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The model is now ready to move from provisional behavior to empirical calibration. The core mechanics and accounting relationships are in place at simulation scale, but production decisions should use Zee's audience evidence. Engagement frequency, session depth, loyalty redemption, and campaign response can help define realistic claim, settlement, and utility-spending distributions. Those distributions can then be applied to the sensitivity and stress-testing framework that already exists. This is the point where the simulation becomes a practical operating tool: not because every uncertainty disappears, but because the largest behavioral assumptions become measurable and updateable.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This slide is specifically about parameter locks rather than the broader governance model. The design separates parameters according to the consequences of changing them. Tier 0 contains the foundational constraints that define the economy and therefore receives the strongest lock. Tier 1 contains important tuning parameters, but changes remain inside approved ranges and use delayed execution. Tier 2 contains routine operating controls that can move more quickly without changing the system's foundations. This architecture preserves adaptability while reducing the risk of accidental or overly rapid changes to critical economic rules.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The next phase should deepen rather than restart the work. First, we will broaden the parameter sweeps so that the output is a set of operating bands and early-warning thresholds. Second, Zee audience data will replace the largest behavioral assumptions. Third, we will validate scale, market dynamics, Treasury recovery, and coordinated stress. Governance remains part of the program: the model should test participation, delegation, proposal behavior, and capture resistance together with utility, campaigns, creators, validators, and liquidity. Keeping specification and adversarial testing in the same workflow allows each finding to translate directly into a design or calibration decision.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The JBBA publication remains part of the proposed next step. The paper would focus on parameter locks as a general token-engineering design pattern, with Z1 as the case study. The contribution is not simply that some parameters are harder to change than others. It is the formal separation of foundational locks, bounded tuning ranges, and routine operating controls, together with simulation evidence showing why that separation matters. The Journal of the British Blockchain Association is the proposed target. The proposed contributor group includes Linas Stankevicius, Nik Pletikos, Dr. Stylianos Kampakis, and Dr. Theodosis Mourouzis. The final literature review, authorship, formal-methods contribution, and submission plan should be agreed before the paper is positioned externally as committed.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latin typeface="Calibri"/>
              </a:rPr>
              <a:t>The overall conclusion is constructive. The simulations identify a viable operating region and a compact set of controls that matter most. They also show where calibration is still required: user behavior, Zee-scale onboarding, vesting-wave timing, Treasury runway, and governance participation. The next phase is therefore about strengthening confidence, not correcting a failed architecture. We will use empirical data, broader sweeps, and targeted resilience tests to convert the current findings into operating ranges and launch decisions. The parameter-lock framework and the proposed JBBA paper provide an additional path to turn this work into a reusable contribution beyond Z1.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2D"/>
        </a:solidFill>
      </p:bgPr>
    </p:bg>
    <p:spTree>
      <p:nvGrpSpPr>
        <p:cNvPr id="1" name=""/>
        <p:cNvGrpSpPr/>
        <p:nvPr/>
      </p:nvGrpSpPr>
      <p:grpSpPr>
        <a:xfrm>
          <a:off x="0" y="0"/>
          <a:ext cx="0" cy="0"/>
          <a:chOff x="0" y="0"/>
          <a:chExt cx="0" cy="0"/>
        </a:xfrm>
      </p:grpSpPr>
      <p:sp>
        <p:nvSpPr>
          <p:cNvPr id="2" name="Text 0"/>
          <p:cNvSpPr/>
          <p:nvPr/>
        </p:nvSpPr>
        <p:spPr>
          <a:xfrm>
            <a:off x="548640" y="365760"/>
            <a:ext cx="3657600" cy="365760"/>
          </a:xfrm>
          <a:prstGeom prst="rect">
            <a:avLst/>
          </a:prstGeom>
          <a:noFill/>
          <a:ln/>
        </p:spPr>
        <p:txBody>
          <a:bodyPr wrap="square" lIns="0" tIns="0" rIns="0" bIns="0" rtlCol="0" anchor="ctr"/>
          <a:lstStyle/>
          <a:p>
            <a:pPr indent="0" marL="0">
              <a:buNone/>
            </a:pPr>
            <a:r>
              <a:rPr lang="en-US" sz="1200" i="1" dirty="0">
                <a:solidFill>
                  <a:srgbClr val="888888"/>
                </a:solidFill>
                <a:latin typeface="Calibri" pitchFamily="34" charset="0"/>
                <a:ea typeface="Calibri" pitchFamily="34" charset="-122"/>
                <a:cs typeface="Calibri" pitchFamily="34" charset="-120"/>
              </a:rPr>
              <a:t>provecto labs.</a:t>
            </a:r>
            <a:endParaRPr lang="en-US" sz="1200" dirty="0"/>
          </a:p>
        </p:txBody>
      </p:sp>
      <p:sp>
        <p:nvSpPr>
          <p:cNvPr id="3" name="Text 1"/>
          <p:cNvSpPr/>
          <p:nvPr/>
        </p:nvSpPr>
        <p:spPr>
          <a:xfrm>
            <a:off x="548640" y="1463040"/>
            <a:ext cx="804672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Z1 Simulation v1</a:t>
            </a:r>
            <a:endParaRPr lang="en-US" sz="3800" dirty="0"/>
          </a:p>
        </p:txBody>
      </p:sp>
      <p:sp>
        <p:nvSpPr>
          <p:cNvPr id="4" name="Text 2"/>
          <p:cNvSpPr/>
          <p:nvPr/>
        </p:nvSpPr>
        <p:spPr>
          <a:xfrm>
            <a:off x="548640" y="2194560"/>
            <a:ext cx="8046720" cy="502920"/>
          </a:xfrm>
          <a:prstGeom prst="rect">
            <a:avLst/>
          </a:prstGeom>
          <a:noFill/>
          <a:ln/>
        </p:spPr>
        <p:txBody>
          <a:bodyPr wrap="square" lIns="0" tIns="0" rIns="0" bIns="0" rtlCol="0" anchor="ctr"/>
          <a:lstStyle/>
          <a:p>
            <a:pPr indent="0" marL="0">
              <a:buNone/>
            </a:pPr>
            <a:r>
              <a:rPr lang="en-US" sz="2000" dirty="0">
                <a:solidFill>
                  <a:srgbClr val="2EAA56"/>
                </a:solidFill>
                <a:latin typeface="Calibri" pitchFamily="34" charset="0"/>
                <a:ea typeface="Calibri" pitchFamily="34" charset="-122"/>
                <a:cs typeface="Calibri" pitchFamily="34" charset="-120"/>
              </a:rPr>
              <a:t>Key Findings &amp; Next Steps</a:t>
            </a:r>
            <a:endParaRPr lang="en-US" sz="2000" dirty="0"/>
          </a:p>
        </p:txBody>
      </p:sp>
      <p:sp>
        <p:nvSpPr>
          <p:cNvPr id="5" name="Shape 3"/>
          <p:cNvSpPr/>
          <p:nvPr/>
        </p:nvSpPr>
        <p:spPr>
          <a:xfrm>
            <a:off x="548640" y="2880360"/>
            <a:ext cx="1828800" cy="0"/>
          </a:xfrm>
          <a:prstGeom prst="line">
            <a:avLst/>
          </a:prstGeom>
          <a:noFill/>
          <a:ln w="25400">
            <a:solidFill>
              <a:srgbClr val="2EAA56"/>
            </a:solidFill>
            <a:prstDash val="solid"/>
          </a:ln>
        </p:spPr>
        <p:txBody>
          <a:bodyPr wrap="square"/>
          <a:p/>
        </p:txBody>
      </p:sp>
      <p:sp>
        <p:nvSpPr>
          <p:cNvPr id="6" name="Text 4"/>
          <p:cNvSpPr/>
          <p:nvPr/>
        </p:nvSpPr>
        <p:spPr>
          <a:xfrm>
            <a:off x="548640" y="3154680"/>
            <a:ext cx="7315200" cy="36576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Provecto Labs  //  TokenLab  //  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What Was Delivered</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Shape 3"/>
          <p:cNvSpPr/>
          <p:nvPr/>
        </p:nvSpPr>
        <p:spPr>
          <a:xfrm>
            <a:off x="548640" y="1143000"/>
            <a:ext cx="3794760" cy="3291840"/>
          </a:xfrm>
          <a:prstGeom prst="roundRect">
            <a:avLst>
              <a:gd name="adj" fmla="val 2222"/>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6" name="Text 4"/>
          <p:cNvSpPr/>
          <p:nvPr/>
        </p:nvSpPr>
        <p:spPr>
          <a:xfrm>
            <a:off x="777240" y="1280160"/>
            <a:ext cx="3383280" cy="365760"/>
          </a:xfrm>
          <a:prstGeom prst="rect">
            <a:avLst/>
          </a:prstGeom>
          <a:noFill/>
          <a:ln/>
        </p:spPr>
        <p:txBody>
          <a:bodyPr wrap="square" lIns="0" tIns="0" rIns="0" bIns="0" rtlCol="0" anchor="ctr"/>
          <a:lstStyle/>
          <a:p>
            <a:pPr indent="0" marL="0">
              <a:buNone/>
            </a:pPr>
            <a:r>
              <a:rPr lang="en-US" sz="1400" b="1" dirty="0">
                <a:solidFill>
                  <a:srgbClr val="2EAA56"/>
                </a:solidFill>
                <a:latin typeface="Calibri" pitchFamily="34" charset="0"/>
                <a:ea typeface="Calibri" pitchFamily="34" charset="-122"/>
                <a:cs typeface="Calibri" pitchFamily="34" charset="-120"/>
              </a:rPr>
              <a:t>Formal Specification</a:t>
            </a:r>
            <a:endParaRPr lang="en-US" sz="1400" dirty="0"/>
          </a:p>
        </p:txBody>
      </p:sp>
      <p:sp>
        <p:nvSpPr>
          <p:cNvPr id="7" name="Text 5"/>
          <p:cNvSpPr/>
          <p:nvPr/>
        </p:nvSpPr>
        <p:spPr>
          <a:xfrm>
            <a:off x="777240" y="1737360"/>
            <a:ext cx="3383280" cy="2560320"/>
          </a:xfrm>
          <a:prstGeom prst="rect">
            <a:avLst/>
          </a:prstGeom>
          <a:noFill/>
          <a:ln/>
        </p:spPr>
        <p:txBody>
          <a:bodyPr wrap="square" rtlCol="0" anchor="t">
            <a:noAutofit/>
          </a:bodyPr>
          <a:lstStyle/>
          <a:p>
            <a:pPr algn="l">
              <a:lnSpc>
                <a:spcPct val="95000"/>
              </a:lnSpc>
              <a:spcAft>
                <a:spcPts val="200"/>
              </a:spcAft>
            </a:pPr>
            <a:r>
              <a:rPr sz="1120">
                <a:solidFill>
                  <a:srgbClr val="2D2D2D"/>
                </a:solidFill>
                <a:latin typeface="Calibri"/>
              </a:rPr>
              <a:t>• 57 mechanisms, 44 policies, 29 gates, and 67 parameters in the vault inventory</a:t>
            </a:r>
          </a:p>
          <a:p>
            <a:pPr algn="l">
              <a:lnSpc>
                <a:spcPct val="95000"/>
              </a:lnSpc>
              <a:spcAft>
                <a:spcPts val="200"/>
              </a:spcAft>
            </a:pPr>
            <a:r>
              <a:rPr sz="1120">
                <a:solidFill>
                  <a:srgbClr val="2D2D2D"/>
                </a:solidFill>
                <a:latin typeface="Calibri"/>
              </a:rPr>
              <a:t>• Eight value-creation mechanisms mapped through an interaction matrix</a:t>
            </a:r>
          </a:p>
          <a:p>
            <a:pPr algn="l">
              <a:lnSpc>
                <a:spcPct val="95000"/>
              </a:lnSpc>
              <a:spcAft>
                <a:spcPts val="200"/>
              </a:spcAft>
            </a:pPr>
            <a:r>
              <a:rPr sz="1120">
                <a:solidFill>
                  <a:srgbClr val="2D2D2D"/>
                </a:solidFill>
                <a:latin typeface="Calibri"/>
              </a:rPr>
              <a:t>• Accounting and conservation checks defined</a:t>
            </a:r>
          </a:p>
          <a:p>
            <a:pPr algn="l">
              <a:lnSpc>
                <a:spcPct val="95000"/>
              </a:lnSpc>
              <a:spcAft>
                <a:spcPts val="200"/>
              </a:spcAft>
            </a:pPr>
            <a:r>
              <a:rPr sz="1120">
                <a:solidFill>
                  <a:srgbClr val="2D2D2D"/>
                </a:solidFill>
                <a:latin typeface="Calibri"/>
              </a:rPr>
              <a:t>• Failure modes and design trade-offs catalogued</a:t>
            </a:r>
          </a:p>
          <a:p>
            <a:pPr algn="l">
              <a:lnSpc>
                <a:spcPct val="95000"/>
              </a:lnSpc>
              <a:spcAft>
                <a:spcPts val="200"/>
              </a:spcAft>
            </a:pPr>
            <a:r>
              <a:rPr sz="1120">
                <a:solidFill>
                  <a:srgbClr val="2D2D2D"/>
                </a:solidFill>
                <a:latin typeface="Calibri"/>
              </a:rPr>
              <a:t>• Three-tier parameter-lock architecture documented</a:t>
            </a:r>
          </a:p>
          <a:p>
            <a:pPr algn="l">
              <a:lnSpc>
                <a:spcPct val="95000"/>
              </a:lnSpc>
              <a:spcAft>
                <a:spcPts val="200"/>
              </a:spcAft>
            </a:pPr>
            <a:r>
              <a:rPr sz="1120">
                <a:solidFill>
                  <a:srgbClr val="2D2D2D"/>
                </a:solidFill>
                <a:latin typeface="Calibri"/>
              </a:rPr>
              <a:t>• Governance and operational control pathways specified</a:t>
            </a:r>
          </a:p>
        </p:txBody>
      </p:sp>
      <p:sp>
        <p:nvSpPr>
          <p:cNvPr id="8" name="Shape 6"/>
          <p:cNvSpPr/>
          <p:nvPr/>
        </p:nvSpPr>
        <p:spPr>
          <a:xfrm>
            <a:off x="4800600" y="1143000"/>
            <a:ext cx="3794760" cy="3291840"/>
          </a:xfrm>
          <a:prstGeom prst="roundRect">
            <a:avLst>
              <a:gd name="adj" fmla="val 2222"/>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9" name="Text 7"/>
          <p:cNvSpPr/>
          <p:nvPr/>
        </p:nvSpPr>
        <p:spPr>
          <a:xfrm>
            <a:off x="5029200" y="1280160"/>
            <a:ext cx="3383280" cy="365760"/>
          </a:xfrm>
          <a:prstGeom prst="rect">
            <a:avLst/>
          </a:prstGeom>
          <a:noFill/>
          <a:ln/>
        </p:spPr>
        <p:txBody>
          <a:bodyPr wrap="square" lIns="0" tIns="0" rIns="0" bIns="0" rtlCol="0" anchor="ctr"/>
          <a:lstStyle/>
          <a:p>
            <a:pPr indent="0" marL="0">
              <a:buNone/>
            </a:pPr>
            <a:r>
              <a:rPr lang="en-US" sz="1400" b="1" dirty="0">
                <a:solidFill>
                  <a:srgbClr val="2EAA56"/>
                </a:solidFill>
                <a:latin typeface="Calibri" pitchFamily="34" charset="0"/>
                <a:ea typeface="Calibri" pitchFamily="34" charset="-122"/>
                <a:cs typeface="Calibri" pitchFamily="34" charset="-120"/>
              </a:rPr>
              <a:t>Agent-Based Simulation</a:t>
            </a:r>
            <a:endParaRPr lang="en-US" sz="1400" dirty="0"/>
          </a:p>
        </p:txBody>
      </p:sp>
      <p:sp>
        <p:nvSpPr>
          <p:cNvPr id="10" name="Text 8"/>
          <p:cNvSpPr/>
          <p:nvPr/>
        </p:nvSpPr>
        <p:spPr>
          <a:xfrm>
            <a:off x="5029200" y="1737360"/>
            <a:ext cx="3383280" cy="2560320"/>
          </a:xfrm>
          <a:prstGeom prst="rect">
            <a:avLst/>
          </a:prstGeom>
          <a:noFill/>
          <a:ln/>
        </p:spPr>
        <p:txBody>
          <a:bodyPr wrap="square" rtlCol="0" anchor="t">
            <a:noAutofit/>
          </a:bodyPr>
          <a:lstStyle/>
          <a:p>
            <a:pPr algn="l">
              <a:lnSpc>
                <a:spcPct val="95000"/>
              </a:lnSpc>
              <a:spcAft>
                <a:spcPts val="200"/>
              </a:spcAft>
            </a:pPr>
            <a:r>
              <a:rPr sz="1120">
                <a:solidFill>
                  <a:srgbClr val="2D2D2D"/>
                </a:solidFill>
                <a:latin typeface="Calibri"/>
              </a:rPr>
              <a:t>• M1–M3 models covering core solvency, market dynamics, and resilience</a:t>
            </a:r>
          </a:p>
          <a:p>
            <a:pPr algn="l">
              <a:lnSpc>
                <a:spcPct val="95000"/>
              </a:lnSpc>
              <a:spcAft>
                <a:spcPts val="200"/>
              </a:spcAft>
            </a:pPr>
            <a:r>
              <a:rPr sz="1120">
                <a:solidFill>
                  <a:srgbClr val="2D2D2D"/>
                </a:solidFill>
                <a:latin typeface="Calibri"/>
              </a:rPr>
              <a:t>• Stress scenarios across adoption, sentiment, claims, and adversarial behavior</a:t>
            </a:r>
          </a:p>
          <a:p>
            <a:pPr algn="l">
              <a:lnSpc>
                <a:spcPct val="95000"/>
              </a:lnSpc>
              <a:spcAft>
                <a:spcPts val="200"/>
              </a:spcAft>
            </a:pPr>
            <a:r>
              <a:rPr sz="1120">
                <a:solidFill>
                  <a:srgbClr val="2D2D2D"/>
                </a:solidFill>
                <a:latin typeface="Calibri"/>
              </a:rPr>
              <a:t>• Dynamic settlement, AMM, vesting, campaigns, and ecosystem pools</a:t>
            </a:r>
          </a:p>
          <a:p>
            <a:pPr algn="l">
              <a:lnSpc>
                <a:spcPct val="95000"/>
              </a:lnSpc>
              <a:spcAft>
                <a:spcPts val="200"/>
              </a:spcAft>
            </a:pPr>
            <a:r>
              <a:rPr sz="1120">
                <a:solidFill>
                  <a:srgbClr val="2D2D2D"/>
                </a:solidFill>
                <a:latin typeface="Calibri"/>
              </a:rPr>
              <a:t>• Monte Carlo analysis and structured parameter sweeps</a:t>
            </a:r>
          </a:p>
          <a:p>
            <a:pPr algn="l">
              <a:lnSpc>
                <a:spcPct val="95000"/>
              </a:lnSpc>
              <a:spcAft>
                <a:spcPts val="200"/>
              </a:spcAft>
            </a:pPr>
            <a:r>
              <a:rPr sz="1120">
                <a:solidFill>
                  <a:srgbClr val="2D2D2D"/>
                </a:solidFill>
                <a:latin typeface="Calibri"/>
              </a:rPr>
              <a:t>• Conservation and accounting checks executed every epoch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Planned Bootstrap Path to Self-Sustainability</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Shape 3"/>
          <p:cNvSpPr/>
          <p:nvPr/>
        </p:nvSpPr>
        <p:spPr>
          <a:xfrm>
            <a:off x="548640" y="1143000"/>
            <a:ext cx="8046720" cy="1463040"/>
          </a:xfrm>
          <a:prstGeom prst="roundRect">
            <a:avLst>
              <a:gd name="adj" fmla="val 5000"/>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6" name="Text 4"/>
          <p:cNvSpPr/>
          <p:nvPr/>
        </p:nvSpPr>
        <p:spPr>
          <a:xfrm>
            <a:off x="777240" y="1234440"/>
            <a:ext cx="7589520" cy="640080"/>
          </a:xfrm>
          <a:prstGeom prst="rect">
            <a:avLst/>
          </a:prstGeom>
          <a:noFill/>
          <a:ln/>
        </p:spPr>
        <p:txBody>
          <a:bodyPr wrap="square" lIns="0" tIns="0" rIns="0" bIns="0" rtlCol="0" anchor="ctr">
            <a:noAutofit/>
          </a:bodyPr>
          <a:lstStyle/>
          <a:p>
            <a:pPr algn="l">
              <a:lnSpc>
                <a:spcPct val="100000"/>
              </a:lnSpc>
              <a:spcAft>
                <a:spcPts val="200"/>
              </a:spcAft>
            </a:pPr>
            <a:r>
              <a:rPr sz="1400" b="1">
                <a:solidFill>
                  <a:srgbClr val="2D2D2D"/>
                </a:solidFill>
                <a:latin typeface="Calibri"/>
              </a:rPr>
              <a:t>Z1 is designed to use a planned genesis subsidy while participation, utility activity, and fee capture develop.</a:t>
            </a:r>
          </a:p>
        </p:txBody>
      </p:sp>
      <p:sp>
        <p:nvSpPr>
          <p:cNvPr id="7" name="Text 5"/>
          <p:cNvSpPr/>
          <p:nvPr/>
        </p:nvSpPr>
        <p:spPr>
          <a:xfrm>
            <a:off x="777240" y="1920240"/>
            <a:ext cx="7589520" cy="548640"/>
          </a:xfrm>
          <a:prstGeom prst="rect">
            <a:avLst/>
          </a:prstGeom>
          <a:noFill/>
          <a:ln/>
        </p:spPr>
        <p:txBody>
          <a:bodyPr wrap="square" lIns="0" tIns="0" rIns="0" bIns="0" rtlCol="0" anchor="ctr">
            <a:noAutofit/>
          </a:bodyPr>
          <a:lstStyle/>
          <a:p>
            <a:pPr algn="l">
              <a:lnSpc>
                <a:spcPct val="100000"/>
              </a:lnSpc>
              <a:spcAft>
                <a:spcPts val="200"/>
              </a:spcAft>
            </a:pPr>
            <a:r>
              <a:rPr sz="1220">
                <a:solidFill>
                  <a:srgbClr val="2D2D2D"/>
                </a:solidFill>
                <a:latin typeface="Calibri"/>
              </a:rPr>
              <a:t>The simulation provides a framework for estimating the adoption, spending, and fee conditions required for a durable transition toward organic sustainability.</a:t>
            </a:r>
          </a:p>
        </p:txBody>
      </p:sp>
      <p:sp>
        <p:nvSpPr>
          <p:cNvPr id="8" name="Shape 6"/>
          <p:cNvSpPr/>
          <p:nvPr/>
        </p:nvSpPr>
        <p:spPr>
          <a:xfrm>
            <a:off x="548640" y="2880360"/>
            <a:ext cx="3794760" cy="1737360"/>
          </a:xfrm>
          <a:prstGeom prst="roundRect">
            <a:avLst>
              <a:gd name="adj" fmla="val 4211"/>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9" name="Text 7"/>
          <p:cNvSpPr/>
          <p:nvPr/>
        </p:nvSpPr>
        <p:spPr>
          <a:xfrm>
            <a:off x="777240" y="2971800"/>
            <a:ext cx="3383280" cy="274320"/>
          </a:xfrm>
          <a:prstGeom prst="rect">
            <a:avLst/>
          </a:prstGeom>
          <a:noFill/>
          <a:ln/>
        </p:spPr>
        <p:txBody>
          <a:bodyPr wrap="square" lIns="0" tIns="0" rIns="0" bIns="0" rtlCol="0" anchor="ctr">
            <a:noAutofit/>
          </a:bodyPr>
          <a:lstStyle/>
          <a:p>
            <a:pPr algn="l">
              <a:lnSpc>
                <a:spcPct val="100000"/>
              </a:lnSpc>
              <a:spcAft>
                <a:spcPts val="200"/>
              </a:spcAft>
            </a:pPr>
            <a:r>
              <a:rPr sz="1300" b="1">
                <a:solidFill>
                  <a:srgbClr val="2EAA56"/>
                </a:solidFill>
                <a:latin typeface="Calibri"/>
              </a:rPr>
              <a:t>What we learned</a:t>
            </a:r>
          </a:p>
        </p:txBody>
      </p:sp>
      <p:sp>
        <p:nvSpPr>
          <p:cNvPr id="10" name="Text 8"/>
          <p:cNvSpPr/>
          <p:nvPr/>
        </p:nvSpPr>
        <p:spPr>
          <a:xfrm>
            <a:off x="777240" y="3291840"/>
            <a:ext cx="3383280" cy="1188720"/>
          </a:xfrm>
          <a:prstGeom prst="rect">
            <a:avLst/>
          </a:prstGeom>
          <a:noFill/>
          <a:ln/>
        </p:spPr>
        <p:txBody>
          <a:bodyPr wrap="square" rtlCol="0" anchor="t">
            <a:noAutofit/>
          </a:bodyPr>
          <a:lstStyle/>
          <a:p>
            <a:pPr algn="l">
              <a:lnSpc>
                <a:spcPct val="95000"/>
              </a:lnSpc>
              <a:spcAft>
                <a:spcPts val="200"/>
              </a:spcAft>
            </a:pPr>
            <a:r>
              <a:rPr sz="1110">
                <a:solidFill>
                  <a:srgbClr val="2D2D2D"/>
                </a:solidFill>
                <a:latin typeface="Calibri"/>
              </a:rPr>
              <a:t>• Runway depends on participation growth, utility spending, and fee capture</a:t>
            </a:r>
          </a:p>
          <a:p>
            <a:pPr algn="l">
              <a:lnSpc>
                <a:spcPct val="95000"/>
              </a:lnSpc>
              <a:spcAft>
                <a:spcPts val="200"/>
              </a:spcAft>
            </a:pPr>
            <a:r>
              <a:rPr sz="1110">
                <a:solidFill>
                  <a:srgbClr val="2D2D2D"/>
                </a:solidFill>
                <a:latin typeface="Calibri"/>
              </a:rPr>
              <a:t>• Treasury top-up and throttle mechanisms create time to adjust</a:t>
            </a:r>
          </a:p>
          <a:p>
            <a:pPr algn="l">
              <a:lnSpc>
                <a:spcPct val="95000"/>
              </a:lnSpc>
              <a:spcAft>
                <a:spcPts val="200"/>
              </a:spcAft>
            </a:pPr>
            <a:r>
              <a:rPr sz="1110">
                <a:solidFill>
                  <a:srgbClr val="2D2D2D"/>
                </a:solidFill>
                <a:latin typeface="Calibri"/>
              </a:rPr>
              <a:t>• Wider sweeps can map the breakeven boundary more precisely</a:t>
            </a:r>
          </a:p>
        </p:txBody>
      </p:sp>
      <p:sp>
        <p:nvSpPr>
          <p:cNvPr id="11" name="Shape 9"/>
          <p:cNvSpPr/>
          <p:nvPr/>
        </p:nvSpPr>
        <p:spPr>
          <a:xfrm>
            <a:off x="4800600" y="2880360"/>
            <a:ext cx="3794760" cy="1737360"/>
          </a:xfrm>
          <a:prstGeom prst="roundRect">
            <a:avLst>
              <a:gd name="adj" fmla="val 4211"/>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2" name="Text 10"/>
          <p:cNvSpPr/>
          <p:nvPr/>
        </p:nvSpPr>
        <p:spPr>
          <a:xfrm>
            <a:off x="5029200" y="2971800"/>
            <a:ext cx="3383280" cy="274320"/>
          </a:xfrm>
          <a:prstGeom prst="rect">
            <a:avLst/>
          </a:prstGeom>
          <a:noFill/>
          <a:ln/>
        </p:spPr>
        <p:txBody>
          <a:bodyPr wrap="square" lIns="0" tIns="0" rIns="0" bIns="0" rtlCol="0" anchor="ctr">
            <a:noAutofit/>
          </a:bodyPr>
          <a:lstStyle/>
          <a:p>
            <a:pPr algn="l">
              <a:lnSpc>
                <a:spcPct val="100000"/>
              </a:lnSpc>
              <a:spcAft>
                <a:spcPts val="200"/>
              </a:spcAft>
            </a:pPr>
            <a:r>
              <a:rPr sz="1300" b="1">
                <a:solidFill>
                  <a:srgbClr val="2EAA56"/>
                </a:solidFill>
                <a:latin typeface="Calibri"/>
              </a:rPr>
              <a:t>What this enables</a:t>
            </a:r>
          </a:p>
        </p:txBody>
      </p:sp>
      <p:sp>
        <p:nvSpPr>
          <p:cNvPr id="13" name="Text 11"/>
          <p:cNvSpPr/>
          <p:nvPr/>
        </p:nvSpPr>
        <p:spPr>
          <a:xfrm>
            <a:off x="5029200" y="3291840"/>
            <a:ext cx="3383280" cy="1188720"/>
          </a:xfrm>
          <a:prstGeom prst="rect">
            <a:avLst/>
          </a:prstGeom>
          <a:noFill/>
          <a:ln/>
        </p:spPr>
        <p:txBody>
          <a:bodyPr wrap="square" rtlCol="0" anchor="t">
            <a:noAutofit/>
          </a:bodyPr>
          <a:lstStyle/>
          <a:p>
            <a:pPr algn="l">
              <a:lnSpc>
                <a:spcPct val="95000"/>
              </a:lnSpc>
              <a:spcAft>
                <a:spcPts val="200"/>
              </a:spcAft>
            </a:pPr>
            <a:r>
              <a:rPr sz="1110">
                <a:solidFill>
                  <a:srgbClr val="2D2D2D"/>
                </a:solidFill>
                <a:latin typeface="Calibri"/>
              </a:rPr>
              <a:t>• A measurable bootstrap plan rather than an open-ended subsidy</a:t>
            </a:r>
          </a:p>
          <a:p>
            <a:pPr algn="l">
              <a:lnSpc>
                <a:spcPct val="95000"/>
              </a:lnSpc>
              <a:spcAft>
                <a:spcPts val="200"/>
              </a:spcAft>
            </a:pPr>
            <a:r>
              <a:rPr sz="1110">
                <a:solidFill>
                  <a:srgbClr val="2D2D2D"/>
                </a:solidFill>
                <a:latin typeface="Calibri"/>
              </a:rPr>
              <a:t>• Operating targets that can be updated as real behavior arrives</a:t>
            </a:r>
          </a:p>
          <a:p>
            <a:pPr algn="l">
              <a:lnSpc>
                <a:spcPct val="95000"/>
              </a:lnSpc>
              <a:spcAft>
                <a:spcPts val="200"/>
              </a:spcAft>
            </a:pPr>
            <a:r>
              <a:rPr sz="1110">
                <a:solidFill>
                  <a:srgbClr val="2D2D2D"/>
                </a:solidFill>
                <a:latin typeface="Calibri"/>
              </a:rPr>
              <a:t>• A controlled transition from model assumptions to empirical policy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A Viable Operating Region Has Been Identified</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Shape 3"/>
          <p:cNvSpPr/>
          <p:nvPr/>
        </p:nvSpPr>
        <p:spPr>
          <a:xfrm>
            <a:off x="548640" y="1143000"/>
            <a:ext cx="8046720" cy="1188720"/>
          </a:xfrm>
          <a:prstGeom prst="roundRect">
            <a:avLst>
              <a:gd name="adj" fmla="val 6154"/>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6" name="Text 4"/>
          <p:cNvSpPr/>
          <p:nvPr/>
        </p:nvSpPr>
        <p:spPr>
          <a:xfrm>
            <a:off x="777240" y="1234440"/>
            <a:ext cx="7589520" cy="1005840"/>
          </a:xfrm>
          <a:prstGeom prst="rect">
            <a:avLst/>
          </a:prstGeom>
          <a:noFill/>
          <a:ln/>
        </p:spPr>
        <p:txBody>
          <a:bodyPr wrap="square" lIns="0" tIns="0" rIns="0" bIns="0" rtlCol="0" anchor="ctr">
            <a:noAutofit/>
          </a:bodyPr>
          <a:lstStyle/>
          <a:p>
            <a:pPr algn="l">
              <a:lnSpc>
                <a:spcPct val="100000"/>
              </a:lnSpc>
              <a:spcAft>
                <a:spcPts val="200"/>
              </a:spcAft>
            </a:pPr>
            <a:r>
              <a:rPr sz="1300" b="1">
                <a:solidFill>
                  <a:srgbClr val="2D2D2D"/>
                </a:solidFill>
                <a:latin typeface="Calibri"/>
              </a:rPr>
              <a:t>Most baseline randomized runs remained above the solvency floor, and the dynamic settlement controller materially improved resilience under stress. Settlement ratio emerged as the strongest operational lever, alongside claim rate, vesting profile, utility recirculation, and fee capture.</a:t>
            </a:r>
          </a:p>
        </p:txBody>
      </p:sp>
      <p:sp>
        <p:nvSpPr>
          <p:cNvPr id="7" name="Shape 5"/>
          <p:cNvSpPr/>
          <p:nvPr/>
        </p:nvSpPr>
        <p:spPr>
          <a:xfrm>
            <a:off x="548640" y="2606040"/>
            <a:ext cx="8046720" cy="2011680"/>
          </a:xfrm>
          <a:prstGeom prst="roundRect">
            <a:avLst>
              <a:gd name="adj" fmla="val 3636"/>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8" name="Text 6"/>
          <p:cNvSpPr/>
          <p:nvPr/>
        </p:nvSpPr>
        <p:spPr>
          <a:xfrm>
            <a:off x="777240" y="2697480"/>
            <a:ext cx="7589520" cy="274320"/>
          </a:xfrm>
          <a:prstGeom prst="rect">
            <a:avLst/>
          </a:prstGeom>
          <a:noFill/>
          <a:ln/>
        </p:spPr>
        <p:txBody>
          <a:bodyPr wrap="square" lIns="0" tIns="0" rIns="0" bIns="0" rtlCol="0" anchor="ctr">
            <a:noAutofit/>
          </a:bodyPr>
          <a:lstStyle/>
          <a:p>
            <a:pPr algn="l">
              <a:lnSpc>
                <a:spcPct val="100000"/>
              </a:lnSpc>
              <a:spcAft>
                <a:spcPts val="200"/>
              </a:spcAft>
            </a:pPr>
            <a:r>
              <a:rPr sz="1300" b="1">
                <a:solidFill>
                  <a:srgbClr val="2EAA56"/>
                </a:solidFill>
                <a:latin typeface="Calibri"/>
              </a:rPr>
              <a:t>Operational advantage</a:t>
            </a:r>
          </a:p>
        </p:txBody>
      </p:sp>
      <p:sp>
        <p:nvSpPr>
          <p:cNvPr id="9" name="Text 7"/>
          <p:cNvSpPr/>
          <p:nvPr/>
        </p:nvSpPr>
        <p:spPr>
          <a:xfrm>
            <a:off x="777240" y="3063240"/>
            <a:ext cx="7589520" cy="1463040"/>
          </a:xfrm>
          <a:prstGeom prst="rect">
            <a:avLst/>
          </a:prstGeom>
          <a:noFill/>
          <a:ln/>
        </p:spPr>
        <p:txBody>
          <a:bodyPr wrap="square" rtlCol="0" anchor="t">
            <a:noAutofit/>
          </a:bodyPr>
          <a:lstStyle/>
          <a:p>
            <a:pPr algn="l">
              <a:lnSpc>
                <a:spcPct val="95000"/>
              </a:lnSpc>
              <a:spcAft>
                <a:spcPts val="200"/>
              </a:spcAft>
            </a:pPr>
            <a:r>
              <a:rPr sz="1140">
                <a:solidFill>
                  <a:srgbClr val="2D2D2D"/>
                </a:solidFill>
                <a:latin typeface="Calibri"/>
              </a:rPr>
              <a:t>• Operators can focus on a small set of high-sensitivity controls</a:t>
            </a:r>
          </a:p>
          <a:p>
            <a:pPr algn="l">
              <a:lnSpc>
                <a:spcPct val="95000"/>
              </a:lnSpc>
              <a:spcAft>
                <a:spcPts val="200"/>
              </a:spcAft>
            </a:pPr>
            <a:r>
              <a:rPr sz="1140">
                <a:solidFill>
                  <a:srgbClr val="2D2D2D"/>
                </a:solidFill>
                <a:latin typeface="Calibri"/>
              </a:rPr>
              <a:t>• Dynamic settlement control responds more effectively than a fixed ratio</a:t>
            </a:r>
          </a:p>
          <a:p>
            <a:pPr algn="l">
              <a:lnSpc>
                <a:spcPct val="95000"/>
              </a:lnSpc>
              <a:spcAft>
                <a:spcPts val="200"/>
              </a:spcAft>
            </a:pPr>
            <a:r>
              <a:rPr sz="1140">
                <a:solidFill>
                  <a:srgbClr val="2D2D2D"/>
                </a:solidFill>
                <a:latin typeface="Calibri"/>
              </a:rPr>
              <a:t>• Guardrails and early-warning metrics can support proactive adjustment</a:t>
            </a:r>
          </a:p>
          <a:p>
            <a:pPr algn="l">
              <a:lnSpc>
                <a:spcPct val="95000"/>
              </a:lnSpc>
              <a:spcAft>
                <a:spcPts val="200"/>
              </a:spcAft>
            </a:pPr>
            <a:r>
              <a:rPr sz="1140">
                <a:solidFill>
                  <a:srgbClr val="2D2D2D"/>
                </a:solidFill>
                <a:latin typeface="Calibri"/>
              </a:rPr>
              <a:t>• The next phase should map safe ranges, not rely on one optimized point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Key Design Considerations to Carry Forward</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Text 3"/>
          <p:cNvSpPr/>
          <p:nvPr/>
        </p:nvSpPr>
        <p:spPr>
          <a:xfrm>
            <a:off x="548640" y="1051560"/>
            <a:ext cx="8046720" cy="457200"/>
          </a:xfrm>
          <a:prstGeom prst="rect">
            <a:avLst/>
          </a:prstGeom>
          <a:noFill/>
          <a:ln/>
        </p:spPr>
        <p:txBody>
          <a:bodyPr wrap="square" lIns="0" tIns="0" rIns="0" bIns="0" rtlCol="0" anchor="ctr">
            <a:noAutofit/>
          </a:bodyPr>
          <a:lstStyle/>
          <a:p>
            <a:pPr algn="l">
              <a:lnSpc>
                <a:spcPct val="100000"/>
              </a:lnSpc>
              <a:spcAft>
                <a:spcPts val="200"/>
              </a:spcAft>
            </a:pPr>
            <a:r>
              <a:rPr sz="1200">
                <a:solidFill>
                  <a:srgbClr val="888888"/>
                </a:solidFill>
                <a:latin typeface="Calibri"/>
              </a:rPr>
              <a:t>The specification and simulations surfaced several design trade-offs. These are normal choices to resolve through calibration, policy, and product design—not signs that the architecture is failing.</a:t>
            </a:r>
          </a:p>
        </p:txBody>
      </p:sp>
      <p:sp>
        <p:nvSpPr>
          <p:cNvPr id="6" name="Shape 4"/>
          <p:cNvSpPr/>
          <p:nvPr/>
        </p:nvSpPr>
        <p:spPr>
          <a:xfrm>
            <a:off x="548640" y="1664208"/>
            <a:ext cx="182880" cy="182880"/>
          </a:xfrm>
          <a:prstGeom prst="ellipse">
            <a:avLst/>
          </a:prstGeom>
          <a:solidFill>
            <a:srgbClr val="2EAA56"/>
          </a:solidFill>
          <a:ln/>
        </p:spPr>
        <p:txBody>
          <a:bodyPr wrap="square"/>
          <a:p/>
        </p:txBody>
      </p:sp>
      <p:sp>
        <p:nvSpPr>
          <p:cNvPr id="7" name="Text 5"/>
          <p:cNvSpPr/>
          <p:nvPr/>
        </p:nvSpPr>
        <p:spPr>
          <a:xfrm>
            <a:off x="868680" y="1600200"/>
            <a:ext cx="7726680" cy="320040"/>
          </a:xfrm>
          <a:prstGeom prst="rect">
            <a:avLst/>
          </a:prstGeom>
          <a:noFill/>
          <a:ln/>
        </p:spPr>
        <p:txBody>
          <a:bodyPr wrap="square" lIns="0" tIns="0" rIns="0" bIns="0" rtlCol="0" anchor="ctr">
            <a:noAutofit/>
          </a:bodyPr>
          <a:lstStyle/>
          <a:p>
            <a:pPr algn="l">
              <a:lnSpc>
                <a:spcPct val="100000"/>
              </a:lnSpc>
              <a:spcAft>
                <a:spcPts val="200"/>
              </a:spcAft>
            </a:pPr>
            <a:r>
              <a:rPr sz="1200">
                <a:solidFill>
                  <a:srgbClr val="2D2D2D"/>
                </a:solidFill>
                <a:latin typeface="Calibri"/>
              </a:rPr>
              <a:t>Participation growth increases reserve demand</a:t>
            </a:r>
          </a:p>
        </p:txBody>
      </p:sp>
      <p:sp>
        <p:nvSpPr>
          <p:cNvPr id="8" name="Shape 6"/>
          <p:cNvSpPr/>
          <p:nvPr/>
        </p:nvSpPr>
        <p:spPr>
          <a:xfrm>
            <a:off x="548640" y="2121408"/>
            <a:ext cx="182880" cy="182880"/>
          </a:xfrm>
          <a:prstGeom prst="ellipse">
            <a:avLst/>
          </a:prstGeom>
          <a:solidFill>
            <a:srgbClr val="2EAA56"/>
          </a:solidFill>
          <a:ln/>
        </p:spPr>
        <p:txBody>
          <a:bodyPr wrap="square"/>
          <a:p/>
        </p:txBody>
      </p:sp>
      <p:sp>
        <p:nvSpPr>
          <p:cNvPr id="9" name="Text 7"/>
          <p:cNvSpPr/>
          <p:nvPr/>
        </p:nvSpPr>
        <p:spPr>
          <a:xfrm>
            <a:off x="868680" y="2057400"/>
            <a:ext cx="7726680" cy="320040"/>
          </a:xfrm>
          <a:prstGeom prst="rect">
            <a:avLst/>
          </a:prstGeom>
          <a:noFill/>
          <a:ln/>
        </p:spPr>
        <p:txBody>
          <a:bodyPr wrap="square" lIns="0" tIns="0" rIns="0" bIns="0" rtlCol="0" anchor="ctr">
            <a:noAutofit/>
          </a:bodyPr>
          <a:lstStyle/>
          <a:p>
            <a:pPr algn="l">
              <a:lnSpc>
                <a:spcPct val="100000"/>
              </a:lnSpc>
              <a:spcAft>
                <a:spcPts val="200"/>
              </a:spcAft>
            </a:pPr>
            <a:r>
              <a:rPr sz="1200">
                <a:solidFill>
                  <a:srgbClr val="2D2D2D"/>
                </a:solidFill>
                <a:latin typeface="Calibri"/>
              </a:rPr>
              <a:t>Utility and governance incentives need coordinated design</a:t>
            </a:r>
          </a:p>
        </p:txBody>
      </p:sp>
      <p:sp>
        <p:nvSpPr>
          <p:cNvPr id="10" name="Shape 8"/>
          <p:cNvSpPr/>
          <p:nvPr/>
        </p:nvSpPr>
        <p:spPr>
          <a:xfrm>
            <a:off x="548640" y="2578608"/>
            <a:ext cx="182880" cy="182880"/>
          </a:xfrm>
          <a:prstGeom prst="ellipse">
            <a:avLst/>
          </a:prstGeom>
          <a:solidFill>
            <a:srgbClr val="2EAA56"/>
          </a:solidFill>
          <a:ln/>
        </p:spPr>
        <p:txBody>
          <a:bodyPr wrap="square"/>
          <a:p/>
        </p:txBody>
      </p:sp>
      <p:sp>
        <p:nvSpPr>
          <p:cNvPr id="11" name="Text 9"/>
          <p:cNvSpPr/>
          <p:nvPr/>
        </p:nvSpPr>
        <p:spPr>
          <a:xfrm>
            <a:off x="868680" y="2514600"/>
            <a:ext cx="7726680" cy="320040"/>
          </a:xfrm>
          <a:prstGeom prst="rect">
            <a:avLst/>
          </a:prstGeom>
          <a:noFill/>
          <a:ln/>
        </p:spPr>
        <p:txBody>
          <a:bodyPr wrap="square" lIns="0" tIns="0" rIns="0" bIns="0" rtlCol="0" anchor="ctr">
            <a:noAutofit/>
          </a:bodyPr>
          <a:lstStyle/>
          <a:p>
            <a:pPr algn="l">
              <a:lnSpc>
                <a:spcPct val="100000"/>
              </a:lnSpc>
              <a:spcAft>
                <a:spcPts val="200"/>
              </a:spcAft>
            </a:pPr>
            <a:r>
              <a:rPr sz="1200">
                <a:solidFill>
                  <a:srgbClr val="2D2D2D"/>
                </a:solidFill>
                <a:latin typeface="Calibri"/>
              </a:rPr>
              <a:t>Brand activation requires clear compliance controls</a:t>
            </a:r>
          </a:p>
        </p:txBody>
      </p:sp>
      <p:sp>
        <p:nvSpPr>
          <p:cNvPr id="12" name="Shape 10"/>
          <p:cNvSpPr/>
          <p:nvPr/>
        </p:nvSpPr>
        <p:spPr>
          <a:xfrm>
            <a:off x="548640" y="3035808"/>
            <a:ext cx="182880" cy="182880"/>
          </a:xfrm>
          <a:prstGeom prst="ellipse">
            <a:avLst/>
          </a:prstGeom>
          <a:solidFill>
            <a:srgbClr val="2EAA56"/>
          </a:solidFill>
          <a:ln/>
        </p:spPr>
        <p:txBody>
          <a:bodyPr wrap="square"/>
          <a:p/>
        </p:txBody>
      </p:sp>
      <p:sp>
        <p:nvSpPr>
          <p:cNvPr id="13" name="Text 11"/>
          <p:cNvSpPr/>
          <p:nvPr/>
        </p:nvSpPr>
        <p:spPr>
          <a:xfrm>
            <a:off x="868680" y="2971800"/>
            <a:ext cx="7726680" cy="320040"/>
          </a:xfrm>
          <a:prstGeom prst="rect">
            <a:avLst/>
          </a:prstGeom>
          <a:noFill/>
          <a:ln/>
        </p:spPr>
        <p:txBody>
          <a:bodyPr wrap="square" lIns="0" tIns="0" rIns="0" bIns="0" rtlCol="0" anchor="ctr">
            <a:noAutofit/>
          </a:bodyPr>
          <a:lstStyle/>
          <a:p>
            <a:pPr algn="l">
              <a:lnSpc>
                <a:spcPct val="100000"/>
              </a:lnSpc>
              <a:spcAft>
                <a:spcPts val="200"/>
              </a:spcAft>
            </a:pPr>
            <a:r>
              <a:rPr sz="1200">
                <a:solidFill>
                  <a:srgbClr val="2D2D2D"/>
                </a:solidFill>
                <a:latin typeface="Calibri"/>
              </a:rPr>
              <a:t>Token velocity affects utility affordability</a:t>
            </a:r>
          </a:p>
        </p:txBody>
      </p:sp>
      <p:sp>
        <p:nvSpPr>
          <p:cNvPr id="14" name="Shape 12"/>
          <p:cNvSpPr/>
          <p:nvPr/>
        </p:nvSpPr>
        <p:spPr>
          <a:xfrm>
            <a:off x="548640" y="3493008"/>
            <a:ext cx="182880" cy="182880"/>
          </a:xfrm>
          <a:prstGeom prst="ellipse">
            <a:avLst/>
          </a:prstGeom>
          <a:solidFill>
            <a:srgbClr val="2EAA56"/>
          </a:solidFill>
          <a:ln/>
        </p:spPr>
        <p:txBody>
          <a:bodyPr wrap="square"/>
          <a:p/>
        </p:txBody>
      </p:sp>
      <p:sp>
        <p:nvSpPr>
          <p:cNvPr id="15" name="Text 13"/>
          <p:cNvSpPr/>
          <p:nvPr/>
        </p:nvSpPr>
        <p:spPr>
          <a:xfrm>
            <a:off x="868680" y="3429000"/>
            <a:ext cx="7726680" cy="320040"/>
          </a:xfrm>
          <a:prstGeom prst="rect">
            <a:avLst/>
          </a:prstGeom>
          <a:noFill/>
          <a:ln/>
        </p:spPr>
        <p:txBody>
          <a:bodyPr wrap="square" lIns="0" tIns="0" rIns="0" bIns="0" rtlCol="0" anchor="ctr">
            <a:noAutofit/>
          </a:bodyPr>
          <a:lstStyle/>
          <a:p>
            <a:pPr algn="l">
              <a:lnSpc>
                <a:spcPct val="100000"/>
              </a:lnSpc>
              <a:spcAft>
                <a:spcPts val="200"/>
              </a:spcAft>
            </a:pPr>
            <a:r>
              <a:rPr sz="1200">
                <a:solidFill>
                  <a:srgbClr val="2D2D2D"/>
                </a:solidFill>
                <a:latin typeface="Calibri"/>
              </a:rPr>
              <a:t>Scale raises identity and sybil-control requirements</a:t>
            </a:r>
          </a:p>
        </p:txBody>
      </p:sp>
      <p:sp>
        <p:nvSpPr>
          <p:cNvPr id="16" name="Shape 14"/>
          <p:cNvSpPr/>
          <p:nvPr/>
        </p:nvSpPr>
        <p:spPr>
          <a:xfrm>
            <a:off x="548640" y="3950208"/>
            <a:ext cx="182880" cy="182880"/>
          </a:xfrm>
          <a:prstGeom prst="ellipse">
            <a:avLst/>
          </a:prstGeom>
          <a:solidFill>
            <a:srgbClr val="2EAA56"/>
          </a:solidFill>
          <a:ln/>
        </p:spPr>
        <p:txBody>
          <a:bodyPr wrap="square"/>
          <a:p/>
        </p:txBody>
      </p:sp>
      <p:sp>
        <p:nvSpPr>
          <p:cNvPr id="17" name="Text 15"/>
          <p:cNvSpPr/>
          <p:nvPr/>
        </p:nvSpPr>
        <p:spPr>
          <a:xfrm>
            <a:off x="868680" y="3886200"/>
            <a:ext cx="7726680" cy="320040"/>
          </a:xfrm>
          <a:prstGeom prst="rect">
            <a:avLst/>
          </a:prstGeom>
          <a:noFill/>
          <a:ln/>
        </p:spPr>
        <p:txBody>
          <a:bodyPr wrap="square" lIns="0" tIns="0" rIns="0" bIns="0" rtlCol="0" anchor="ctr">
            <a:noAutofit/>
          </a:bodyPr>
          <a:lstStyle/>
          <a:p>
            <a:pPr algn="l">
              <a:lnSpc>
                <a:spcPct val="100000"/>
              </a:lnSpc>
              <a:spcAft>
                <a:spcPts val="200"/>
              </a:spcAft>
            </a:pPr>
            <a:r>
              <a:rPr sz="1200">
                <a:solidFill>
                  <a:srgbClr val="2D2D2D"/>
                </a:solidFill>
                <a:latin typeface="Calibri"/>
              </a:rPr>
              <a:t>Governance rigor must remain usable for participants</a:t>
            </a:r>
          </a:p>
        </p:txBody>
      </p:sp>
      <p:sp>
        <p:nvSpPr>
          <p:cNvPr id="18" name="Shape 16"/>
          <p:cNvSpPr/>
          <p:nvPr/>
        </p:nvSpPr>
        <p:spPr>
          <a:xfrm>
            <a:off x="548640" y="4407408"/>
            <a:ext cx="182880" cy="182880"/>
          </a:xfrm>
          <a:prstGeom prst="ellipse">
            <a:avLst/>
          </a:prstGeom>
          <a:solidFill>
            <a:srgbClr val="2EAA56"/>
          </a:solidFill>
          <a:ln/>
        </p:spPr>
        <p:txBody>
          <a:bodyPr wrap="square"/>
          <a:p/>
        </p:txBody>
      </p:sp>
      <p:sp>
        <p:nvSpPr>
          <p:cNvPr id="19" name="Text 17"/>
          <p:cNvSpPr/>
          <p:nvPr/>
        </p:nvSpPr>
        <p:spPr>
          <a:xfrm>
            <a:off x="868680" y="4343400"/>
            <a:ext cx="7726680" cy="320040"/>
          </a:xfrm>
          <a:prstGeom prst="rect">
            <a:avLst/>
          </a:prstGeom>
          <a:noFill/>
          <a:ln/>
        </p:spPr>
        <p:txBody>
          <a:bodyPr wrap="square" lIns="0" tIns="0" rIns="0" bIns="0" rtlCol="0" anchor="ctr">
            <a:noAutofit/>
          </a:bodyPr>
          <a:lstStyle/>
          <a:p>
            <a:pPr algn="l">
              <a:lnSpc>
                <a:spcPct val="100000"/>
              </a:lnSpc>
              <a:spcAft>
                <a:spcPts val="200"/>
              </a:spcAft>
            </a:pPr>
            <a:r>
              <a:rPr sz="1200">
                <a:solidFill>
                  <a:srgbClr val="2D2D2D"/>
                </a:solidFill>
                <a:latin typeface="Calibri"/>
              </a:rPr>
              <a:t>Large onboarding cohorts require vesting-wave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Treasury, Integrity, and Settlement Are the Core Control Layers</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Shape 3"/>
          <p:cNvSpPr/>
          <p:nvPr/>
        </p:nvSpPr>
        <p:spPr>
          <a:xfrm>
            <a:off x="548640" y="1143000"/>
            <a:ext cx="4846320" cy="3474720"/>
          </a:xfrm>
          <a:prstGeom prst="roundRect">
            <a:avLst>
              <a:gd name="adj" fmla="val 2105"/>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6" name="Text 4"/>
          <p:cNvSpPr/>
          <p:nvPr/>
        </p:nvSpPr>
        <p:spPr>
          <a:xfrm>
            <a:off x="777240" y="1234440"/>
            <a:ext cx="4389120" cy="457200"/>
          </a:xfrm>
          <a:prstGeom prst="rect">
            <a:avLst/>
          </a:prstGeom>
          <a:noFill/>
          <a:ln/>
        </p:spPr>
        <p:txBody>
          <a:bodyPr wrap="square" lIns="0" tIns="0" rIns="0" bIns="0" rtlCol="0" anchor="ctr">
            <a:noAutofit/>
          </a:bodyPr>
          <a:lstStyle/>
          <a:p>
            <a:pPr algn="l">
              <a:lnSpc>
                <a:spcPct val="100000"/>
              </a:lnSpc>
              <a:spcAft>
                <a:spcPts val="200"/>
              </a:spcAft>
            </a:pPr>
            <a:r>
              <a:rPr sz="1300" b="1">
                <a:solidFill>
                  <a:srgbClr val="2D2D2D"/>
                </a:solidFill>
                <a:latin typeface="Calibri"/>
              </a:rPr>
              <a:t>Treasury is the most connected coordination hub in the Z1 economy.</a:t>
            </a:r>
          </a:p>
        </p:txBody>
      </p:sp>
      <p:sp>
        <p:nvSpPr>
          <p:cNvPr id="7" name="Text 5"/>
          <p:cNvSpPr/>
          <p:nvPr/>
        </p:nvSpPr>
        <p:spPr>
          <a:xfrm>
            <a:off x="777240" y="1783080"/>
            <a:ext cx="4389120" cy="2560320"/>
          </a:xfrm>
          <a:prstGeom prst="rect">
            <a:avLst/>
          </a:prstGeom>
          <a:noFill/>
          <a:ln/>
        </p:spPr>
        <p:txBody>
          <a:bodyPr wrap="square" rtlCol="0" anchor="t">
            <a:noAutofit/>
          </a:bodyPr>
          <a:lstStyle/>
          <a:p>
            <a:pPr algn="l">
              <a:lnSpc>
                <a:spcPct val="95000"/>
              </a:lnSpc>
              <a:spcAft>
                <a:spcPts val="200"/>
              </a:spcAft>
            </a:pPr>
            <a:r>
              <a:rPr sz="1110">
                <a:solidFill>
                  <a:srgbClr val="2D2D2D"/>
                </a:solidFill>
                <a:latin typeface="Calibri"/>
              </a:rPr>
              <a:t>• Receives utility, campaign, RWA, and penalty-related inflows</a:t>
            </a:r>
          </a:p>
          <a:p>
            <a:pPr algn="l">
              <a:lnSpc>
                <a:spcPct val="95000"/>
              </a:lnSpc>
              <a:spcAft>
                <a:spcPts val="200"/>
              </a:spcAft>
            </a:pPr>
            <a:r>
              <a:rPr sz="1110">
                <a:solidFill>
                  <a:srgbClr val="2D2D2D"/>
                </a:solidFill>
                <a:latin typeface="Calibri"/>
              </a:rPr>
              <a:t>• Supports settlement, incentives, validators, and operations</a:t>
            </a:r>
          </a:p>
          <a:p>
            <a:pPr algn="l">
              <a:lnSpc>
                <a:spcPct val="95000"/>
              </a:lnSpc>
              <a:spcAft>
                <a:spcPts val="200"/>
              </a:spcAft>
            </a:pPr>
            <a:r>
              <a:rPr sz="1110">
                <a:solidFill>
                  <a:srgbClr val="2D2D2D"/>
                </a:solidFill>
                <a:latin typeface="Calibri"/>
              </a:rPr>
              <a:t>• Coordinates reserve top-ups and pool replenishment</a:t>
            </a:r>
          </a:p>
          <a:p>
            <a:pPr algn="l">
              <a:lnSpc>
                <a:spcPct val="95000"/>
              </a:lnSpc>
              <a:spcAft>
                <a:spcPts val="200"/>
              </a:spcAft>
            </a:pPr>
          </a:p>
          <a:p>
            <a:pPr algn="l">
              <a:lnSpc>
                <a:spcPct val="95000"/>
              </a:lnSpc>
              <a:spcAft>
                <a:spcPts val="200"/>
              </a:spcAft>
            </a:pPr>
            <a:r>
              <a:rPr sz="1110">
                <a:solidFill>
                  <a:srgbClr val="2D2D2D"/>
                </a:solidFill>
                <a:latin typeface="Calibri"/>
              </a:rPr>
              <a:t>This makes Treasury policy, authorization, and monitoring central to resilience. The parameter-lock system limits how quickly critical controls can change.</a:t>
            </a:r>
          </a:p>
        </p:txBody>
      </p:sp>
      <p:sp>
        <p:nvSpPr>
          <p:cNvPr id="8" name="Shape 6"/>
          <p:cNvSpPr/>
          <p:nvPr/>
        </p:nvSpPr>
        <p:spPr>
          <a:xfrm>
            <a:off x="5623560" y="1143000"/>
            <a:ext cx="2971800" cy="1600200"/>
          </a:xfrm>
          <a:prstGeom prst="roundRect">
            <a:avLst>
              <a:gd name="adj" fmla="val 4571"/>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9" name="Text 7"/>
          <p:cNvSpPr/>
          <p:nvPr/>
        </p:nvSpPr>
        <p:spPr>
          <a:xfrm>
            <a:off x="5806440" y="1234440"/>
            <a:ext cx="2606040" cy="274320"/>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EAA56"/>
                </a:solidFill>
                <a:latin typeface="Calibri"/>
              </a:rPr>
              <a:t>Integrity layer is the trust root</a:t>
            </a:r>
          </a:p>
        </p:txBody>
      </p:sp>
      <p:sp>
        <p:nvSpPr>
          <p:cNvPr id="10" name="Text 8"/>
          <p:cNvSpPr/>
          <p:nvPr/>
        </p:nvSpPr>
        <p:spPr>
          <a:xfrm>
            <a:off x="5806440" y="1554480"/>
            <a:ext cx="2606040" cy="1051560"/>
          </a:xfrm>
          <a:prstGeom prst="rect">
            <a:avLst/>
          </a:prstGeom>
          <a:noFill/>
          <a:ln/>
        </p:spPr>
        <p:txBody>
          <a:bodyPr wrap="square" lIns="0" tIns="0" rIns="0" bIns="0" rtlCol="0" anchor="t">
            <a:noAutofit/>
          </a:bodyPr>
          <a:lstStyle/>
          <a:p>
            <a:pPr algn="l">
              <a:lnSpc>
                <a:spcPct val="95000"/>
              </a:lnSpc>
              <a:spcAft>
                <a:spcPts val="200"/>
              </a:spcAft>
            </a:pPr>
            <a:r>
              <a:rPr sz="1050">
                <a:solidFill>
                  <a:srgbClr val="2D2D2D"/>
                </a:solidFill>
                <a:latin typeface="Calibri"/>
              </a:rPr>
              <a:t>Verification supports recognition, campaigns, and governance. Strong identity quality improves confidence across all three.</a:t>
            </a:r>
          </a:p>
        </p:txBody>
      </p:sp>
      <p:sp>
        <p:nvSpPr>
          <p:cNvPr id="11" name="Shape 9"/>
          <p:cNvSpPr/>
          <p:nvPr/>
        </p:nvSpPr>
        <p:spPr>
          <a:xfrm>
            <a:off x="5623560" y="2926080"/>
            <a:ext cx="2971800" cy="1691640"/>
          </a:xfrm>
          <a:prstGeom prst="roundRect">
            <a:avLst>
              <a:gd name="adj" fmla="val 4324"/>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2" name="Text 10"/>
          <p:cNvSpPr/>
          <p:nvPr/>
        </p:nvSpPr>
        <p:spPr>
          <a:xfrm>
            <a:off x="5806440" y="3017520"/>
            <a:ext cx="2606040" cy="274320"/>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EAA56"/>
                </a:solidFill>
                <a:latin typeface="Calibri"/>
              </a:rPr>
              <a:t>Settlement gate is the economic bridge</a:t>
            </a:r>
          </a:p>
        </p:txBody>
      </p:sp>
      <p:sp>
        <p:nvSpPr>
          <p:cNvPr id="13" name="Text 11"/>
          <p:cNvSpPr/>
          <p:nvPr/>
        </p:nvSpPr>
        <p:spPr>
          <a:xfrm>
            <a:off x="5806440" y="3337560"/>
            <a:ext cx="2606040" cy="1097280"/>
          </a:xfrm>
          <a:prstGeom prst="rect">
            <a:avLst/>
          </a:prstGeom>
          <a:noFill/>
          <a:ln/>
        </p:spPr>
        <p:txBody>
          <a:bodyPr wrap="square" lIns="0" tIns="0" rIns="0" bIns="0" rtlCol="0" anchor="t">
            <a:noAutofit/>
          </a:bodyPr>
          <a:lstStyle/>
          <a:p>
            <a:pPr algn="l">
              <a:lnSpc>
                <a:spcPct val="95000"/>
              </a:lnSpc>
              <a:spcAft>
                <a:spcPts val="200"/>
              </a:spcAft>
            </a:pPr>
            <a:r>
              <a:rPr sz="1040">
                <a:solidFill>
                  <a:srgbClr val="2D2D2D"/>
                </a:solidFill>
                <a:latin typeface="Calibri"/>
              </a:rPr>
              <a:t>Settlement connects ACR recognition to Z1U utility. Ratio, caps, queues, and reserve support determine how smoothly value moves between the two layers.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Zee's Scale Creates a Distinctive Opportunity and Load Profile</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Shape 3"/>
          <p:cNvSpPr/>
          <p:nvPr/>
        </p:nvSpPr>
        <p:spPr>
          <a:xfrm>
            <a:off x="548640" y="1143000"/>
            <a:ext cx="8046720" cy="1463040"/>
          </a:xfrm>
          <a:prstGeom prst="roundRect">
            <a:avLst>
              <a:gd name="adj" fmla="val 5000"/>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6" name="Text 4"/>
          <p:cNvSpPr/>
          <p:nvPr/>
        </p:nvSpPr>
        <p:spPr>
          <a:xfrm>
            <a:off x="777240" y="1234440"/>
            <a:ext cx="7589520" cy="274320"/>
          </a:xfrm>
          <a:prstGeom prst="rect">
            <a:avLst/>
          </a:prstGeom>
          <a:noFill/>
          <a:ln/>
        </p:spPr>
        <p:txBody>
          <a:bodyPr wrap="square" lIns="0" tIns="0" rIns="0" bIns="0" rtlCol="0" anchor="ctr">
            <a:noAutofit/>
          </a:bodyPr>
          <a:lstStyle/>
          <a:p>
            <a:pPr algn="l">
              <a:lnSpc>
                <a:spcPct val="100000"/>
              </a:lnSpc>
              <a:spcAft>
                <a:spcPts val="200"/>
              </a:spcAft>
            </a:pPr>
            <a:r>
              <a:rPr sz="1400" b="1">
                <a:solidFill>
                  <a:srgbClr val="2EAA56"/>
                </a:solidFill>
                <a:latin typeface="Calibri"/>
              </a:rPr>
              <a:t>The cohort pressure profile</a:t>
            </a:r>
          </a:p>
        </p:txBody>
      </p:sp>
      <p:sp>
        <p:nvSpPr>
          <p:cNvPr id="7" name="Text 5"/>
          <p:cNvSpPr/>
          <p:nvPr/>
        </p:nvSpPr>
        <p:spPr>
          <a:xfrm>
            <a:off x="777240" y="1554480"/>
            <a:ext cx="7589520" cy="868680"/>
          </a:xfrm>
          <a:prstGeom prst="rect">
            <a:avLst/>
          </a:prstGeom>
          <a:noFill/>
          <a:ln/>
        </p:spPr>
        <p:txBody>
          <a:bodyPr wrap="square" lIns="0" tIns="0" rIns="0" bIns="0" rtlCol="0" anchor="t">
            <a:noAutofit/>
          </a:bodyPr>
          <a:lstStyle/>
          <a:p>
            <a:pPr algn="l">
              <a:lnSpc>
                <a:spcPct val="95000"/>
              </a:lnSpc>
              <a:spcAft>
                <a:spcPts val="200"/>
              </a:spcAft>
            </a:pPr>
            <a:r>
              <a:rPr sz="1180">
                <a:solidFill>
                  <a:srgbClr val="2D2D2D"/>
                </a:solidFill>
                <a:latin typeface="Calibri"/>
              </a:rPr>
              <a:t>Zee's existing reach creates the possibility of very large onboarding cohorts. When many users claim and vest on similar timelines, settlement demand can arrive in waves rather than as a smooth growth curve. The model therefore needs to represent both scale and timing, not only total user count.</a:t>
            </a:r>
          </a:p>
        </p:txBody>
      </p:sp>
      <p:sp>
        <p:nvSpPr>
          <p:cNvPr id="8" name="Shape 6"/>
          <p:cNvSpPr/>
          <p:nvPr/>
        </p:nvSpPr>
        <p:spPr>
          <a:xfrm>
            <a:off x="548640" y="2834640"/>
            <a:ext cx="3794760" cy="1828800"/>
          </a:xfrm>
          <a:prstGeom prst="roundRect">
            <a:avLst>
              <a:gd name="adj" fmla="val 4000"/>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9" name="Text 7"/>
          <p:cNvSpPr/>
          <p:nvPr/>
        </p:nvSpPr>
        <p:spPr>
          <a:xfrm>
            <a:off x="777240" y="2926080"/>
            <a:ext cx="3383280" cy="274320"/>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EAA56"/>
                </a:solidFill>
                <a:latin typeface="Calibri"/>
              </a:rPr>
              <a:t>Specified response: deterministic staggering</a:t>
            </a:r>
          </a:p>
        </p:txBody>
      </p:sp>
      <p:sp>
        <p:nvSpPr>
          <p:cNvPr id="10" name="Text 8"/>
          <p:cNvSpPr/>
          <p:nvPr/>
        </p:nvSpPr>
        <p:spPr>
          <a:xfrm>
            <a:off x="777240" y="3246120"/>
            <a:ext cx="3383280" cy="1188720"/>
          </a:xfrm>
          <a:prstGeom prst="rect">
            <a:avLst/>
          </a:prstGeom>
          <a:noFill/>
          <a:ln/>
        </p:spPr>
        <p:txBody>
          <a:bodyPr wrap="square" lIns="0" tIns="0" rIns="0" bIns="0" rtlCol="0" anchor="t">
            <a:noAutofit/>
          </a:bodyPr>
          <a:lstStyle/>
          <a:p>
            <a:pPr algn="l">
              <a:lnSpc>
                <a:spcPct val="95000"/>
              </a:lnSpc>
              <a:spcAft>
                <a:spcPts val="200"/>
              </a:spcAft>
            </a:pPr>
            <a:r>
              <a:rPr sz="1080">
                <a:solidFill>
                  <a:srgbClr val="2D2D2D"/>
                </a:solidFill>
                <a:latin typeface="Calibri"/>
              </a:rPr>
              <a:t>Hash-based staggering spreads eligibility over a ramp instead of one cliff date. The next phase should test different rollout and vesting profiles at realistic Zee-scale cohorts.</a:t>
            </a:r>
          </a:p>
        </p:txBody>
      </p:sp>
      <p:sp>
        <p:nvSpPr>
          <p:cNvPr id="11" name="Shape 9"/>
          <p:cNvSpPr/>
          <p:nvPr/>
        </p:nvSpPr>
        <p:spPr>
          <a:xfrm>
            <a:off x="4800600" y="2834640"/>
            <a:ext cx="3794760" cy="1828800"/>
          </a:xfrm>
          <a:prstGeom prst="roundRect">
            <a:avLst>
              <a:gd name="adj" fmla="val 4000"/>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2" name="Text 10"/>
          <p:cNvSpPr/>
          <p:nvPr/>
        </p:nvSpPr>
        <p:spPr>
          <a:xfrm>
            <a:off x="5029200" y="2926080"/>
            <a:ext cx="3383280" cy="274320"/>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EAA56"/>
                </a:solidFill>
                <a:latin typeface="Calibri"/>
              </a:rPr>
              <a:t>Why this matters for Z1</a:t>
            </a:r>
          </a:p>
        </p:txBody>
      </p:sp>
      <p:sp>
        <p:nvSpPr>
          <p:cNvPr id="13" name="Text 11"/>
          <p:cNvSpPr/>
          <p:nvPr/>
        </p:nvSpPr>
        <p:spPr>
          <a:xfrm>
            <a:off x="5029200" y="3246120"/>
            <a:ext cx="3383280" cy="1188720"/>
          </a:xfrm>
          <a:prstGeom prst="rect">
            <a:avLst/>
          </a:prstGeom>
          <a:noFill/>
          <a:ln/>
        </p:spPr>
        <p:txBody>
          <a:bodyPr wrap="square" lIns="0" tIns="0" rIns="0" bIns="0" rtlCol="0" anchor="t">
            <a:noAutofit/>
          </a:bodyPr>
          <a:lstStyle/>
          <a:p>
            <a:pPr algn="l">
              <a:lnSpc>
                <a:spcPct val="95000"/>
              </a:lnSpc>
              <a:spcAft>
                <a:spcPts val="200"/>
              </a:spcAft>
            </a:pPr>
            <a:r>
              <a:rPr sz="1080">
                <a:solidFill>
                  <a:srgbClr val="2D2D2D"/>
                </a:solidFill>
                <a:latin typeface="Calibri"/>
              </a:rPr>
              <a:t>Broadcast events, marketing pushes, and platform integrations can create sudden onboarding waves. This is a distribution advantage that requires deliberate reserve and settlement planning.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Ready for Empirical Calibration with Zee Audience Data</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Shape 3"/>
          <p:cNvSpPr/>
          <p:nvPr/>
        </p:nvSpPr>
        <p:spPr>
          <a:xfrm>
            <a:off x="548640" y="1143000"/>
            <a:ext cx="8046720" cy="1188720"/>
          </a:xfrm>
          <a:prstGeom prst="roundRect">
            <a:avLst>
              <a:gd name="adj" fmla="val 6154"/>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6" name="Text 4"/>
          <p:cNvSpPr/>
          <p:nvPr/>
        </p:nvSpPr>
        <p:spPr>
          <a:xfrm>
            <a:off x="777240" y="1234440"/>
            <a:ext cx="7589520" cy="1005840"/>
          </a:xfrm>
          <a:prstGeom prst="rect">
            <a:avLst/>
          </a:prstGeom>
          <a:noFill/>
          <a:ln/>
        </p:spPr>
        <p:txBody>
          <a:bodyPr wrap="square" lIns="0" tIns="0" rIns="0" bIns="0" rtlCol="0" anchor="ctr">
            <a:noAutofit/>
          </a:bodyPr>
          <a:lstStyle/>
          <a:p>
            <a:pPr algn="l">
              <a:lnSpc>
                <a:spcPct val="100000"/>
              </a:lnSpc>
              <a:spcAft>
                <a:spcPts val="200"/>
              </a:spcAft>
            </a:pPr>
            <a:r>
              <a:rPr sz="1300" b="1">
                <a:solidFill>
                  <a:srgbClr val="2D2D2D"/>
                </a:solidFill>
                <a:latin typeface="Calibri"/>
              </a:rPr>
              <a:t>The core mechanics are implemented and internally consistent at simulation scale. The next step is to calibrate behavior and validate the model across production-scale audience and vesting profiles.</a:t>
            </a:r>
          </a:p>
        </p:txBody>
      </p:sp>
      <p:sp>
        <p:nvSpPr>
          <p:cNvPr id="7" name="Shape 5"/>
          <p:cNvSpPr/>
          <p:nvPr/>
        </p:nvSpPr>
        <p:spPr>
          <a:xfrm>
            <a:off x="548640" y="2606040"/>
            <a:ext cx="3794760" cy="2011680"/>
          </a:xfrm>
          <a:prstGeom prst="roundRect">
            <a:avLst>
              <a:gd name="adj" fmla="val 3636"/>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8" name="Text 6"/>
          <p:cNvSpPr/>
          <p:nvPr/>
        </p:nvSpPr>
        <p:spPr>
          <a:xfrm>
            <a:off x="777240" y="2697480"/>
            <a:ext cx="3383280" cy="274320"/>
          </a:xfrm>
          <a:prstGeom prst="rect">
            <a:avLst/>
          </a:prstGeom>
          <a:noFill/>
          <a:ln/>
        </p:spPr>
        <p:txBody>
          <a:bodyPr wrap="square" lIns="0" tIns="0" rIns="0" bIns="0" rtlCol="0" anchor="ctr">
            <a:noAutofit/>
          </a:bodyPr>
          <a:lstStyle/>
          <a:p>
            <a:pPr algn="l">
              <a:lnSpc>
                <a:spcPct val="100000"/>
              </a:lnSpc>
              <a:spcAft>
                <a:spcPts val="200"/>
              </a:spcAft>
            </a:pPr>
            <a:r>
              <a:rPr sz="1300" b="1">
                <a:solidFill>
                  <a:srgbClr val="2EAA56"/>
                </a:solidFill>
                <a:latin typeface="Calibri"/>
              </a:rPr>
              <a:t>The calibration advantage</a:t>
            </a:r>
          </a:p>
        </p:txBody>
      </p:sp>
      <p:sp>
        <p:nvSpPr>
          <p:cNvPr id="9" name="Text 7"/>
          <p:cNvSpPr/>
          <p:nvPr/>
        </p:nvSpPr>
        <p:spPr>
          <a:xfrm>
            <a:off x="777240" y="3063240"/>
            <a:ext cx="3383280" cy="1371600"/>
          </a:xfrm>
          <a:prstGeom prst="rect">
            <a:avLst/>
          </a:prstGeom>
          <a:noFill/>
          <a:ln/>
        </p:spPr>
        <p:txBody>
          <a:bodyPr wrap="square" rtlCol="0" anchor="t">
            <a:noAutofit/>
          </a:bodyPr>
          <a:lstStyle/>
          <a:p>
            <a:pPr algn="l">
              <a:lnSpc>
                <a:spcPct val="95000"/>
              </a:lnSpc>
              <a:spcAft>
                <a:spcPts val="200"/>
              </a:spcAft>
            </a:pPr>
            <a:r>
              <a:rPr sz="1080">
                <a:solidFill>
                  <a:srgbClr val="2D2D2D"/>
                </a:solidFill>
                <a:latin typeface="Calibri"/>
              </a:rPr>
              <a:t>• Replace placeholder behavior with grounded agent archetypes</a:t>
            </a:r>
          </a:p>
          <a:p>
            <a:pPr algn="l">
              <a:lnSpc>
                <a:spcPct val="95000"/>
              </a:lnSpc>
              <a:spcAft>
                <a:spcPts val="200"/>
              </a:spcAft>
            </a:pPr>
            <a:r>
              <a:rPr sz="1080">
                <a:solidFill>
                  <a:srgbClr val="2D2D2D"/>
                </a:solidFill>
                <a:latin typeface="Calibri"/>
              </a:rPr>
              <a:t>• Estimate claim, settlement, and utility-spend distributions</a:t>
            </a:r>
          </a:p>
          <a:p>
            <a:pPr algn="l">
              <a:lnSpc>
                <a:spcPct val="95000"/>
              </a:lnSpc>
              <a:spcAft>
                <a:spcPts val="200"/>
              </a:spcAft>
            </a:pPr>
            <a:r>
              <a:rPr sz="1080">
                <a:solidFill>
                  <a:srgbClr val="2D2D2D"/>
                </a:solidFill>
                <a:latin typeface="Calibri"/>
              </a:rPr>
              <a:t>• Re-run sensitivity analysis across wider operating ranges</a:t>
            </a:r>
          </a:p>
        </p:txBody>
      </p:sp>
      <p:sp>
        <p:nvSpPr>
          <p:cNvPr id="10" name="Shape 8"/>
          <p:cNvSpPr/>
          <p:nvPr/>
        </p:nvSpPr>
        <p:spPr>
          <a:xfrm>
            <a:off x="4800600" y="2606040"/>
            <a:ext cx="3794760" cy="2011680"/>
          </a:xfrm>
          <a:prstGeom prst="roundRect">
            <a:avLst>
              <a:gd name="adj" fmla="val 3636"/>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1" name="Text 9"/>
          <p:cNvSpPr/>
          <p:nvPr/>
        </p:nvSpPr>
        <p:spPr>
          <a:xfrm>
            <a:off x="5029200" y="2697480"/>
            <a:ext cx="3383280" cy="274320"/>
          </a:xfrm>
          <a:prstGeom prst="rect">
            <a:avLst/>
          </a:prstGeom>
          <a:noFill/>
          <a:ln/>
        </p:spPr>
        <p:txBody>
          <a:bodyPr wrap="square" lIns="0" tIns="0" rIns="0" bIns="0" rtlCol="0" anchor="ctr">
            <a:noAutofit/>
          </a:bodyPr>
          <a:lstStyle/>
          <a:p>
            <a:pPr algn="l">
              <a:lnSpc>
                <a:spcPct val="100000"/>
              </a:lnSpc>
              <a:spcAft>
                <a:spcPts val="200"/>
              </a:spcAft>
            </a:pPr>
            <a:r>
              <a:rPr sz="1300" b="1">
                <a:solidFill>
                  <a:srgbClr val="2EAA56"/>
                </a:solidFill>
                <a:latin typeface="Calibri"/>
              </a:rPr>
              <a:t>What Zee can provide</a:t>
            </a:r>
          </a:p>
        </p:txBody>
      </p:sp>
      <p:sp>
        <p:nvSpPr>
          <p:cNvPr id="12" name="Text 10"/>
          <p:cNvSpPr/>
          <p:nvPr/>
        </p:nvSpPr>
        <p:spPr>
          <a:xfrm>
            <a:off x="5029200" y="3063240"/>
            <a:ext cx="3383280" cy="1371600"/>
          </a:xfrm>
          <a:prstGeom prst="rect">
            <a:avLst/>
          </a:prstGeom>
          <a:noFill/>
          <a:ln/>
        </p:spPr>
        <p:txBody>
          <a:bodyPr wrap="square" rtlCol="0" anchor="t">
            <a:noAutofit/>
          </a:bodyPr>
          <a:lstStyle/>
          <a:p>
            <a:pPr algn="l">
              <a:lnSpc>
                <a:spcPct val="95000"/>
              </a:lnSpc>
              <a:spcAft>
                <a:spcPts val="200"/>
              </a:spcAft>
            </a:pPr>
            <a:r>
              <a:rPr sz="1080">
                <a:solidFill>
                  <a:srgbClr val="2D2D2D"/>
                </a:solidFill>
                <a:latin typeface="Calibri"/>
              </a:rPr>
              <a:t>• Viewing frequency, session depth, and content interaction</a:t>
            </a:r>
          </a:p>
          <a:p>
            <a:pPr algn="l">
              <a:lnSpc>
                <a:spcPct val="95000"/>
              </a:lnSpc>
              <a:spcAft>
                <a:spcPts val="200"/>
              </a:spcAft>
            </a:pPr>
            <a:r>
              <a:rPr sz="1080">
                <a:solidFill>
                  <a:srgbClr val="2D2D2D"/>
                </a:solidFill>
                <a:latin typeface="Calibri"/>
              </a:rPr>
              <a:t>• Loyalty and redemption timing as settlement proxies</a:t>
            </a:r>
          </a:p>
          <a:p>
            <a:pPr algn="l">
              <a:lnSpc>
                <a:spcPct val="95000"/>
              </a:lnSpc>
              <a:spcAft>
                <a:spcPts val="200"/>
              </a:spcAft>
            </a:pPr>
            <a:r>
              <a:rPr sz="1080">
                <a:solidFill>
                  <a:srgbClr val="2D2D2D"/>
                </a:solidFill>
                <a:latin typeface="Calibri"/>
              </a:rPr>
              <a:t>• Audience segments and campaign-response patterns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The Parameter Lock Architecture Is a Genuine Differentiator</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Shape 3"/>
          <p:cNvSpPr/>
          <p:nvPr/>
        </p:nvSpPr>
        <p:spPr>
          <a:xfrm>
            <a:off x="548640" y="1143000"/>
            <a:ext cx="8046720" cy="1005840"/>
          </a:xfrm>
          <a:prstGeom prst="roundRect">
            <a:avLst>
              <a:gd name="adj" fmla="val 7273"/>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6" name="Text 4"/>
          <p:cNvSpPr/>
          <p:nvPr/>
        </p:nvSpPr>
        <p:spPr>
          <a:xfrm>
            <a:off x="777240" y="1234440"/>
            <a:ext cx="7589520" cy="822960"/>
          </a:xfrm>
          <a:prstGeom prst="rect">
            <a:avLst/>
          </a:prstGeom>
          <a:noFill/>
          <a:ln/>
        </p:spPr>
        <p:txBody>
          <a:bodyPr wrap="square" lIns="0" tIns="0" rIns="0" bIns="0" rtlCol="0" anchor="ctr">
            <a:noAutofit/>
          </a:bodyPr>
          <a:lstStyle/>
          <a:p>
            <a:pPr algn="l">
              <a:lnSpc>
                <a:spcPct val="100000"/>
              </a:lnSpc>
              <a:spcAft>
                <a:spcPts val="200"/>
              </a:spcAft>
            </a:pPr>
            <a:r>
              <a:rPr sz="1260">
                <a:solidFill>
                  <a:srgbClr val="2D2D2D"/>
                </a:solidFill>
                <a:latin typeface="Calibri"/>
              </a:rPr>
              <a:t>Z1 separates parameters by how much of the system they are allowed to change. The result is a clear distinction between foundational constraints, bounded tuning ranges, and routine operating controls.</a:t>
            </a:r>
          </a:p>
        </p:txBody>
      </p:sp>
      <p:sp>
        <p:nvSpPr>
          <p:cNvPr id="7" name="Shape 5"/>
          <p:cNvSpPr/>
          <p:nvPr/>
        </p:nvSpPr>
        <p:spPr>
          <a:xfrm>
            <a:off x="548640" y="2377440"/>
            <a:ext cx="8046720" cy="777240"/>
          </a:xfrm>
          <a:prstGeom prst="roundRect">
            <a:avLst>
              <a:gd name="adj" fmla="val 9412"/>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8" name="Text 6"/>
          <p:cNvSpPr/>
          <p:nvPr/>
        </p:nvSpPr>
        <p:spPr>
          <a:xfrm>
            <a:off x="777240" y="2432304"/>
            <a:ext cx="2286000" cy="274320"/>
          </a:xfrm>
          <a:prstGeom prst="rect">
            <a:avLst/>
          </a:prstGeom>
          <a:noFill/>
          <a:ln/>
        </p:spPr>
        <p:txBody>
          <a:bodyPr wrap="square" lIns="0" tIns="0" rIns="0" bIns="0" rtlCol="0" anchor="ctr">
            <a:noAutofit/>
          </a:bodyPr>
          <a:lstStyle/>
          <a:p>
            <a:pPr algn="l">
              <a:lnSpc>
                <a:spcPct val="90000"/>
              </a:lnSpc>
              <a:spcAft>
                <a:spcPts val="200"/>
              </a:spcAft>
            </a:pPr>
            <a:r>
              <a:rPr sz="1200" b="1">
                <a:solidFill>
                  <a:srgbClr val="2EAA56"/>
                </a:solidFill>
                <a:latin typeface="Calibri"/>
              </a:rPr>
              <a:t>Tier 0 — Foundation lock</a:t>
            </a:r>
          </a:p>
        </p:txBody>
      </p:sp>
      <p:sp>
        <p:nvSpPr>
          <p:cNvPr id="9" name="Text 7"/>
          <p:cNvSpPr/>
          <p:nvPr/>
        </p:nvSpPr>
        <p:spPr>
          <a:xfrm>
            <a:off x="3108960" y="2432304"/>
            <a:ext cx="2743200" cy="640080"/>
          </a:xfrm>
          <a:prstGeom prst="rect">
            <a:avLst/>
          </a:prstGeom>
          <a:noFill/>
          <a:ln/>
        </p:spPr>
        <p:txBody>
          <a:bodyPr wrap="square" lIns="0" tIns="0" rIns="0" bIns="0" rtlCol="0" anchor="ctr">
            <a:noAutofit/>
          </a:bodyPr>
          <a:lstStyle/>
          <a:p>
            <a:pPr algn="l">
              <a:lnSpc>
                <a:spcPct val="90000"/>
              </a:lnSpc>
              <a:spcAft>
                <a:spcPts val="200"/>
              </a:spcAft>
            </a:pPr>
            <a:r>
              <a:rPr sz="950" b="0">
                <a:solidFill>
                  <a:srgbClr val="2D2D2D"/>
                </a:solidFill>
                <a:latin typeface="Calibri"/>
              </a:rPr>
              <a:t>Supply cap • reserve floor • settlement source • eligibility constraints</a:t>
            </a:r>
          </a:p>
        </p:txBody>
      </p:sp>
      <p:sp>
        <p:nvSpPr>
          <p:cNvPr id="10" name="Text 8"/>
          <p:cNvSpPr/>
          <p:nvPr/>
        </p:nvSpPr>
        <p:spPr>
          <a:xfrm>
            <a:off x="5943600" y="2432304"/>
            <a:ext cx="2468880" cy="640080"/>
          </a:xfrm>
          <a:prstGeom prst="rect">
            <a:avLst/>
          </a:prstGeom>
          <a:noFill/>
          <a:ln/>
        </p:spPr>
        <p:txBody>
          <a:bodyPr wrap="square" lIns="0" tIns="0" rIns="0" bIns="0" rtlCol="0" anchor="ctr">
            <a:noAutofit/>
          </a:bodyPr>
          <a:lstStyle/>
          <a:p>
            <a:pPr algn="l">
              <a:lnSpc>
                <a:spcPct val="90000"/>
              </a:lnSpc>
              <a:spcAft>
                <a:spcPts val="200"/>
              </a:spcAft>
            </a:pPr>
            <a:r>
              <a:rPr sz="950" b="0">
                <a:solidFill>
                  <a:srgbClr val="888888"/>
                </a:solidFill>
                <a:latin typeface="Calibri"/>
              </a:rPr>
              <a:t>Highest lock level • exceptional change path • extended delay</a:t>
            </a:r>
          </a:p>
        </p:txBody>
      </p:sp>
      <p:sp>
        <p:nvSpPr>
          <p:cNvPr id="11" name="Shape 9"/>
          <p:cNvSpPr/>
          <p:nvPr/>
        </p:nvSpPr>
        <p:spPr>
          <a:xfrm>
            <a:off x="548640" y="3246120"/>
            <a:ext cx="8046720" cy="777240"/>
          </a:xfrm>
          <a:prstGeom prst="roundRect">
            <a:avLst>
              <a:gd name="adj" fmla="val 9412"/>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2" name="Text 10"/>
          <p:cNvSpPr/>
          <p:nvPr/>
        </p:nvSpPr>
        <p:spPr>
          <a:xfrm>
            <a:off x="777240" y="3300984"/>
            <a:ext cx="2286000" cy="274320"/>
          </a:xfrm>
          <a:prstGeom prst="rect">
            <a:avLst/>
          </a:prstGeom>
          <a:noFill/>
          <a:ln/>
        </p:spPr>
        <p:txBody>
          <a:bodyPr wrap="square" lIns="0" tIns="0" rIns="0" bIns="0" rtlCol="0" anchor="ctr">
            <a:noAutofit/>
          </a:bodyPr>
          <a:lstStyle/>
          <a:p>
            <a:pPr algn="l">
              <a:lnSpc>
                <a:spcPct val="90000"/>
              </a:lnSpc>
              <a:spcAft>
                <a:spcPts val="200"/>
              </a:spcAft>
            </a:pPr>
            <a:r>
              <a:rPr sz="1200" b="1">
                <a:solidFill>
                  <a:srgbClr val="2EAA56"/>
                </a:solidFill>
                <a:latin typeface="Calibri"/>
              </a:rPr>
              <a:t>Tier 1 — Bounded lock</a:t>
            </a:r>
          </a:p>
        </p:txBody>
      </p:sp>
      <p:sp>
        <p:nvSpPr>
          <p:cNvPr id="13" name="Text 11"/>
          <p:cNvSpPr/>
          <p:nvPr/>
        </p:nvSpPr>
        <p:spPr>
          <a:xfrm>
            <a:off x="3108960" y="3300984"/>
            <a:ext cx="2743200" cy="640080"/>
          </a:xfrm>
          <a:prstGeom prst="rect">
            <a:avLst/>
          </a:prstGeom>
          <a:noFill/>
          <a:ln/>
        </p:spPr>
        <p:txBody>
          <a:bodyPr wrap="square" lIns="0" tIns="0" rIns="0" bIns="0" rtlCol="0" anchor="ctr">
            <a:noAutofit/>
          </a:bodyPr>
          <a:lstStyle/>
          <a:p>
            <a:pPr algn="l">
              <a:lnSpc>
                <a:spcPct val="90000"/>
              </a:lnSpc>
              <a:spcAft>
                <a:spcPts val="200"/>
              </a:spcAft>
            </a:pPr>
            <a:r>
              <a:rPr sz="950" b="0">
                <a:solidFill>
                  <a:srgbClr val="2D2D2D"/>
                </a:solidFill>
                <a:latin typeface="Calibri"/>
              </a:rPr>
              <a:t>Fees • settlement caps • scoring weights • throttle thresholds</a:t>
            </a:r>
          </a:p>
        </p:txBody>
      </p:sp>
      <p:sp>
        <p:nvSpPr>
          <p:cNvPr id="14" name="Text 12"/>
          <p:cNvSpPr/>
          <p:nvPr/>
        </p:nvSpPr>
        <p:spPr>
          <a:xfrm>
            <a:off x="5943600" y="3300984"/>
            <a:ext cx="2468880" cy="640080"/>
          </a:xfrm>
          <a:prstGeom prst="rect">
            <a:avLst/>
          </a:prstGeom>
          <a:noFill/>
          <a:ln/>
        </p:spPr>
        <p:txBody>
          <a:bodyPr wrap="square" lIns="0" tIns="0" rIns="0" bIns="0" rtlCol="0" anchor="ctr">
            <a:noAutofit/>
          </a:bodyPr>
          <a:lstStyle/>
          <a:p>
            <a:pPr algn="l">
              <a:lnSpc>
                <a:spcPct val="90000"/>
              </a:lnSpc>
              <a:spcAft>
                <a:spcPts val="200"/>
              </a:spcAft>
            </a:pPr>
            <a:r>
              <a:rPr sz="950" b="0">
                <a:solidFill>
                  <a:srgbClr val="888888"/>
                </a:solidFill>
                <a:latin typeface="Calibri"/>
              </a:rPr>
              <a:t>Changes only within approved ranges • delayed execution</a:t>
            </a:r>
          </a:p>
        </p:txBody>
      </p:sp>
      <p:sp>
        <p:nvSpPr>
          <p:cNvPr id="15" name="Shape 13"/>
          <p:cNvSpPr/>
          <p:nvPr/>
        </p:nvSpPr>
        <p:spPr>
          <a:xfrm>
            <a:off x="548640" y="4114800"/>
            <a:ext cx="8046720" cy="777240"/>
          </a:xfrm>
          <a:prstGeom prst="roundRect">
            <a:avLst>
              <a:gd name="adj" fmla="val 9412"/>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6" name="Text 14"/>
          <p:cNvSpPr/>
          <p:nvPr/>
        </p:nvSpPr>
        <p:spPr>
          <a:xfrm>
            <a:off x="777240" y="4169664"/>
            <a:ext cx="2286000" cy="274320"/>
          </a:xfrm>
          <a:prstGeom prst="rect">
            <a:avLst/>
          </a:prstGeom>
          <a:noFill/>
          <a:ln/>
        </p:spPr>
        <p:txBody>
          <a:bodyPr wrap="square" lIns="0" tIns="0" rIns="0" bIns="0" rtlCol="0" anchor="ctr">
            <a:noAutofit/>
          </a:bodyPr>
          <a:lstStyle/>
          <a:p>
            <a:pPr algn="l">
              <a:lnSpc>
                <a:spcPct val="90000"/>
              </a:lnSpc>
              <a:spcAft>
                <a:spcPts val="200"/>
              </a:spcAft>
            </a:pPr>
            <a:r>
              <a:rPr sz="1200" b="1">
                <a:solidFill>
                  <a:srgbClr val="2EAA56"/>
                </a:solidFill>
                <a:latin typeface="Calibri"/>
              </a:rPr>
              <a:t>Tier 2 — Operating range</a:t>
            </a:r>
          </a:p>
        </p:txBody>
      </p:sp>
      <p:sp>
        <p:nvSpPr>
          <p:cNvPr id="17" name="Text 15"/>
          <p:cNvSpPr/>
          <p:nvPr/>
        </p:nvSpPr>
        <p:spPr>
          <a:xfrm>
            <a:off x="3108960" y="4169664"/>
            <a:ext cx="2743200" cy="640080"/>
          </a:xfrm>
          <a:prstGeom prst="rect">
            <a:avLst/>
          </a:prstGeom>
          <a:noFill/>
          <a:ln/>
        </p:spPr>
        <p:txBody>
          <a:bodyPr wrap="square" lIns="0" tIns="0" rIns="0" bIns="0" rtlCol="0" anchor="ctr">
            <a:noAutofit/>
          </a:bodyPr>
          <a:lstStyle/>
          <a:p>
            <a:pPr algn="l">
              <a:lnSpc>
                <a:spcPct val="90000"/>
              </a:lnSpc>
              <a:spcAft>
                <a:spcPts val="200"/>
              </a:spcAft>
            </a:pPr>
            <a:r>
              <a:rPr sz="950" b="0">
                <a:solidFill>
                  <a:srgbClr val="2D2D2D"/>
                </a:solidFill>
                <a:latin typeface="Calibri"/>
              </a:rPr>
              <a:t>Short-cycle controls that remain inside Tier 1 boundaries</a:t>
            </a:r>
          </a:p>
        </p:txBody>
      </p:sp>
      <p:sp>
        <p:nvSpPr>
          <p:cNvPr id="18" name="Text 16"/>
          <p:cNvSpPr/>
          <p:nvPr/>
        </p:nvSpPr>
        <p:spPr>
          <a:xfrm>
            <a:off x="5943600" y="4169664"/>
            <a:ext cx="2468880" cy="640080"/>
          </a:xfrm>
          <a:prstGeom prst="rect">
            <a:avLst/>
          </a:prstGeom>
          <a:noFill/>
          <a:ln/>
        </p:spPr>
        <p:txBody>
          <a:bodyPr wrap="square" lIns="0" tIns="0" rIns="0" bIns="0" rtlCol="0" anchor="ctr">
            <a:noAutofit/>
          </a:bodyPr>
          <a:lstStyle/>
          <a:p>
            <a:pPr algn="l">
              <a:lnSpc>
                <a:spcPct val="90000"/>
              </a:lnSpc>
              <a:spcAft>
                <a:spcPts val="200"/>
              </a:spcAft>
            </a:pPr>
            <a:r>
              <a:rPr sz="950" b="0">
                <a:solidFill>
                  <a:srgbClr val="888888"/>
                </a:solidFill>
                <a:latin typeface="Calibri"/>
              </a:rPr>
              <a:t>Routine tuning without altering foundational rules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Next Steps: v2 Simulation and Calibration</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Shape 3"/>
          <p:cNvSpPr/>
          <p:nvPr/>
        </p:nvSpPr>
        <p:spPr>
          <a:xfrm>
            <a:off x="548640" y="1097280"/>
            <a:ext cx="8046720" cy="777240"/>
          </a:xfrm>
          <a:prstGeom prst="roundRect">
            <a:avLst>
              <a:gd name="adj" fmla="val 9412"/>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6" name="Text 4"/>
          <p:cNvSpPr/>
          <p:nvPr/>
        </p:nvSpPr>
        <p:spPr>
          <a:xfrm>
            <a:off x="777240" y="1161288"/>
            <a:ext cx="7589520" cy="256032"/>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D2D2D"/>
                </a:solidFill>
                <a:latin typeface="Calibri"/>
              </a:rPr>
              <a:t>Broader sensitivity analysis and parameter sweeps</a:t>
            </a:r>
          </a:p>
        </p:txBody>
      </p:sp>
      <p:sp>
        <p:nvSpPr>
          <p:cNvPr id="7" name="Text 5"/>
          <p:cNvSpPr/>
          <p:nvPr/>
        </p:nvSpPr>
        <p:spPr>
          <a:xfrm>
            <a:off x="777240" y="1444752"/>
            <a:ext cx="7589520" cy="347472"/>
          </a:xfrm>
          <a:prstGeom prst="rect">
            <a:avLst/>
          </a:prstGeom>
          <a:noFill/>
          <a:ln/>
        </p:spPr>
        <p:txBody>
          <a:bodyPr wrap="square" lIns="0" tIns="0" rIns="0" bIns="0" rtlCol="0" anchor="t">
            <a:noAutofit/>
          </a:bodyPr>
          <a:lstStyle/>
          <a:p>
            <a:pPr algn="l">
              <a:lnSpc>
                <a:spcPct val="95000"/>
              </a:lnSpc>
              <a:spcAft>
                <a:spcPts val="200"/>
              </a:spcAft>
            </a:pPr>
            <a:r>
              <a:rPr sz="1019">
                <a:solidFill>
                  <a:srgbClr val="888888"/>
                </a:solidFill>
                <a:latin typeface="Calibri"/>
              </a:rPr>
              <a:t>Map the operating region across settlement, claims, vesting, fees, recirculation, and reserve support—not only one optimized configuration.</a:t>
            </a:r>
          </a:p>
        </p:txBody>
      </p:sp>
      <p:sp>
        <p:nvSpPr>
          <p:cNvPr id="8" name="Shape 6"/>
          <p:cNvSpPr/>
          <p:nvPr/>
        </p:nvSpPr>
        <p:spPr>
          <a:xfrm>
            <a:off x="548640" y="1965960"/>
            <a:ext cx="8046720" cy="777240"/>
          </a:xfrm>
          <a:prstGeom prst="roundRect">
            <a:avLst>
              <a:gd name="adj" fmla="val 9412"/>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9" name="Text 7"/>
          <p:cNvSpPr/>
          <p:nvPr/>
        </p:nvSpPr>
        <p:spPr>
          <a:xfrm>
            <a:off x="777240" y="2029968"/>
            <a:ext cx="7589520" cy="256032"/>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D2D2D"/>
                </a:solidFill>
                <a:latin typeface="Calibri"/>
              </a:rPr>
              <a:t>Behavioral calibration from Zee audience data</a:t>
            </a:r>
          </a:p>
        </p:txBody>
      </p:sp>
      <p:sp>
        <p:nvSpPr>
          <p:cNvPr id="10" name="Text 8"/>
          <p:cNvSpPr/>
          <p:nvPr/>
        </p:nvSpPr>
        <p:spPr>
          <a:xfrm>
            <a:off x="777240" y="2313432"/>
            <a:ext cx="7589520" cy="347472"/>
          </a:xfrm>
          <a:prstGeom prst="rect">
            <a:avLst/>
          </a:prstGeom>
          <a:noFill/>
          <a:ln/>
        </p:spPr>
        <p:txBody>
          <a:bodyPr wrap="square" lIns="0" tIns="0" rIns="0" bIns="0" rtlCol="0" anchor="t">
            <a:noAutofit/>
          </a:bodyPr>
          <a:lstStyle/>
          <a:p>
            <a:pPr algn="l">
              <a:lnSpc>
                <a:spcPct val="95000"/>
              </a:lnSpc>
              <a:spcAft>
                <a:spcPts val="200"/>
              </a:spcAft>
            </a:pPr>
            <a:r>
              <a:rPr sz="1019">
                <a:solidFill>
                  <a:srgbClr val="888888"/>
                </a:solidFill>
                <a:latin typeface="Calibri"/>
              </a:rPr>
              <a:t>Replace provisional profiles with evidence-based archetypes for claiming, settling, spending, participation, and churn.</a:t>
            </a:r>
          </a:p>
        </p:txBody>
      </p:sp>
      <p:sp>
        <p:nvSpPr>
          <p:cNvPr id="11" name="Shape 9"/>
          <p:cNvSpPr/>
          <p:nvPr/>
        </p:nvSpPr>
        <p:spPr>
          <a:xfrm>
            <a:off x="548640" y="2834640"/>
            <a:ext cx="8046720" cy="777240"/>
          </a:xfrm>
          <a:prstGeom prst="roundRect">
            <a:avLst>
              <a:gd name="adj" fmla="val 9412"/>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2" name="Text 10"/>
          <p:cNvSpPr/>
          <p:nvPr/>
        </p:nvSpPr>
        <p:spPr>
          <a:xfrm>
            <a:off x="777240" y="2898648"/>
            <a:ext cx="7589520" cy="256032"/>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D2D2D"/>
                </a:solidFill>
                <a:latin typeface="Calibri"/>
              </a:rPr>
              <a:t>Scale, market, and resilience validation</a:t>
            </a:r>
          </a:p>
        </p:txBody>
      </p:sp>
      <p:sp>
        <p:nvSpPr>
          <p:cNvPr id="13" name="Text 11"/>
          <p:cNvSpPr/>
          <p:nvPr/>
        </p:nvSpPr>
        <p:spPr>
          <a:xfrm>
            <a:off x="777240" y="3182112"/>
            <a:ext cx="7589520" cy="347472"/>
          </a:xfrm>
          <a:prstGeom prst="rect">
            <a:avLst/>
          </a:prstGeom>
          <a:noFill/>
          <a:ln/>
        </p:spPr>
        <p:txBody>
          <a:bodyPr wrap="square" lIns="0" tIns="0" rIns="0" bIns="0" rtlCol="0" anchor="t">
            <a:noAutofit/>
          </a:bodyPr>
          <a:lstStyle/>
          <a:p>
            <a:pPr algn="l">
              <a:lnSpc>
                <a:spcPct val="95000"/>
              </a:lnSpc>
              <a:spcAft>
                <a:spcPts val="200"/>
              </a:spcAft>
            </a:pPr>
            <a:r>
              <a:rPr sz="1019">
                <a:solidFill>
                  <a:srgbClr val="888888"/>
                </a:solidFill>
                <a:latin typeface="Calibri"/>
              </a:rPr>
              <a:t>Test large onboarding waves, dynamic settlement, market shocks, Treasury recovery, and multi-vector adversarial scenarios.</a:t>
            </a:r>
          </a:p>
        </p:txBody>
      </p:sp>
      <p:sp>
        <p:nvSpPr>
          <p:cNvPr id="14" name="Shape 12"/>
          <p:cNvSpPr/>
          <p:nvPr/>
        </p:nvSpPr>
        <p:spPr>
          <a:xfrm>
            <a:off x="548640" y="3703320"/>
            <a:ext cx="8046720" cy="777240"/>
          </a:xfrm>
          <a:prstGeom prst="roundRect">
            <a:avLst>
              <a:gd name="adj" fmla="val 9412"/>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5" name="Text 13"/>
          <p:cNvSpPr/>
          <p:nvPr/>
        </p:nvSpPr>
        <p:spPr>
          <a:xfrm>
            <a:off x="777240" y="3767328"/>
            <a:ext cx="7589520" cy="256032"/>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D2D2D"/>
                </a:solidFill>
                <a:latin typeface="Calibri"/>
              </a:rPr>
              <a:t>Governance and ecosystem interaction testing</a:t>
            </a:r>
          </a:p>
        </p:txBody>
      </p:sp>
      <p:sp>
        <p:nvSpPr>
          <p:cNvPr id="16" name="Text 14"/>
          <p:cNvSpPr/>
          <p:nvPr/>
        </p:nvSpPr>
        <p:spPr>
          <a:xfrm>
            <a:off x="777240" y="4050792"/>
            <a:ext cx="7589520" cy="347472"/>
          </a:xfrm>
          <a:prstGeom prst="rect">
            <a:avLst/>
          </a:prstGeom>
          <a:noFill/>
          <a:ln/>
        </p:spPr>
        <p:txBody>
          <a:bodyPr wrap="square" lIns="0" tIns="0" rIns="0" bIns="0" rtlCol="0" anchor="t">
            <a:noAutofit/>
          </a:bodyPr>
          <a:lstStyle/>
          <a:p>
            <a:pPr algn="l">
              <a:lnSpc>
                <a:spcPct val="95000"/>
              </a:lnSpc>
              <a:spcAft>
                <a:spcPts val="200"/>
              </a:spcAft>
            </a:pPr>
            <a:r>
              <a:rPr sz="1019">
                <a:solidFill>
                  <a:srgbClr val="888888"/>
                </a:solidFill>
                <a:latin typeface="Calibri"/>
              </a:rPr>
              <a:t>Deepen governance participation and capture scenarios alongside utility pricing, campaigns, creators, validators, and liquidity behavior.</a:t>
            </a:r>
          </a:p>
        </p:txBody>
      </p:sp>
      <p:sp>
        <p:nvSpPr>
          <p:cNvPr id="17" name="Text 15"/>
          <p:cNvSpPr/>
          <p:nvPr/>
        </p:nvSpPr>
        <p:spPr>
          <a:xfrm>
            <a:off x="548640" y="4617720"/>
            <a:ext cx="8046720" cy="274320"/>
          </a:xfrm>
          <a:prstGeom prst="rect">
            <a:avLst/>
          </a:prstGeom>
          <a:noFill/>
          <a:ln/>
        </p:spPr>
        <p:txBody>
          <a:bodyPr wrap="square" lIns="0" tIns="0" rIns="0" bIns="0" rtlCol="0" anchor="ctr">
            <a:noAutofit/>
          </a:bodyPr>
          <a:lstStyle/>
          <a:p>
            <a:pPr algn="l">
              <a:lnSpc>
                <a:spcPct val="100000"/>
              </a:lnSpc>
              <a:spcAft>
                <a:spcPts val="200"/>
              </a:spcAft>
            </a:pPr>
            <a:r>
              <a:rPr sz="969">
                <a:solidFill>
                  <a:srgbClr val="888888"/>
                </a:solidFill>
                <a:latin typeface="Calibri"/>
              </a:rPr>
              <a:t>Provecto Labs will maintain an integrated workflow between specification, simulation, calibration, and adversarial testing.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0F0"/>
        </a:solidFill>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lIns="0" tIns="0" rIns="0" bIns="0" rtlCol="0" anchor="ctr">
            <a:noAutofit/>
          </a:bodyPr>
          <a:lstStyle/>
          <a:p>
            <a:pPr algn="l">
              <a:lnSpc>
                <a:spcPct val="100000"/>
              </a:lnSpc>
              <a:spcAft>
                <a:spcPts val="0"/>
              </a:spcAft>
            </a:pPr>
            <a:r>
              <a:rPr sz="2200" b="1">
                <a:solidFill>
                  <a:srgbClr val="2D2D2D"/>
                </a:solidFill>
                <a:latin typeface="Calibri"/>
              </a:rPr>
              <a:t>Next Steps: Academic Publication</a:t>
            </a:r>
          </a:p>
        </p:txBody>
      </p:sp>
      <p:sp>
        <p:nvSpPr>
          <p:cNvPr id="3" name="Shape 1"/>
          <p:cNvSpPr/>
          <p:nvPr/>
        </p:nvSpPr>
        <p:spPr>
          <a:xfrm>
            <a:off x="548640" y="868680"/>
            <a:ext cx="1097280" cy="0"/>
          </a:xfrm>
          <a:prstGeom prst="line">
            <a:avLst/>
          </a:prstGeom>
          <a:noFill/>
          <a:ln w="31750">
            <a:solidFill>
              <a:srgbClr val="2EAA56"/>
            </a:solidFill>
            <a:prstDash val="solid"/>
          </a:ln>
        </p:spPr>
        <p:txBody>
          <a:bodyPr wrap="square"/>
          <a:p/>
        </p:txBody>
      </p:sp>
      <p:sp>
        <p:nvSpPr>
          <p:cNvPr id="4" name="Text 2"/>
          <p:cNvSpPr/>
          <p:nvPr/>
        </p:nvSpPr>
        <p:spPr>
          <a:xfrm>
            <a:off x="6949440" y="4709160"/>
            <a:ext cx="1828800" cy="320040"/>
          </a:xfrm>
          <a:prstGeom prst="rect">
            <a:avLst/>
          </a:prstGeom>
          <a:noFill/>
          <a:ln/>
        </p:spPr>
        <p:txBody>
          <a:bodyPr wrap="square" lIns="0" tIns="0" rIns="0" bIns="0" rtlCol="0" anchor="ctr"/>
          <a:lstStyle/>
          <a:p>
            <a:pPr algn="r" indent="0" marL="0">
              <a:buNone/>
            </a:pPr>
            <a:r>
              <a:rPr lang="en-US" sz="900" i="1" dirty="0">
                <a:solidFill>
                  <a:srgbClr val="888888"/>
                </a:solidFill>
                <a:latin typeface="Calibri" pitchFamily="34" charset="0"/>
                <a:ea typeface="Calibri" pitchFamily="34" charset="-122"/>
                <a:cs typeface="Calibri" pitchFamily="34" charset="-120"/>
              </a:rPr>
              <a:t>provecto labs.</a:t>
            </a:r>
            <a:endParaRPr lang="en-US" sz="900" dirty="0"/>
          </a:p>
        </p:txBody>
      </p:sp>
      <p:sp>
        <p:nvSpPr>
          <p:cNvPr id="5" name="Shape 3"/>
          <p:cNvSpPr/>
          <p:nvPr/>
        </p:nvSpPr>
        <p:spPr>
          <a:xfrm>
            <a:off x="548640" y="1143000"/>
            <a:ext cx="8046720" cy="1463040"/>
          </a:xfrm>
          <a:prstGeom prst="roundRect">
            <a:avLst>
              <a:gd name="adj" fmla="val 5000"/>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6" name="Text 4"/>
          <p:cNvSpPr/>
          <p:nvPr/>
        </p:nvSpPr>
        <p:spPr>
          <a:xfrm>
            <a:off x="777240" y="1234440"/>
            <a:ext cx="7589520" cy="365760"/>
          </a:xfrm>
          <a:prstGeom prst="rect">
            <a:avLst/>
          </a:prstGeom>
          <a:noFill/>
          <a:ln/>
        </p:spPr>
        <p:txBody>
          <a:bodyPr wrap="square" lIns="0" tIns="0" rIns="0" bIns="0" rtlCol="0" anchor="ctr">
            <a:noAutofit/>
          </a:bodyPr>
          <a:lstStyle/>
          <a:p>
            <a:pPr algn="l">
              <a:lnSpc>
                <a:spcPct val="100000"/>
              </a:lnSpc>
              <a:spcAft>
                <a:spcPts val="200"/>
              </a:spcAft>
            </a:pPr>
            <a:r>
              <a:rPr sz="1600" b="1">
                <a:solidFill>
                  <a:srgbClr val="2D2D2D"/>
                </a:solidFill>
                <a:latin typeface="Calibri"/>
              </a:rPr>
              <a:t>Parameter Locks in Token Economic Systems</a:t>
            </a:r>
          </a:p>
        </p:txBody>
      </p:sp>
      <p:sp>
        <p:nvSpPr>
          <p:cNvPr id="7" name="Text 5"/>
          <p:cNvSpPr/>
          <p:nvPr/>
        </p:nvSpPr>
        <p:spPr>
          <a:xfrm>
            <a:off x="777240" y="1600200"/>
            <a:ext cx="7589520" cy="274320"/>
          </a:xfrm>
          <a:prstGeom prst="rect">
            <a:avLst/>
          </a:prstGeom>
          <a:noFill/>
          <a:ln/>
        </p:spPr>
        <p:txBody>
          <a:bodyPr wrap="square" lIns="0" tIns="0" rIns="0" bIns="0" rtlCol="0" anchor="ctr">
            <a:noAutofit/>
          </a:bodyPr>
          <a:lstStyle/>
          <a:p>
            <a:pPr algn="l">
              <a:lnSpc>
                <a:spcPct val="100000"/>
              </a:lnSpc>
              <a:spcAft>
                <a:spcPts val="200"/>
              </a:spcAft>
            </a:pPr>
            <a:r>
              <a:rPr sz="1100">
                <a:solidFill>
                  <a:srgbClr val="2EAA56"/>
                </a:solidFill>
                <a:latin typeface="Calibri"/>
              </a:rPr>
              <a:t>Proposed target: Journal of the British Blockchain Association (JBBA)</a:t>
            </a:r>
          </a:p>
        </p:txBody>
      </p:sp>
      <p:sp>
        <p:nvSpPr>
          <p:cNvPr id="8" name="Text 6"/>
          <p:cNvSpPr/>
          <p:nvPr/>
        </p:nvSpPr>
        <p:spPr>
          <a:xfrm>
            <a:off x="777240" y="1965960"/>
            <a:ext cx="7589520" cy="502920"/>
          </a:xfrm>
          <a:prstGeom prst="rect">
            <a:avLst/>
          </a:prstGeom>
          <a:noFill/>
          <a:ln/>
        </p:spPr>
        <p:txBody>
          <a:bodyPr wrap="square" lIns="0" tIns="0" rIns="0" bIns="0" rtlCol="0" anchor="ctr">
            <a:noAutofit/>
          </a:bodyPr>
          <a:lstStyle/>
          <a:p>
            <a:pPr algn="l">
              <a:lnSpc>
                <a:spcPct val="100000"/>
              </a:lnSpc>
              <a:spcAft>
                <a:spcPts val="200"/>
              </a:spcAft>
            </a:pPr>
            <a:r>
              <a:rPr sz="1120">
                <a:solidFill>
                  <a:srgbClr val="2D2D2D"/>
                </a:solidFill>
                <a:latin typeface="Calibri"/>
              </a:rPr>
              <a:t>Formalize Z1's tiered parameter-lock architecture as a reusable framework for safe parameter mutability. The paper would use Z1 and the simulation evidence as the principal case study.</a:t>
            </a:r>
          </a:p>
        </p:txBody>
      </p:sp>
      <p:sp>
        <p:nvSpPr>
          <p:cNvPr id="9" name="Shape 7"/>
          <p:cNvSpPr/>
          <p:nvPr/>
        </p:nvSpPr>
        <p:spPr>
          <a:xfrm>
            <a:off x="548640" y="2834640"/>
            <a:ext cx="3794760" cy="1828800"/>
          </a:xfrm>
          <a:prstGeom prst="roundRect">
            <a:avLst>
              <a:gd name="adj" fmla="val 4000"/>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0" name="Text 8"/>
          <p:cNvSpPr/>
          <p:nvPr/>
        </p:nvSpPr>
        <p:spPr>
          <a:xfrm>
            <a:off x="777240" y="2926080"/>
            <a:ext cx="3383280" cy="274320"/>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EAA56"/>
                </a:solidFill>
                <a:latin typeface="Calibri"/>
              </a:rPr>
              <a:t>Why the topic is publishable</a:t>
            </a:r>
          </a:p>
        </p:txBody>
      </p:sp>
      <p:sp>
        <p:nvSpPr>
          <p:cNvPr id="11" name="Text 9"/>
          <p:cNvSpPr/>
          <p:nvPr/>
        </p:nvSpPr>
        <p:spPr>
          <a:xfrm>
            <a:off x="777240" y="3246120"/>
            <a:ext cx="3383280" cy="1280160"/>
          </a:xfrm>
          <a:prstGeom prst="rect">
            <a:avLst/>
          </a:prstGeom>
          <a:noFill/>
          <a:ln/>
        </p:spPr>
        <p:txBody>
          <a:bodyPr wrap="square" rtlCol="0" anchor="t">
            <a:noAutofit/>
          </a:bodyPr>
          <a:lstStyle/>
          <a:p>
            <a:pPr algn="l">
              <a:lnSpc>
                <a:spcPct val="92000"/>
              </a:lnSpc>
              <a:spcAft>
                <a:spcPts val="200"/>
              </a:spcAft>
            </a:pPr>
            <a:r>
              <a:rPr sz="1030">
                <a:solidFill>
                  <a:srgbClr val="2D2D2D"/>
                </a:solidFill>
                <a:latin typeface="Calibri"/>
              </a:rPr>
              <a:t>• Treats parameter criticality and mutability as explicit design variables</a:t>
            </a:r>
          </a:p>
          <a:p>
            <a:pPr algn="l">
              <a:lnSpc>
                <a:spcPct val="92000"/>
              </a:lnSpc>
              <a:spcAft>
                <a:spcPts val="200"/>
              </a:spcAft>
            </a:pPr>
            <a:r>
              <a:rPr sz="1030">
                <a:solidFill>
                  <a:srgbClr val="2D2D2D"/>
                </a:solidFill>
                <a:latin typeface="Calibri"/>
              </a:rPr>
              <a:t>• Connects mechanism design, simulation evidence, and formal checks</a:t>
            </a:r>
          </a:p>
          <a:p>
            <a:pPr algn="l">
              <a:lnSpc>
                <a:spcPct val="92000"/>
              </a:lnSpc>
              <a:spcAft>
                <a:spcPts val="200"/>
              </a:spcAft>
            </a:pPr>
            <a:r>
              <a:rPr sz="1030">
                <a:solidFill>
                  <a:srgbClr val="2D2D2D"/>
                </a:solidFill>
                <a:latin typeface="Calibri"/>
              </a:rPr>
              <a:t>• Provides a real token-economy case study</a:t>
            </a:r>
          </a:p>
          <a:p>
            <a:pPr algn="l">
              <a:lnSpc>
                <a:spcPct val="92000"/>
              </a:lnSpc>
              <a:spcAft>
                <a:spcPts val="200"/>
              </a:spcAft>
            </a:pPr>
            <a:r>
              <a:rPr sz="1030">
                <a:solidFill>
                  <a:srgbClr val="2D2D2D"/>
                </a:solidFill>
                <a:latin typeface="Calibri"/>
              </a:rPr>
              <a:t>• Contributes a practical pattern for governance resilience</a:t>
            </a:r>
          </a:p>
        </p:txBody>
      </p:sp>
      <p:sp>
        <p:nvSpPr>
          <p:cNvPr id="12" name="Shape 10"/>
          <p:cNvSpPr/>
          <p:nvPr/>
        </p:nvSpPr>
        <p:spPr>
          <a:xfrm>
            <a:off x="4800600" y="2834640"/>
            <a:ext cx="3794760" cy="1828800"/>
          </a:xfrm>
          <a:prstGeom prst="roundRect">
            <a:avLst>
              <a:gd name="adj" fmla="val 4000"/>
            </a:avLst>
          </a:prstGeom>
          <a:solidFill>
            <a:srgbClr val="FFFFFF"/>
          </a:solidFill>
          <a:ln/>
          <a:effectLst>
            <a:outerShdw sx="100000" sy="100000" kx="0" ky="0" algn="bl" rotWithShape="0" blurRad="50800" dist="12700" dir="2700000">
              <a:srgbClr val="000000">
                <a:alpha val="8000"/>
              </a:srgbClr>
            </a:outerShdw>
          </a:effectLst>
        </p:spPr>
        <p:txBody>
          <a:bodyPr wrap="square"/>
          <a:p/>
        </p:txBody>
      </p:sp>
      <p:sp>
        <p:nvSpPr>
          <p:cNvPr id="13" name="Text 11"/>
          <p:cNvSpPr/>
          <p:nvPr/>
        </p:nvSpPr>
        <p:spPr>
          <a:xfrm>
            <a:off x="5029200" y="2926080"/>
            <a:ext cx="3383280" cy="274320"/>
          </a:xfrm>
          <a:prstGeom prst="rect">
            <a:avLst/>
          </a:prstGeom>
          <a:noFill/>
          <a:ln/>
        </p:spPr>
        <p:txBody>
          <a:bodyPr wrap="square" lIns="0" tIns="0" rIns="0" bIns="0" rtlCol="0" anchor="ctr">
            <a:noAutofit/>
          </a:bodyPr>
          <a:lstStyle/>
          <a:p>
            <a:pPr algn="l">
              <a:lnSpc>
                <a:spcPct val="100000"/>
              </a:lnSpc>
              <a:spcAft>
                <a:spcPts val="200"/>
              </a:spcAft>
            </a:pPr>
            <a:r>
              <a:rPr sz="1200" b="1">
                <a:solidFill>
                  <a:srgbClr val="2EAA56"/>
                </a:solidFill>
                <a:latin typeface="Calibri"/>
              </a:rPr>
              <a:t>Proposed contributors</a:t>
            </a:r>
          </a:p>
        </p:txBody>
      </p:sp>
      <p:sp>
        <p:nvSpPr>
          <p:cNvPr id="14" name="Text 12"/>
          <p:cNvSpPr/>
          <p:nvPr/>
        </p:nvSpPr>
        <p:spPr>
          <a:xfrm>
            <a:off x="5029200" y="3246120"/>
            <a:ext cx="3383280" cy="1280160"/>
          </a:xfrm>
          <a:prstGeom prst="rect">
            <a:avLst/>
          </a:prstGeom>
          <a:noFill/>
          <a:ln/>
        </p:spPr>
        <p:txBody>
          <a:bodyPr wrap="square" rtlCol="0" anchor="t">
            <a:noAutofit/>
          </a:bodyPr>
          <a:lstStyle/>
          <a:p>
            <a:pPr>
              <a:lnSpc>
                <a:spcPct val="90000"/>
              </a:lnSpc>
              <a:spcAft>
                <a:spcPts val="200"/>
              </a:spcAft>
            </a:pPr>
            <a:r>
              <a:rPr sz="900">
                <a:latin typeface="Calibri"/>
              </a:rPr>
              <a:t>Linas Stankevicius — Provecto Labs</a:t>
            </a:r>
          </a:p>
          <a:p>
            <a:pPr>
              <a:lnSpc>
                <a:spcPct val="90000"/>
              </a:lnSpc>
              <a:spcAft>
                <a:spcPts val="200"/>
              </a:spcAft>
            </a:pPr>
            <a:r>
              <a:rPr sz="900">
                <a:latin typeface="Calibri"/>
              </a:rPr>
              <a:t>Nik Pletikos — Provecto Labs</a:t>
            </a:r>
          </a:p>
          <a:p>
            <a:pPr>
              <a:lnSpc>
                <a:spcPct val="90000"/>
              </a:lnSpc>
              <a:spcAft>
                <a:spcPts val="200"/>
              </a:spcAft>
            </a:pPr>
            <a:r>
              <a:rPr sz="900">
                <a:latin typeface="Calibri"/>
              </a:rPr>
              <a:t>Dr. Stylianos Kampakis — TokenLab</a:t>
            </a:r>
          </a:p>
          <a:p>
            <a:pPr>
              <a:lnSpc>
                <a:spcPct val="90000"/>
              </a:lnSpc>
              <a:spcAft>
                <a:spcPts val="200"/>
              </a:spcAft>
            </a:pPr>
            <a:r>
              <a:rPr sz="900">
                <a:latin typeface="Calibri"/>
              </a:rPr>
              <a:t>Dr. Theodosis Mourouzis — JBBA</a:t>
            </a:r>
          </a:p>
          <a:p>
            <a:pPr>
              <a:lnSpc>
                <a:spcPct val="90000"/>
              </a:lnSpc>
              <a:spcAft>
                <a:spcPts val="200"/>
              </a:spcAft>
            </a:pPr>
            <a:r>
              <a:rPr sz="900">
                <a:latin typeface="Calibri"/>
              </a:rPr>
              <a:t>Formal methods contributor — to be confirmed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D2D2D"/>
        </a:solidFill>
      </p:bgPr>
    </p:bg>
    <p:spTree>
      <p:nvGrpSpPr>
        <p:cNvPr id="1" name=""/>
        <p:cNvGrpSpPr/>
        <p:nvPr/>
      </p:nvGrpSpPr>
      <p:grpSpPr>
        <a:xfrm>
          <a:off x="0" y="0"/>
          <a:ext cx="0" cy="0"/>
          <a:chOff x="0" y="0"/>
          <a:chExt cx="0" cy="0"/>
        </a:xfrm>
      </p:grpSpPr>
      <p:sp>
        <p:nvSpPr>
          <p:cNvPr id="2" name="Text 0"/>
          <p:cNvSpPr/>
          <p:nvPr/>
        </p:nvSpPr>
        <p:spPr>
          <a:xfrm>
            <a:off x="548640" y="1645920"/>
            <a:ext cx="8046720" cy="548640"/>
          </a:xfrm>
          <a:prstGeom prst="rect">
            <a:avLst/>
          </a:prstGeom>
          <a:noFill/>
          <a:ln/>
        </p:spPr>
        <p:txBody>
          <a:bodyPr wrap="square" lIns="0" tIns="0" rIns="0" bIns="0" rtlCol="0" anchor="ctr"/>
          <a:lstStyle/>
          <a:p>
            <a:pPr algn="ctr" indent="0" marL="0">
              <a:buNone/>
            </a:pPr>
            <a:r>
              <a:rPr lang="en-US" sz="2800" i="1" dirty="0">
                <a:solidFill>
                  <a:srgbClr val="FFFFFF"/>
                </a:solidFill>
                <a:latin typeface="Calibri" pitchFamily="34" charset="0"/>
                <a:ea typeface="Calibri" pitchFamily="34" charset="-122"/>
                <a:cs typeface="Calibri" pitchFamily="34" charset="-120"/>
              </a:rPr>
              <a:t>provecto labs.</a:t>
            </a:r>
            <a:endParaRPr lang="en-US" sz="2800" dirty="0"/>
          </a:p>
        </p:txBody>
      </p:sp>
      <p:sp>
        <p:nvSpPr>
          <p:cNvPr id="3" name="Shape 1"/>
          <p:cNvSpPr/>
          <p:nvPr/>
        </p:nvSpPr>
        <p:spPr>
          <a:xfrm>
            <a:off x="3657600" y="2377440"/>
            <a:ext cx="1828800" cy="0"/>
          </a:xfrm>
          <a:prstGeom prst="line">
            <a:avLst/>
          </a:prstGeom>
          <a:noFill/>
          <a:ln w="25400">
            <a:solidFill>
              <a:srgbClr val="2EAA56"/>
            </a:solidFill>
            <a:prstDash val="solid"/>
          </a:ln>
        </p:spPr>
        <p:txBody>
          <a:bodyPr wrap="square"/>
          <a:p/>
        </p:txBody>
      </p:sp>
      <p:sp>
        <p:nvSpPr>
          <p:cNvPr id="4" name="Text 2"/>
          <p:cNvSpPr/>
          <p:nvPr/>
        </p:nvSpPr>
        <p:spPr>
          <a:xfrm>
            <a:off x="548640" y="2606040"/>
            <a:ext cx="8046720" cy="320040"/>
          </a:xfrm>
          <a:prstGeom prst="rect">
            <a:avLst/>
          </a:prstGeom>
          <a:noFill/>
          <a:ln/>
        </p:spPr>
        <p:txBody>
          <a:bodyPr wrap="square" lIns="0" tIns="0" rIns="0" bIns="0" rtlCol="0" anchor="ctr"/>
          <a:lstStyle/>
          <a:p>
            <a:pPr algn="ctr" indent="0" marL="0">
              <a:buNone/>
            </a:pPr>
            <a:r>
              <a:rPr lang="en-US" sz="1200" dirty="0">
                <a:solidFill>
                  <a:srgbClr val="888888"/>
                </a:solidFill>
                <a:latin typeface="Calibri" pitchFamily="34" charset="0"/>
                <a:ea typeface="Calibri" pitchFamily="34" charset="-122"/>
                <a:cs typeface="Calibri" pitchFamily="34" charset="-120"/>
              </a:rPr>
              <a:t>linas@provecto.io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Z1 Simulation v1 — Key Findings &amp; Next Steps</dc:title>
  <dc:subject>PptxGenJS Presentation</dc:subject>
  <dc:creator>Provecto Labs</dc:creator>
  <cp:lastModifiedBy>Provecto Labs</cp:lastModifiedBy>
  <cp:revision>1</cp:revision>
  <dcterms:created xsi:type="dcterms:W3CDTF">2026-06-24T14:21:28Z</dcterms:created>
  <dcterms:modified xsi:type="dcterms:W3CDTF">2026-06-24T14:21:28Z</dcterms:modified>
</cp:coreProperties>
</file>