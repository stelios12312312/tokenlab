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the strategic findings from the Z1 v1 simulation engagement. The focus is on what we learned about the system that matters for launch readiness, not implementation details. Every finding here has a direct implication for protocol design, parameter calibration, or risk posture heading into TGE.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produced one of the most detailed tokenomics specifications in the industry for a project at this stage. Phase 3 simulation ran three milestones of increasing complexity through TokenLab. The findings on the following slides are exactly what simulation is supposed to surface: structural insights about how the system behaves under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carefully. Every protocol bootstraps through subsidies. Ethereum had pre-mine, Helium had HIP-20 emissions, MakerDAO ran at a loss for years. The question is never whether there is a subsidy phase. The question is whether you know how long it lasts and what needs to happen before it ends. We now know the Z1 treasury runs at a deficit under default parameters. v2 simulation will map the exact participation and consumption thresholds needed for breakeven. The automated sustainability brake (SYS_throttle) is correctly designed to degrade gracefully rather than fail suddenly. That is a strength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finding. Do not present it as a failure. Present it as a discovery. The simulation did its job: it found that the system is stable, but the stability is load-bearing on one parameter. That parameter is the settlement ratio, which controls how much Z1U a user gets per ACR credit. The optimizer lands on a value that works, but it amounts to a significant haircut on what users receive. The question for the client is: is that haircut acceptable from a user experience standpoint? And: what happens if market conditions push the ratio to a different value? None of the eight parameter families in the solvency formula have been calibrated against real behavioral data. This is the core gap that v2 must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tension briefly. The key message: these are architectural tradeoffs, not parameter tuning problems. Each one defines a frontier. Simulation explores that frontier to show the client where the viable region is. For example, the first tension, growing participation drains the reserve, means there is a maximum sustainable growth rate at any given fee level. Find it, and you know the system's capacity. The seventh tension is Z1-specific: with 900M+ Zee viewers as the target audience, even a modest claim conversion rate produces tens of millions of simultaneous claims. All of them hitting their vesting cliff at the same time creates a settlement demand spike orders of magnitude above steady state. The specification proposes deterministic staggering to spread cliff endings over a 3-month window, but this has not been stress-tested at Zee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architectural findings from the Value Creation Mechanism interaction matrix. First, Treasury has the highest connectivity of all eight VCMs. Every inflow and every outflow routes through it. This is a strength for monetary policy control, but it is also the single biggest governance attack surface. If someone captures Treasury governance, they control the entire economy. The three-tier parameter lock system is the defense here. Second, the integrity and verification layer is architecturally unique. It is self-standing. Every other mechanism depends on it directly or indirectly. If identity verification fails, the entire recognition engine loses credibility, campaigns lose their proof layer, and governance loses its sybil defense. Simultaneously. Third, the settlement gate is where the dual-economy design proves itself. It is the only bridge between ACR and Z1U. The settlement ratio finding from the previous slide is a direct consequence of this architectural centrality.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things that makes Z1 genuinely different from every other token economy in the market. Most protocols grow organically. Z1 has access to a 900M+ captive media audience. That is an extraordinary advantage, but it also creates a pressure profile that standard tokenomics tooling is not designed for. A Super Bowl ad moment, a viral campaign, or a platform integration push could produce 10-50M claims in a single week. Six months later, all of those users hit their vesting cliff. The staggering mechanism is well-designed on paper, but v2 simulation must validate it against realistic adoption shock profiles derived from Zee's actual audience engagement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between v1 and v2. v1 proved the mechanism architecture works under plausible assumptions. v2 must replace those assumptions with grounded data. Zee has something almost no token project has at this stage: actual behavioral data from the target user base. 900M+ viewers with years of engagement history. Their viewing patterns, loyalty redemption rates, and content interaction behaviors are direct proxies for how they will behave in the token economy. Claim propensity maps to existing engagement rates. Settlement timing maps to reward redemption patterns. Utility spending maps to premium feature adoption. This data transforms the simulation from an exploration exercise into a calibration exercise. That is the difference between launching with assumptions and launching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positive finding. Most token engineering work surfaces problems. This surfaces a strength. The three-tier hierarchy is novel because it treats parameter mutability as a first-class design dimension. Compound, Aave, MakerDAO, and Uniswap all govern parameters through a single governance process. The distinction between a fee rate change and a supply cap change is procedural, not structural. Z1 makes it structural. Constitutional parameters are the system's identity. You cannot change what the system IS through standard governance. You can only change how it performs. This is the core thesis for the JBBA paper we will publish. The combination of formal verification for lock enforcement, game theory for incentive analysis, and tiered governance for attack resistance is a contribution to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v2 is fundamentally different from v1. v1 asked: does it hold? v2 asks: where does it break, and how wide is the safe region? The sensitivity analysis will use proper methods: Morris screening for initial ranking, Sobol decomposition for interaction effects, one-at-a-time sweeps for parameter-specific curves. Behavioral calibration from Zee data is the highest-value addition. It transforms the simulation from speculative to evidence-based. Adversarial testing is now handled in-house. Gauntlet Labs is no longer in scope. This actually gives us tighter control: we can design attack scenarios that target the specific vulnerabilities the specification identifies, rather than running generic adversarial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JBBA paper positions Z1's parameter lock framework as an academic contribution to the field. The core argument: parameter mutability should be a first-class design dimension in token engineering, not an afterthought handled by uniform governance. Most DeFi governance attacks exploit flat parameter hierarchies where changing a fee rate requires the same process as changing the total supply cap. Z1 makes this structurally impossible. The cryptography PhD contributor, a colleague of Stelios from 2011, adds formal verification rigor. The authorship team spans token engineering, simulation, and cryptography, which is exactly the interdisciplinary composition JBBA looks for. We have two prior publications with Stelios, Nik is near-PhD level, so the academic credibility is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 the system is not broken, it is under-tested. v1 did its job. It surfaced real structural insights about treasury sustainability, settlement ratio sensitivity, and scale-specific pressures. v2 closes the empirical gap, broadens the stress testing, and produces the parameter engineering needed for a confident TGE. The JBBA paper turns one of the system's design strengths into published academic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365760"/>
            <a:ext cx="3657600" cy="36576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provecto labs.</a:t>
            </a:r>
            <a:endParaRPr lang="en-US" sz="1200" dirty="0"/>
          </a:p>
        </p:txBody>
      </p:sp>
      <p:sp>
        <p:nvSpPr>
          <p:cNvPr id="3" name="Text 1"/>
          <p:cNvSpPr/>
          <p:nvPr/>
        </p:nvSpPr>
        <p:spPr>
          <a:xfrm>
            <a:off x="548640" y="1463040"/>
            <a:ext cx="8046720" cy="73152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Z1 Simulation v1</a:t>
            </a:r>
            <a:endParaRPr lang="en-US" sz="3800" dirty="0"/>
          </a:p>
        </p:txBody>
      </p:sp>
      <p:sp>
        <p:nvSpPr>
          <p:cNvPr id="4" name="Text 2"/>
          <p:cNvSpPr/>
          <p:nvPr/>
        </p:nvSpPr>
        <p:spPr>
          <a:xfrm>
            <a:off x="548640" y="2194560"/>
            <a:ext cx="8046720" cy="502920"/>
          </a:xfrm>
          <a:prstGeom prst="rect">
            <a:avLst/>
          </a:prstGeom>
          <a:noFill/>
          <a:ln/>
        </p:spPr>
        <p:txBody>
          <a:bodyPr wrap="square" lIns="0" tIns="0" rIns="0" bIns="0" rtlCol="0" anchor="ctr"/>
          <a:lstStyle/>
          <a:p>
            <a:pPr indent="0" marL="0">
              <a:buNone/>
            </a:pPr>
            <a:r>
              <a:rPr lang="en-US" sz="2000" dirty="0">
                <a:solidFill>
                  <a:srgbClr val="2EAA56"/>
                </a:solidFill>
                <a:latin typeface="Calibri" pitchFamily="34" charset="0"/>
                <a:ea typeface="Calibri" pitchFamily="34" charset="-122"/>
                <a:cs typeface="Calibri" pitchFamily="34" charset="-120"/>
              </a:rPr>
              <a:t>Key Findings &amp; Next Steps</a:t>
            </a:r>
            <a:endParaRPr lang="en-US" sz="2000" dirty="0"/>
          </a:p>
        </p:txBody>
      </p:sp>
      <p:sp>
        <p:nvSpPr>
          <p:cNvPr id="5" name="Shape 3"/>
          <p:cNvSpPr/>
          <p:nvPr/>
        </p:nvSpPr>
        <p:spPr>
          <a:xfrm>
            <a:off x="548640" y="2880360"/>
            <a:ext cx="1828800" cy="0"/>
          </a:xfrm>
          <a:prstGeom prst="line">
            <a:avLst/>
          </a:prstGeom>
          <a:noFill/>
          <a:ln w="25400">
            <a:solidFill>
              <a:srgbClr val="2EAA56"/>
            </a:solidFill>
            <a:prstDash val="solid"/>
          </a:ln>
        </p:spPr>
      </p:sp>
      <p:sp>
        <p:nvSpPr>
          <p:cNvPr id="6" name="Text 4"/>
          <p:cNvSpPr/>
          <p:nvPr/>
        </p:nvSpPr>
        <p:spPr>
          <a:xfrm>
            <a:off x="548640" y="3154680"/>
            <a:ext cx="7315200" cy="365760"/>
          </a:xfrm>
          <a:prstGeom prst="rect">
            <a:avLst/>
          </a:prstGeom>
          <a:noFill/>
          <a:ln/>
        </p:spPr>
        <p:txBody>
          <a:bodyPr wrap="square" lIns="0" tIns="0" rIns="0" bIns="0" rtlCol="0" anchor="ctr"/>
          <a:lstStyle/>
          <a:p>
            <a:pPr indent="0" marL="0">
              <a:buNone/>
            </a:pPr>
            <a:r>
              <a:rPr lang="en-US" sz="1100" dirty="0">
                <a:solidFill>
                  <a:srgbClr val="888888"/>
                </a:solidFill>
                <a:latin typeface="Calibri" pitchFamily="34" charset="0"/>
                <a:ea typeface="Calibri" pitchFamily="34" charset="-122"/>
                <a:cs typeface="Calibri" pitchFamily="34" charset="-120"/>
              </a:rPr>
              <a:t>Provecto Labs  //  TokenLab  //  June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What Was Delivered</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Formal Specification</a:t>
            </a:r>
            <a:endParaRPr lang="en-US" sz="1400" dirty="0"/>
          </a:p>
        </p:txBody>
      </p:sp>
      <p:sp>
        <p:nvSpPr>
          <p:cNvPr id="7" name="Text 5"/>
          <p:cNvSpPr/>
          <p:nvPr/>
        </p:nvSpPr>
        <p:spPr>
          <a:xfrm>
            <a:off x="777240" y="1737360"/>
            <a:ext cx="3383280" cy="2560320"/>
          </a:xfrm>
          <a:prstGeom prst="rect">
            <a:avLst/>
          </a:prstGeom>
          <a:noFill/>
          <a:ln/>
        </p:spPr>
        <p:txBody>
          <a:bodyPr wrap="square" rtlCol="0" anchor="t"/>
          <a:lstStyle/>
          <a:p>
            <a:pPr marL="342900" indent="-342900">
              <a:spcAft>
                <a:spcPts val="400"/>
              </a:spcAft>
              <a:buSzPct val="100000"/>
              <a:buChar char="•"/>
            </a:pPr>
            <a:r>
              <a:rPr lang="en-US" sz="1200" dirty="0">
                <a:solidFill>
                  <a:srgbClr val="2D2D2D"/>
                </a:solidFill>
              </a:rPr>
              <a:t>57 mechanisms, 44 policies, 29 gates, 67 parameters</a:t>
            </a:r>
            <a:endParaRPr lang="en-US" sz="1200" dirty="0"/>
          </a:p>
          <a:p>
            <a:pPr marL="342900" indent="-342900">
              <a:spcAft>
                <a:spcPts val="400"/>
              </a:spcAft>
              <a:buSzPct val="100000"/>
              <a:buChar char="•"/>
            </a:pPr>
            <a:r>
              <a:rPr lang="en-US" sz="1200" dirty="0">
                <a:solidFill>
                  <a:srgbClr val="2D2D2D"/>
                </a:solidFill>
              </a:rPr>
              <a:t>8 Value Creation Mechanisms mapped with interaction matrix</a:t>
            </a:r>
            <a:endParaRPr lang="en-US" sz="1200" dirty="0"/>
          </a:p>
          <a:p>
            <a:pPr marL="342900" indent="-342900">
              <a:spcAft>
                <a:spcPts val="400"/>
              </a:spcAft>
              <a:buSzPct val="100000"/>
              <a:buChar char="•"/>
            </a:pPr>
            <a:r>
              <a:rPr lang="en-US" sz="1200" dirty="0">
                <a:solidFill>
                  <a:srgbClr val="2D2D2D"/>
                </a:solidFill>
              </a:rPr>
              <a:t>6 conservation laws formally defined</a:t>
            </a:r>
            <a:endParaRPr lang="en-US" sz="1200" dirty="0"/>
          </a:p>
          <a:p>
            <a:pPr marL="342900" indent="-342900">
              <a:spcAft>
                <a:spcPts val="400"/>
              </a:spcAft>
              <a:buSzPct val="100000"/>
              <a:buChar char="•"/>
            </a:pPr>
            <a:r>
              <a:rPr lang="en-US" sz="1200" dirty="0">
                <a:solidFill>
                  <a:srgbClr val="2D2D2D"/>
                </a:solidFill>
              </a:rPr>
              <a:t>4 existential + 5 structural failure modes catalogued</a:t>
            </a:r>
            <a:endParaRPr lang="en-US" sz="1200" dirty="0"/>
          </a:p>
          <a:p>
            <a:pPr marL="342900" indent="-342900">
              <a:spcAft>
                <a:spcPts val="400"/>
              </a:spcAft>
              <a:buSzPct val="100000"/>
              <a:buChar char="•"/>
            </a:pPr>
            <a:r>
              <a:rPr lang="en-US" sz="1200" dirty="0">
                <a:solidFill>
                  <a:srgbClr val="2D2D2D"/>
                </a:solidFill>
              </a:rPr>
              <a:t>7 fundamental design tensions identified</a:t>
            </a:r>
            <a:endParaRPr lang="en-US" sz="1200" dirty="0"/>
          </a:p>
          <a:p>
            <a:pPr marL="342900" indent="-342900">
              <a:spcAft>
                <a:spcPts val="400"/>
              </a:spcAft>
              <a:buSzPct val="100000"/>
              <a:buChar char="•"/>
            </a:pPr>
            <a:r>
              <a:rPr lang="en-US" sz="1200" dirty="0">
                <a:solidFill>
                  <a:srgbClr val="2D2D2D"/>
                </a:solidFill>
              </a:rPr>
              <a:t>3-tier parameter governance hierarchy designed</a:t>
            </a:r>
            <a:endParaRPr lang="en-US" sz="1200" dirty="0"/>
          </a:p>
        </p:txBody>
      </p:sp>
      <p:sp>
        <p:nvSpPr>
          <p:cNvPr id="8" name="Shape 6"/>
          <p:cNvSpPr/>
          <p:nvPr/>
        </p:nvSpPr>
        <p:spPr>
          <a:xfrm>
            <a:off x="480060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sp>
      <p:sp>
        <p:nvSpPr>
          <p:cNvPr id="9" name="Text 7"/>
          <p:cNvSpPr/>
          <p:nvPr/>
        </p:nvSpPr>
        <p:spPr>
          <a:xfrm>
            <a:off x="502920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Agent-Based Simulation</a:t>
            </a:r>
            <a:endParaRPr lang="en-US" sz="1400" dirty="0"/>
          </a:p>
        </p:txBody>
      </p:sp>
      <p:sp>
        <p:nvSpPr>
          <p:cNvPr id="10" name="Text 8"/>
          <p:cNvSpPr/>
          <p:nvPr/>
        </p:nvSpPr>
        <p:spPr>
          <a:xfrm>
            <a:off x="5029200" y="1737360"/>
            <a:ext cx="3383280" cy="2560320"/>
          </a:xfrm>
          <a:prstGeom prst="rect">
            <a:avLst/>
          </a:prstGeom>
          <a:noFill/>
          <a:ln/>
        </p:spPr>
        <p:txBody>
          <a:bodyPr wrap="square" rtlCol="0" anchor="t"/>
          <a:lstStyle/>
          <a:p>
            <a:pPr marL="342900" indent="-342900">
              <a:spcAft>
                <a:spcPts val="400"/>
              </a:spcAft>
              <a:buSzPct val="100000"/>
              <a:buChar char="•"/>
            </a:pPr>
            <a:r>
              <a:rPr lang="en-US" sz="1200" dirty="0">
                <a:solidFill>
                  <a:srgbClr val="2D2D2D"/>
                </a:solidFill>
              </a:rPr>
              <a:t>3 milestones: core solvency, market dynamics, full economy</a:t>
            </a:r>
            <a:endParaRPr lang="en-US" sz="1200" dirty="0"/>
          </a:p>
          <a:p>
            <a:pPr marL="342900" indent="-342900">
              <a:spcAft>
                <a:spcPts val="400"/>
              </a:spcAft>
              <a:buSzPct val="100000"/>
              <a:buChar char="•"/>
            </a:pPr>
            <a:r>
              <a:rPr lang="en-US" sz="1200" dirty="0">
                <a:solidFill>
                  <a:srgbClr val="2D2D2D"/>
                </a:solidFill>
              </a:rPr>
              <a:t>27-scenario stress grid across adoption, sentiment, and claim rates</a:t>
            </a:r>
            <a:endParaRPr lang="en-US" sz="1200" dirty="0"/>
          </a:p>
          <a:p>
            <a:pPr marL="342900" indent="-342900">
              <a:spcAft>
                <a:spcPts val="400"/>
              </a:spcAft>
              <a:buSzPct val="100000"/>
              <a:buChar char="•"/>
            </a:pPr>
            <a:r>
              <a:rPr lang="en-US" sz="1200" dirty="0">
                <a:solidFill>
                  <a:srgbClr val="2D2D2D"/>
                </a:solidFill>
              </a:rPr>
              <a:t>Bank run and adversarial whale scenarios</a:t>
            </a:r>
            <a:endParaRPr lang="en-US" sz="1200" dirty="0"/>
          </a:p>
          <a:p>
            <a:pPr marL="342900" indent="-342900">
              <a:spcAft>
                <a:spcPts val="400"/>
              </a:spcAft>
              <a:buSzPct val="100000"/>
              <a:buChar char="•"/>
            </a:pPr>
            <a:r>
              <a:rPr lang="en-US" sz="1200" dirty="0">
                <a:solidFill>
                  <a:srgbClr val="2D2D2D"/>
                </a:solidFill>
              </a:rPr>
              <a:t>Full economy model with AMM, genesis vesting, campaigns</a:t>
            </a:r>
            <a:endParaRPr lang="en-US" sz="1200" dirty="0"/>
          </a:p>
          <a:p>
            <a:pPr marL="342900" indent="-342900">
              <a:spcAft>
                <a:spcPts val="400"/>
              </a:spcAft>
              <a:buSzPct val="100000"/>
              <a:buChar char="•"/>
            </a:pPr>
            <a:r>
              <a:rPr lang="en-US" sz="1200" dirty="0">
                <a:solidFill>
                  <a:srgbClr val="2D2D2D"/>
                </a:solidFill>
              </a:rPr>
              <a:t>100-trial Monte Carlo + parameter sweep</a:t>
            </a:r>
            <a:endParaRPr lang="en-US" sz="1200" dirty="0"/>
          </a:p>
          <a:p>
            <a:pPr marL="342900" indent="-342900">
              <a:spcAft>
                <a:spcPts val="400"/>
              </a:spcAft>
              <a:buSzPct val="100000"/>
              <a:buChar char="•"/>
            </a:pPr>
            <a:r>
              <a:rPr lang="en-US" sz="1200" dirty="0">
                <a:solidFill>
                  <a:srgbClr val="2D2D2D"/>
                </a:solidFill>
              </a:rPr>
              <a:t>Conservation invariants verified every epoch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The Treasury Runs on a Finite Subsidy Window</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34440"/>
            <a:ext cx="7589520" cy="640080"/>
          </a:xfrm>
          <a:prstGeom prst="rect">
            <a:avLst/>
          </a:prstGeom>
          <a:noFill/>
          <a:ln/>
        </p:spPr>
        <p:txBody>
          <a:bodyPr wrap="square" lIns="0" tIns="0" rIns="0" bIns="0" rtlCol="0" anchor="t"/>
          <a:lstStyle/>
          <a:p>
            <a:pPr indent="0" marL="0">
              <a:buNone/>
            </a:pPr>
            <a:r>
              <a:rPr lang="en-US" sz="1300" dirty="0">
                <a:solidFill>
                  <a:srgbClr val="2D2D2D"/>
                </a:solidFill>
                <a:latin typeface="Calibri" pitchFamily="34" charset="0"/>
                <a:ea typeface="Calibri" pitchFamily="34" charset="-122"/>
                <a:cs typeface="Calibri" pitchFamily="34" charset="-120"/>
              </a:rPr>
              <a:t>Under current parameters, the protocol's organic revenue (utility fees + campaign fees) does not cover its operational costs. The treasury stays solvent only because genesis unlock from the Treasury vault acts as a temporary subsidy bridge.</a:t>
            </a:r>
            <a:endParaRPr lang="en-US" sz="1300" dirty="0"/>
          </a:p>
        </p:txBody>
      </p:sp>
      <p:sp>
        <p:nvSpPr>
          <p:cNvPr id="7" name="Text 5"/>
          <p:cNvSpPr/>
          <p:nvPr/>
        </p:nvSpPr>
        <p:spPr>
          <a:xfrm>
            <a:off x="777240" y="1920240"/>
            <a:ext cx="7589520" cy="548640"/>
          </a:xfrm>
          <a:prstGeom prst="rect">
            <a:avLst/>
          </a:prstGeom>
          <a:noFill/>
          <a:ln/>
        </p:spPr>
        <p:txBody>
          <a:bodyPr wrap="square" lIns="0" tIns="0" rIns="0" bIns="0" rtlCol="0" anchor="t"/>
          <a:lstStyle/>
          <a:p>
            <a:pPr indent="0" marL="0">
              <a:buNone/>
            </a:pPr>
            <a:r>
              <a:rPr lang="en-US" sz="1300" dirty="0">
                <a:solidFill>
                  <a:srgbClr val="2D2D2D"/>
                </a:solidFill>
                <a:latin typeface="Calibri" pitchFamily="34" charset="0"/>
                <a:ea typeface="Calibri" pitchFamily="34" charset="-122"/>
                <a:cs typeface="Calibri" pitchFamily="34" charset="-120"/>
              </a:rPr>
              <a:t>This is not a bug. It is the bootstrap reality of every token economy. But it means the system has a clock: organic revenue must reach breakeven before the genesis runway exhausts, or the treasury cannot fund its core obligations.</a:t>
            </a:r>
            <a:endParaRPr lang="en-US" sz="1300" dirty="0"/>
          </a:p>
        </p:txBody>
      </p:sp>
      <p:sp>
        <p:nvSpPr>
          <p:cNvPr id="8" name="Shape 6"/>
          <p:cNvSpPr/>
          <p:nvPr/>
        </p:nvSpPr>
        <p:spPr>
          <a:xfrm>
            <a:off x="54864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sp>
      <p:sp>
        <p:nvSpPr>
          <p:cNvPr id="9" name="Text 7"/>
          <p:cNvSpPr/>
          <p:nvPr/>
        </p:nvSpPr>
        <p:spPr>
          <a:xfrm>
            <a:off x="77724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this means</a:t>
            </a:r>
            <a:endParaRPr lang="en-US" sz="1300" dirty="0"/>
          </a:p>
        </p:txBody>
      </p:sp>
      <p:sp>
        <p:nvSpPr>
          <p:cNvPr id="10" name="Text 8"/>
          <p:cNvSpPr/>
          <p:nvPr/>
        </p:nvSpPr>
        <p:spPr>
          <a:xfrm>
            <a:off x="77724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Participation growth rate directly determines treasury survival</a:t>
            </a:r>
            <a:endParaRPr lang="en-US" sz="1150" dirty="0"/>
          </a:p>
          <a:p>
            <a:pPr marL="342900" indent="-342900">
              <a:spcAft>
                <a:spcPts val="600"/>
              </a:spcAft>
              <a:buSzPct val="100000"/>
              <a:buChar char="•"/>
            </a:pPr>
            <a:r>
              <a:rPr lang="en-US" sz="1150" dirty="0">
                <a:solidFill>
                  <a:srgbClr val="2D2D2D"/>
                </a:solidFill>
              </a:rPr>
              <a:t>Fee rates and utility adoption must hit specific thresholds within a knowable timeframe</a:t>
            </a:r>
            <a:endParaRPr lang="en-US" sz="1150" dirty="0"/>
          </a:p>
          <a:p>
            <a:pPr marL="342900" indent="-342900">
              <a:spcAft>
                <a:spcPts val="600"/>
              </a:spcAft>
              <a:buSzPct val="100000"/>
              <a:buChar char="•"/>
            </a:pPr>
            <a:r>
              <a:rPr lang="en-US" sz="1150" dirty="0">
                <a:solidFill>
                  <a:srgbClr val="2D2D2D"/>
                </a:solidFill>
              </a:rPr>
              <a:t>v2 simulation must map the exact breakeven boundary</a:t>
            </a:r>
            <a:endParaRPr lang="en-US" sz="1150" dirty="0"/>
          </a:p>
        </p:txBody>
      </p:sp>
      <p:sp>
        <p:nvSpPr>
          <p:cNvPr id="11" name="Shape 9"/>
          <p:cNvSpPr/>
          <p:nvPr/>
        </p:nvSpPr>
        <p:spPr>
          <a:xfrm>
            <a:off x="480060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sp>
      <p:sp>
        <p:nvSpPr>
          <p:cNvPr id="12" name="Text 10"/>
          <p:cNvSpPr/>
          <p:nvPr/>
        </p:nvSpPr>
        <p:spPr>
          <a:xfrm>
            <a:off x="502920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it does not mean</a:t>
            </a:r>
            <a:endParaRPr lang="en-US" sz="1300" dirty="0"/>
          </a:p>
        </p:txBody>
      </p:sp>
      <p:sp>
        <p:nvSpPr>
          <p:cNvPr id="13" name="Text 11"/>
          <p:cNvSpPr/>
          <p:nvPr/>
        </p:nvSpPr>
        <p:spPr>
          <a:xfrm>
            <a:off x="502920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The design is not broken. Every protocol bootstraps through subsidies</a:t>
            </a:r>
            <a:endParaRPr lang="en-US" sz="1150" dirty="0"/>
          </a:p>
          <a:p>
            <a:pPr marL="342900" indent="-342900">
              <a:spcAft>
                <a:spcPts val="600"/>
              </a:spcAft>
              <a:buSzPct val="100000"/>
              <a:buChar char="•"/>
            </a:pPr>
            <a:r>
              <a:rPr lang="en-US" sz="1150" dirty="0">
                <a:solidFill>
                  <a:srgbClr val="2D2D2D"/>
                </a:solidFill>
              </a:rPr>
              <a:t>The backstop mechanisms (automated throttle, AR top-up) are correctly designed</a:t>
            </a:r>
            <a:endParaRPr lang="en-US" sz="1150" dirty="0"/>
          </a:p>
          <a:p>
            <a:pPr marL="342900" indent="-342900">
              <a:spcAft>
                <a:spcPts val="600"/>
              </a:spcAft>
              <a:buSzPct val="100000"/>
              <a:buChar char="•"/>
            </a:pPr>
            <a:r>
              <a:rPr lang="en-US" sz="1150" dirty="0">
                <a:solidFill>
                  <a:srgbClr val="2D2D2D"/>
                </a:solidFill>
              </a:rPr>
              <a:t>The deficit is quantifiable and manageable with the right adoption trajectory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The System's Safety Margin is Narrower Than It Appears</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rPr lang="en-US" sz="1300" dirty="0">
                <a:solidFill>
                  <a:srgbClr val="2D2D2D"/>
                </a:solidFill>
                <a:latin typeface="Calibri" pitchFamily="34" charset="0"/>
                <a:ea typeface="Calibri" pitchFamily="34" charset="-122"/>
                <a:cs typeface="Calibri" pitchFamily="34" charset="-120"/>
              </a:rPr>
              <a:t>The simulation reports 100% solvency across all Monte Carlo runs. This is real, but it is achieved by a single parameter choice: the settlement ratio optimizer converges on a value that restricts what users receive when converting credits to tokens. Remove that specific optimizer selection, and the majority of plausible configurations fail.</a:t>
            </a:r>
            <a:endParaRPr lang="en-US" sz="1300" dirty="0"/>
          </a:p>
        </p:txBody>
      </p:sp>
      <p:sp>
        <p:nvSpPr>
          <p:cNvPr id="7" name="Shape 5"/>
          <p:cNvSpPr/>
          <p:nvPr/>
        </p:nvSpPr>
        <p:spPr>
          <a:xfrm>
            <a:off x="548640" y="2606040"/>
            <a:ext cx="804672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sp>
      <p:sp>
        <p:nvSpPr>
          <p:cNvPr id="8" name="Text 6"/>
          <p:cNvSpPr/>
          <p:nvPr/>
        </p:nvSpPr>
        <p:spPr>
          <a:xfrm>
            <a:off x="777240" y="2697480"/>
            <a:ext cx="758952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Why this matters</a:t>
            </a:r>
            <a:endParaRPr lang="en-US" sz="1300" dirty="0"/>
          </a:p>
        </p:txBody>
      </p:sp>
      <p:sp>
        <p:nvSpPr>
          <p:cNvPr id="9" name="Text 7"/>
          <p:cNvSpPr/>
          <p:nvPr/>
        </p:nvSpPr>
        <p:spPr>
          <a:xfrm>
            <a:off x="777240" y="3063240"/>
            <a:ext cx="7589520" cy="1463040"/>
          </a:xfrm>
          <a:prstGeom prst="rect">
            <a:avLst/>
          </a:prstGeom>
          <a:noFill/>
          <a:ln/>
        </p:spPr>
        <p:txBody>
          <a:bodyPr wrap="square" rtlCol="0" anchor="t"/>
          <a:lstStyle/>
          <a:p>
            <a:pPr marL="342900" indent="-342900">
              <a:spcAft>
                <a:spcPts val="600"/>
              </a:spcAft>
              <a:buSzPct val="100000"/>
              <a:buChar char="•"/>
            </a:pPr>
            <a:r>
              <a:rPr lang="en-US" sz="1200" dirty="0">
                <a:solidFill>
                  <a:srgbClr val="2D2D2D"/>
                </a:solidFill>
              </a:rPr>
              <a:t>The system's stability is real, but it depends on getting one parameter right</a:t>
            </a:r>
            <a:endParaRPr lang="en-US" sz="1200" dirty="0"/>
          </a:p>
          <a:p>
            <a:pPr marL="342900" indent="-342900">
              <a:spcAft>
                <a:spcPts val="600"/>
              </a:spcAft>
              <a:buSzPct val="100000"/>
              <a:buChar char="•"/>
            </a:pPr>
            <a:r>
              <a:rPr lang="en-US" sz="1200" dirty="0">
                <a:solidFill>
                  <a:srgbClr val="2D2D2D"/>
                </a:solidFill>
              </a:rPr>
              <a:t>That parameter (settlement ratio) has no empirical calibration yet. It was found by an optimizer, not derived from market data or user behavior</a:t>
            </a:r>
            <a:endParaRPr lang="en-US" sz="1200" dirty="0"/>
          </a:p>
          <a:p>
            <a:pPr marL="342900" indent="-342900">
              <a:spcAft>
                <a:spcPts val="600"/>
              </a:spcAft>
              <a:buSzPct val="100000"/>
              <a:buChar char="•"/>
            </a:pPr>
            <a:r>
              <a:rPr lang="en-US" sz="1200" dirty="0">
                <a:solidFill>
                  <a:srgbClr val="2D2D2D"/>
                </a:solidFill>
              </a:rPr>
              <a:t>The settlement ratio determines the effective value of user recognition credits. It is the most user-facing parameter in the system, and users will feel it</a:t>
            </a:r>
            <a:endParaRPr lang="en-US" sz="1200" dirty="0"/>
          </a:p>
          <a:p>
            <a:pPr marL="342900" indent="-342900">
              <a:spcAft>
                <a:spcPts val="600"/>
              </a:spcAft>
              <a:buSzPct val="100000"/>
              <a:buChar char="•"/>
            </a:pPr>
            <a:r>
              <a:rPr lang="en-US" sz="1200" dirty="0">
                <a:solidFill>
                  <a:srgbClr val="2D2D2D"/>
                </a:solidFill>
              </a:rPr>
              <a:t>v2 simulation must explore the full range of this parameter, not just the optimizer's selection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Seven Design Tensions That Cannot Be Solved by Parameters Alone</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Text 3"/>
          <p:cNvSpPr/>
          <p:nvPr/>
        </p:nvSpPr>
        <p:spPr>
          <a:xfrm>
            <a:off x="548640" y="1051560"/>
            <a:ext cx="8046720" cy="45720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The specification surfaced seven fundamental tensions between system objectives. These are not bugs or miscalibrations. They are structural tradeoffs that require conscious design decisions.</a:t>
            </a:r>
            <a:endParaRPr lang="en-US" sz="1200" dirty="0"/>
          </a:p>
        </p:txBody>
      </p:sp>
      <p:sp>
        <p:nvSpPr>
          <p:cNvPr id="6" name="Shape 4"/>
          <p:cNvSpPr/>
          <p:nvPr/>
        </p:nvSpPr>
        <p:spPr>
          <a:xfrm>
            <a:off x="548640" y="1664208"/>
            <a:ext cx="182880" cy="182880"/>
          </a:xfrm>
          <a:prstGeom prst="ellipse">
            <a:avLst/>
          </a:prstGeom>
          <a:solidFill>
            <a:srgbClr val="2EAA56"/>
          </a:solidFill>
          <a:ln/>
        </p:spPr>
      </p:sp>
      <p:sp>
        <p:nvSpPr>
          <p:cNvPr id="7" name="Text 5"/>
          <p:cNvSpPr/>
          <p:nvPr/>
        </p:nvSpPr>
        <p:spPr>
          <a:xfrm>
            <a:off x="868680" y="1600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Growing participation drains the reserve</a:t>
            </a:r>
            <a:endParaRPr lang="en-US" sz="1200" dirty="0"/>
          </a:p>
        </p:txBody>
      </p:sp>
      <p:sp>
        <p:nvSpPr>
          <p:cNvPr id="8" name="Shape 6"/>
          <p:cNvSpPr/>
          <p:nvPr/>
        </p:nvSpPr>
        <p:spPr>
          <a:xfrm>
            <a:off x="548640" y="2121408"/>
            <a:ext cx="182880" cy="182880"/>
          </a:xfrm>
          <a:prstGeom prst="ellipse">
            <a:avLst/>
          </a:prstGeom>
          <a:solidFill>
            <a:srgbClr val="2EAA56"/>
          </a:solidFill>
          <a:ln/>
        </p:spPr>
      </p:sp>
      <p:sp>
        <p:nvSpPr>
          <p:cNvPr id="9" name="Text 7"/>
          <p:cNvSpPr/>
          <p:nvPr/>
        </p:nvSpPr>
        <p:spPr>
          <a:xfrm>
            <a:off x="868680" y="2057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Utility spending competes with governance</a:t>
            </a:r>
            <a:endParaRPr lang="en-US" sz="1200" dirty="0"/>
          </a:p>
        </p:txBody>
      </p:sp>
      <p:sp>
        <p:nvSpPr>
          <p:cNvPr id="10" name="Shape 8"/>
          <p:cNvSpPr/>
          <p:nvPr/>
        </p:nvSpPr>
        <p:spPr>
          <a:xfrm>
            <a:off x="548640" y="2578608"/>
            <a:ext cx="182880" cy="182880"/>
          </a:xfrm>
          <a:prstGeom prst="ellipse">
            <a:avLst/>
          </a:prstGeom>
          <a:solidFill>
            <a:srgbClr val="2EAA56"/>
          </a:solidFill>
          <a:ln/>
        </p:spPr>
      </p:sp>
      <p:sp>
        <p:nvSpPr>
          <p:cNvPr id="11" name="Text 9"/>
          <p:cNvSpPr/>
          <p:nvPr/>
        </p:nvSpPr>
        <p:spPr>
          <a:xfrm>
            <a:off x="868680" y="25146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Brand activation creates regulatory risk</a:t>
            </a:r>
            <a:endParaRPr lang="en-US" sz="1200" dirty="0"/>
          </a:p>
        </p:txBody>
      </p:sp>
      <p:sp>
        <p:nvSpPr>
          <p:cNvPr id="12" name="Shape 10"/>
          <p:cNvSpPr/>
          <p:nvPr/>
        </p:nvSpPr>
        <p:spPr>
          <a:xfrm>
            <a:off x="548640" y="3035808"/>
            <a:ext cx="182880" cy="182880"/>
          </a:xfrm>
          <a:prstGeom prst="ellipse">
            <a:avLst/>
          </a:prstGeom>
          <a:solidFill>
            <a:srgbClr val="2EAA56"/>
          </a:solidFill>
          <a:ln/>
        </p:spPr>
      </p:sp>
      <p:sp>
        <p:nvSpPr>
          <p:cNvPr id="13" name="Text 11"/>
          <p:cNvSpPr/>
          <p:nvPr/>
        </p:nvSpPr>
        <p:spPr>
          <a:xfrm>
            <a:off x="868680" y="29718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Token velocity makes utility expensive</a:t>
            </a:r>
            <a:endParaRPr lang="en-US" sz="1200" dirty="0"/>
          </a:p>
        </p:txBody>
      </p:sp>
      <p:sp>
        <p:nvSpPr>
          <p:cNvPr id="14" name="Shape 12"/>
          <p:cNvSpPr/>
          <p:nvPr/>
        </p:nvSpPr>
        <p:spPr>
          <a:xfrm>
            <a:off x="548640" y="3493008"/>
            <a:ext cx="182880" cy="182880"/>
          </a:xfrm>
          <a:prstGeom prst="ellipse">
            <a:avLst/>
          </a:prstGeom>
          <a:solidFill>
            <a:srgbClr val="2EAA56"/>
          </a:solidFill>
          <a:ln/>
        </p:spPr>
      </p:sp>
      <p:sp>
        <p:nvSpPr>
          <p:cNvPr id="15" name="Text 13"/>
          <p:cNvSpPr/>
          <p:nvPr/>
        </p:nvSpPr>
        <p:spPr>
          <a:xfrm>
            <a:off x="868680" y="34290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Scaling participation weakens sybil defense</a:t>
            </a:r>
            <a:endParaRPr lang="en-US" sz="1200" dirty="0"/>
          </a:p>
        </p:txBody>
      </p:sp>
      <p:sp>
        <p:nvSpPr>
          <p:cNvPr id="16" name="Shape 14"/>
          <p:cNvSpPr/>
          <p:nvPr/>
        </p:nvSpPr>
        <p:spPr>
          <a:xfrm>
            <a:off x="548640" y="3950208"/>
            <a:ext cx="182880" cy="182880"/>
          </a:xfrm>
          <a:prstGeom prst="ellipse">
            <a:avLst/>
          </a:prstGeom>
          <a:solidFill>
            <a:srgbClr val="2EAA56"/>
          </a:solidFill>
          <a:ln/>
        </p:spPr>
      </p:sp>
      <p:sp>
        <p:nvSpPr>
          <p:cNvPr id="17" name="Text 15"/>
          <p:cNvSpPr/>
          <p:nvPr/>
        </p:nvSpPr>
        <p:spPr>
          <a:xfrm>
            <a:off x="868680" y="3886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Governance rigor causes voter fatigue</a:t>
            </a:r>
            <a:endParaRPr lang="en-US" sz="1200" dirty="0"/>
          </a:p>
        </p:txBody>
      </p:sp>
      <p:sp>
        <p:nvSpPr>
          <p:cNvPr id="18" name="Shape 16"/>
          <p:cNvSpPr/>
          <p:nvPr/>
        </p:nvSpPr>
        <p:spPr>
          <a:xfrm>
            <a:off x="548640" y="4407408"/>
            <a:ext cx="182880" cy="182880"/>
          </a:xfrm>
          <a:prstGeom prst="ellipse">
            <a:avLst/>
          </a:prstGeom>
          <a:solidFill>
            <a:srgbClr val="2EAA56"/>
          </a:solidFill>
          <a:ln/>
        </p:spPr>
      </p:sp>
      <p:sp>
        <p:nvSpPr>
          <p:cNvPr id="19" name="Text 17"/>
          <p:cNvSpPr/>
          <p:nvPr/>
        </p:nvSpPr>
        <p:spPr>
          <a:xfrm>
            <a:off x="868680" y="4343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Billion-user onboarding creates cliff pressure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Treasury is the System's Central Nervous System</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4846320" cy="3474720"/>
          </a:xfrm>
          <a:prstGeom prst="roundRect">
            <a:avLst>
              <a:gd name="adj" fmla="val 2105"/>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34440"/>
            <a:ext cx="4389120" cy="457200"/>
          </a:xfrm>
          <a:prstGeom prst="rect">
            <a:avLst/>
          </a:prstGeom>
          <a:noFill/>
          <a:ln/>
        </p:spPr>
        <p:txBody>
          <a:bodyPr wrap="square" lIns="0" tIns="0" rIns="0" bIns="0" rtlCol="0" anchor="ctr"/>
          <a:lstStyle/>
          <a:p>
            <a:pPr indent="0" marL="0">
              <a:buNone/>
            </a:pPr>
            <a:r>
              <a:rPr lang="en-US" sz="1300" b="1" dirty="0">
                <a:solidFill>
                  <a:srgbClr val="2D2D2D"/>
                </a:solidFill>
                <a:latin typeface="Calibri" pitchFamily="34" charset="0"/>
                <a:ea typeface="Calibri" pitchFamily="34" charset="-122"/>
                <a:cs typeface="Calibri" pitchFamily="34" charset="-120"/>
              </a:rPr>
              <a:t>Every revenue stream flows through Treasury. Every operational function depends on it.</a:t>
            </a:r>
            <a:endParaRPr lang="en-US" sz="1300" dirty="0"/>
          </a:p>
        </p:txBody>
      </p:sp>
      <p:sp>
        <p:nvSpPr>
          <p:cNvPr id="7" name="Text 5"/>
          <p:cNvSpPr/>
          <p:nvPr/>
        </p:nvSpPr>
        <p:spPr>
          <a:xfrm>
            <a:off x="777240" y="1783080"/>
            <a:ext cx="4389120" cy="2560320"/>
          </a:xfrm>
          <a:prstGeom prst="rect">
            <a:avLst/>
          </a:prstGeom>
          <a:noFill/>
          <a:ln/>
        </p:spPr>
        <p:txBody>
          <a:bodyPr wrap="square" rtlCol="0" anchor="t"/>
          <a:lstStyle/>
          <a:p>
            <a:pPr marL="342900" indent="-342900">
              <a:spcAft>
                <a:spcPts val="500"/>
              </a:spcAft>
              <a:buSzPct val="100000"/>
              <a:buChar char="•"/>
            </a:pPr>
            <a:r>
              <a:rPr lang="en-US" sz="1150" dirty="0">
                <a:solidFill>
                  <a:srgbClr val="2D2D2D"/>
                </a:solidFill>
              </a:rPr>
              <a:t>Receives: utility fees, campaign fees, slashing penalties, RWA fees</a:t>
            </a:r>
            <a:endParaRPr lang="en-US" sz="1150" dirty="0"/>
          </a:p>
          <a:p>
            <a:pPr marL="342900" indent="-342900">
              <a:spcAft>
                <a:spcPts val="500"/>
              </a:spcAft>
              <a:buSzPct val="100000"/>
              <a:buChar char="•"/>
            </a:pPr>
            <a:r>
              <a:rPr lang="en-US" sz="1150" dirty="0">
                <a:solidFill>
                  <a:srgbClr val="2D2D2D"/>
                </a:solidFill>
              </a:rPr>
              <a:t>Funds: audience recognition settlement, creator incentives, validator rewards, operations</a:t>
            </a:r>
            <a:endParaRPr lang="en-US" sz="1150" dirty="0"/>
          </a:p>
          <a:p>
            <a:pPr marL="342900" indent="-342900">
              <a:spcAft>
                <a:spcPts val="500"/>
              </a:spcAft>
              <a:buSzPct val="100000"/>
              <a:buChar char="•"/>
            </a:pPr>
            <a:r>
              <a:rPr lang="en-US" sz="1150" dirty="0">
                <a:solidFill>
                  <a:srgbClr val="2D2D2D"/>
                </a:solidFill>
              </a:rPr>
              <a:t>Controls: reserve top-up, incentive pool replenishment, all operational outflows</a:t>
            </a:r>
            <a:endParaRPr lang="en-US" sz="1150" dirty="0"/>
          </a:p>
          <a:p>
            <a:pPr indent="0" marL="0">
              <a:spcAft>
                <a:spcPts val="500"/>
              </a:spcAft>
              <a:buNone/>
            </a:pPr>
            <a:endParaRPr lang="en-US" sz="1150" dirty="0"/>
          </a:p>
          <a:p>
            <a:pPr indent="0" marL="0">
              <a:spcAft>
                <a:spcPts val="500"/>
              </a:spcAft>
              <a:buNone/>
            </a:pPr>
            <a:r>
              <a:rPr lang="en-US" sz="1150" b="1" dirty="0">
                <a:solidFill>
                  <a:srgbClr val="2D2D2D"/>
                </a:solidFill>
              </a:rPr>
              <a:t>This makes Treasury governance the single most consequential attack surface in the entire system. A governance capture of Treasury parameters is an existential event.</a:t>
            </a:r>
            <a:endParaRPr lang="en-US" sz="1150" dirty="0"/>
          </a:p>
        </p:txBody>
      </p:sp>
      <p:sp>
        <p:nvSpPr>
          <p:cNvPr id="8" name="Shape 6"/>
          <p:cNvSpPr/>
          <p:nvPr/>
        </p:nvSpPr>
        <p:spPr>
          <a:xfrm>
            <a:off x="5623560" y="1143000"/>
            <a:ext cx="2971800" cy="1600200"/>
          </a:xfrm>
          <a:prstGeom prst="roundRect">
            <a:avLst>
              <a:gd name="adj" fmla="val 4571"/>
            </a:avLst>
          </a:prstGeom>
          <a:solidFill>
            <a:srgbClr val="FFFFFF"/>
          </a:solidFill>
          <a:ln/>
          <a:effectLst>
            <a:outerShdw sx="100000" sy="100000" kx="0" ky="0" algn="bl" rotWithShape="0" blurRad="50800" dist="12700" dir="2700000">
              <a:srgbClr val="000000">
                <a:alpha val="8000"/>
              </a:srgbClr>
            </a:outerShdw>
          </a:effectLst>
        </p:spPr>
      </p:sp>
      <p:sp>
        <p:nvSpPr>
          <p:cNvPr id="9" name="Text 7"/>
          <p:cNvSpPr/>
          <p:nvPr/>
        </p:nvSpPr>
        <p:spPr>
          <a:xfrm>
            <a:off x="5806440" y="123444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Integrity layer is the trust root</a:t>
            </a:r>
            <a:endParaRPr lang="en-US" sz="1200" dirty="0"/>
          </a:p>
        </p:txBody>
      </p:sp>
      <p:sp>
        <p:nvSpPr>
          <p:cNvPr id="10" name="Text 8"/>
          <p:cNvSpPr/>
          <p:nvPr/>
        </p:nvSpPr>
        <p:spPr>
          <a:xfrm>
            <a:off x="5806440" y="1554480"/>
            <a:ext cx="2606040" cy="105156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Verification is the only mechanism that does not depend on any other mechanism's output. If verification degrades, recognition, campaigns, and governance all lose credibility at once.</a:t>
            </a:r>
            <a:endParaRPr lang="en-US" sz="1050" dirty="0"/>
          </a:p>
        </p:txBody>
      </p:sp>
      <p:sp>
        <p:nvSpPr>
          <p:cNvPr id="11" name="Shape 9"/>
          <p:cNvSpPr/>
          <p:nvPr/>
        </p:nvSpPr>
        <p:spPr>
          <a:xfrm>
            <a:off x="5623560" y="2926080"/>
            <a:ext cx="2971800" cy="1691640"/>
          </a:xfrm>
          <a:prstGeom prst="roundRect">
            <a:avLst>
              <a:gd name="adj" fmla="val 4324"/>
            </a:avLst>
          </a:prstGeom>
          <a:solidFill>
            <a:srgbClr val="FFFFFF"/>
          </a:solidFill>
          <a:ln/>
          <a:effectLst>
            <a:outerShdw sx="100000" sy="100000" kx="0" ky="0" algn="bl" rotWithShape="0" blurRad="50800" dist="12700" dir="2700000">
              <a:srgbClr val="000000">
                <a:alpha val="8000"/>
              </a:srgbClr>
            </a:outerShdw>
          </a:effectLst>
        </p:spPr>
      </p:sp>
      <p:sp>
        <p:nvSpPr>
          <p:cNvPr id="12" name="Text 10"/>
          <p:cNvSpPr/>
          <p:nvPr/>
        </p:nvSpPr>
        <p:spPr>
          <a:xfrm>
            <a:off x="5806440" y="301752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Settlement gate is the load-bearing bridge</a:t>
            </a:r>
            <a:endParaRPr lang="en-US" sz="1200" dirty="0"/>
          </a:p>
        </p:txBody>
      </p:sp>
      <p:sp>
        <p:nvSpPr>
          <p:cNvPr id="13" name="Text 11"/>
          <p:cNvSpPr/>
          <p:nvPr/>
        </p:nvSpPr>
        <p:spPr>
          <a:xfrm>
            <a:off x="5806440" y="3337560"/>
            <a:ext cx="2606040" cy="109728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The settlement mechanism is the only connection between the audience economy (ACR credits) and the token economy (Z1U). Every other mechanism operates within one economy only. The dual-economy design succeeds or fails at this single gate.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Zee's Scale Creates Unique Pressure the Model Must Handle</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34440"/>
            <a:ext cx="7589520" cy="27432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The cohort pressure problem</a:t>
            </a:r>
            <a:endParaRPr lang="en-US" sz="1400" dirty="0"/>
          </a:p>
        </p:txBody>
      </p:sp>
      <p:sp>
        <p:nvSpPr>
          <p:cNvPr id="7" name="Text 5"/>
          <p:cNvSpPr/>
          <p:nvPr/>
        </p:nvSpPr>
        <p:spPr>
          <a:xfrm>
            <a:off x="777240" y="1554480"/>
            <a:ext cx="7589520" cy="868680"/>
          </a:xfrm>
          <a:prstGeom prst="rect">
            <a:avLst/>
          </a:prstGeom>
          <a:noFill/>
          <a:ln/>
        </p:spPr>
        <p:txBody>
          <a:bodyPr wrap="square" lIns="0" tIns="0" rIns="0" bIns="0" rtlCol="0" anchor="t"/>
          <a:lstStyle/>
          <a:p>
            <a:pPr indent="0" marL="0">
              <a:buNone/>
            </a:pPr>
            <a:r>
              <a:rPr lang="en-US" sz="1200" dirty="0">
                <a:solidFill>
                  <a:srgbClr val="2D2D2D"/>
                </a:solidFill>
                <a:latin typeface="Calibri" pitchFamily="34" charset="0"/>
                <a:ea typeface="Calibri" pitchFamily="34" charset="-122"/>
                <a:cs typeface="Calibri" pitchFamily="34" charset="-120"/>
              </a:rPr>
              <a:t>With 900M+ Zee viewers as the target audience, even a modest claim conversion rate produces tens of millions of simultaneous onboardings. Because vesting has a fixed cliff period, all users in a cohort become eligible for settlement at roughly the same time. This creates a demand spike orders of magnitude above steady state that the Audience Reserve must absorb.</a:t>
            </a:r>
            <a:endParaRPr lang="en-US" sz="1200" dirty="0"/>
          </a:p>
        </p:txBody>
      </p:sp>
      <p:sp>
        <p:nvSpPr>
          <p:cNvPr id="8" name="Shape 6"/>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sp>
      <p:sp>
        <p:nvSpPr>
          <p:cNvPr id="9" name="Text 7"/>
          <p:cNvSpPr/>
          <p:nvPr/>
        </p:nvSpPr>
        <p:spPr>
          <a:xfrm>
            <a:off x="77724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Specified defense: deterministic staggering</a:t>
            </a:r>
            <a:endParaRPr lang="en-US" sz="1200" dirty="0"/>
          </a:p>
        </p:txBody>
      </p:sp>
      <p:sp>
        <p:nvSpPr>
          <p:cNvPr id="10" name="Text 8"/>
          <p:cNvSpPr/>
          <p:nvPr/>
        </p:nvSpPr>
        <p:spPr>
          <a:xfrm>
            <a:off x="777240" y="3246120"/>
            <a:ext cx="3383280" cy="1188720"/>
          </a:xfrm>
          <a:prstGeom prst="rect">
            <a:avLst/>
          </a:prstGeom>
          <a:noFill/>
          <a:ln/>
        </p:spPr>
        <p:txBody>
          <a:bodyPr wrap="square" lIns="0" tIns="0" rIns="0" bIns="0" rtlCol="0" anchor="t"/>
          <a:lstStyle/>
          <a:p>
            <a:pPr indent="0" marL="0">
              <a:buNone/>
            </a:pPr>
            <a:r>
              <a:rPr lang="en-US" sz="1100" dirty="0">
                <a:solidFill>
                  <a:srgbClr val="2D2D2D"/>
                </a:solidFill>
                <a:latin typeface="Calibri" pitchFamily="34" charset="0"/>
                <a:ea typeface="Calibri" pitchFamily="34" charset="-122"/>
                <a:cs typeface="Calibri" pitchFamily="34" charset="-120"/>
              </a:rPr>
              <a:t>The specification proposes hash-based cliff staggering that spreads a cohort's eligibility window over a 3-month ramp instead of a single point. This converts a sharp spike into a gradual ramp. It is specified but has not been stress-tested at Zee's audience scale.</a:t>
            </a:r>
            <a:endParaRPr lang="en-US" sz="1100" dirty="0"/>
          </a:p>
        </p:txBody>
      </p:sp>
      <p:sp>
        <p:nvSpPr>
          <p:cNvPr id="11" name="Shape 9"/>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sp>
      <p:sp>
        <p:nvSpPr>
          <p:cNvPr id="12" name="Text 10"/>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Z1-specific</a:t>
            </a:r>
            <a:endParaRPr lang="en-US" sz="1200" dirty="0"/>
          </a:p>
        </p:txBody>
      </p:sp>
      <p:sp>
        <p:nvSpPr>
          <p:cNvPr id="13" name="Text 11"/>
          <p:cNvSpPr/>
          <p:nvPr/>
        </p:nvSpPr>
        <p:spPr>
          <a:xfrm>
            <a:off x="5029200" y="3246120"/>
            <a:ext cx="3383280" cy="1188720"/>
          </a:xfrm>
          <a:prstGeom prst="rect">
            <a:avLst/>
          </a:prstGeom>
          <a:noFill/>
          <a:ln/>
        </p:spPr>
        <p:txBody>
          <a:bodyPr wrap="square" lIns="0" tIns="0" rIns="0" bIns="0" rtlCol="0" anchor="t"/>
          <a:lstStyle/>
          <a:p>
            <a:pPr indent="0" marL="0">
              <a:buNone/>
            </a:pPr>
            <a:r>
              <a:rPr lang="en-US" sz="1100" dirty="0">
                <a:solidFill>
                  <a:srgbClr val="2D2D2D"/>
                </a:solidFill>
                <a:latin typeface="Calibri" pitchFamily="34" charset="0"/>
                <a:ea typeface="Calibri" pitchFamily="34" charset="-122"/>
                <a:cs typeface="Calibri" pitchFamily="34" charset="-120"/>
              </a:rPr>
              <a:t>Most token economies onboard users gradually. Z1's media audience creates the possibility of mass simultaneous onboarding through broadcast events, marketing pushes, or viral moments. The reserve and settlement mechanics must be designed for this reality, not against a generic growth curve.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No Key Parameters Are Calibrated Against Real Data Yet</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rPr lang="en-US" sz="1300" dirty="0">
                <a:solidFill>
                  <a:srgbClr val="2D2D2D"/>
                </a:solidFill>
                <a:latin typeface="Calibri" pitchFamily="34" charset="0"/>
                <a:ea typeface="Calibri" pitchFamily="34" charset="-122"/>
                <a:cs typeface="Calibri" pitchFamily="34" charset="-120"/>
              </a:rPr>
              <a:t>The solvency formula depends on eight parameter families: settlement ratio, reserve floor, fee rates, settlement cap, contribution scoring weights, decay factors, throttle thresholds, and adoption growth rates. None of these have been calibrated against observed user behavior. They are placeholder values that produce plausible outputs, not empirically grounded choices.</a:t>
            </a:r>
            <a:endParaRPr lang="en-US" sz="1300" dirty="0"/>
          </a:p>
        </p:txBody>
      </p:sp>
      <p:sp>
        <p:nvSpPr>
          <p:cNvPr id="7" name="Shape 5"/>
          <p:cNvSpPr/>
          <p:nvPr/>
        </p:nvSpPr>
        <p:spPr>
          <a:xfrm>
            <a:off x="54864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sp>
      <p:sp>
        <p:nvSpPr>
          <p:cNvPr id="8" name="Text 6"/>
          <p:cNvSpPr/>
          <p:nvPr/>
        </p:nvSpPr>
        <p:spPr>
          <a:xfrm>
            <a:off x="777240" y="269748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The gap</a:t>
            </a:r>
            <a:endParaRPr lang="en-US" sz="1300" dirty="0"/>
          </a:p>
        </p:txBody>
      </p:sp>
      <p:sp>
        <p:nvSpPr>
          <p:cNvPr id="9" name="Text 7"/>
          <p:cNvSpPr/>
          <p:nvPr/>
        </p:nvSpPr>
        <p:spPr>
          <a:xfrm>
            <a:off x="777240" y="3063240"/>
            <a:ext cx="3383280" cy="1371600"/>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rPr>
              <a:t>Claim propensity, settlement timing, and spending patterns are assumed, not measured</a:t>
            </a:r>
            <a:endParaRPr lang="en-US" sz="1100" dirty="0"/>
          </a:p>
          <a:p>
            <a:pPr marL="342900" indent="-342900">
              <a:spcAft>
                <a:spcPts val="600"/>
              </a:spcAft>
              <a:buSzPct val="100000"/>
              <a:buChar char="•"/>
            </a:pPr>
            <a:r>
              <a:rPr lang="en-US" sz="1100" dirty="0">
                <a:solidFill>
                  <a:srgbClr val="2D2D2D"/>
                </a:solidFill>
              </a:rPr>
              <a:t>Agent behavioral profiles use generic archetypes rather than Zee audience characteristics</a:t>
            </a:r>
            <a:endParaRPr lang="en-US" sz="1100" dirty="0"/>
          </a:p>
          <a:p>
            <a:pPr marL="342900" indent="-342900">
              <a:spcAft>
                <a:spcPts val="600"/>
              </a:spcAft>
              <a:buSzPct val="100000"/>
              <a:buChar char="•"/>
            </a:pPr>
            <a:r>
              <a:rPr lang="en-US" sz="1100" dirty="0">
                <a:solidFill>
                  <a:srgbClr val="2D2D2D"/>
                </a:solidFill>
              </a:rPr>
              <a:t>Sensitivity analysis covered limited parameter ranges, not the full viable space</a:t>
            </a:r>
            <a:endParaRPr lang="en-US" sz="1100" dirty="0"/>
          </a:p>
        </p:txBody>
      </p:sp>
      <p:sp>
        <p:nvSpPr>
          <p:cNvPr id="10" name="Shape 8"/>
          <p:cNvSpPr/>
          <p:nvPr/>
        </p:nvSpPr>
        <p:spPr>
          <a:xfrm>
            <a:off x="480060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sp>
      <p:sp>
        <p:nvSpPr>
          <p:cNvPr id="11" name="Text 9"/>
          <p:cNvSpPr/>
          <p:nvPr/>
        </p:nvSpPr>
        <p:spPr>
          <a:xfrm>
            <a:off x="5029200" y="269748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Zee can provide</a:t>
            </a:r>
            <a:endParaRPr lang="en-US" sz="1300" dirty="0"/>
          </a:p>
        </p:txBody>
      </p:sp>
      <p:sp>
        <p:nvSpPr>
          <p:cNvPr id="12" name="Text 10"/>
          <p:cNvSpPr/>
          <p:nvPr/>
        </p:nvSpPr>
        <p:spPr>
          <a:xfrm>
            <a:off x="5029200" y="3063240"/>
            <a:ext cx="3383280" cy="1371600"/>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rPr>
              <a:t>Real engagement patterns from 900M+ users: viewing frequency, session depth, content interaction</a:t>
            </a:r>
            <a:endParaRPr lang="en-US" sz="1100" dirty="0"/>
          </a:p>
          <a:p>
            <a:pPr marL="342900" indent="-342900">
              <a:spcAft>
                <a:spcPts val="600"/>
              </a:spcAft>
              <a:buSzPct val="100000"/>
              <a:buChar char="•"/>
            </a:pPr>
            <a:r>
              <a:rPr lang="en-US" sz="1100" dirty="0">
                <a:solidFill>
                  <a:srgbClr val="2D2D2D"/>
                </a:solidFill>
              </a:rPr>
              <a:t>Loyalty program redemption rates and timing (closest proxy to settlement behavior)</a:t>
            </a:r>
            <a:endParaRPr lang="en-US" sz="1100" dirty="0"/>
          </a:p>
          <a:p>
            <a:pPr marL="342900" indent="-342900">
              <a:spcAft>
                <a:spcPts val="600"/>
              </a:spcAft>
              <a:buSzPct val="100000"/>
              <a:buChar char="•"/>
            </a:pPr>
            <a:r>
              <a:rPr lang="en-US" sz="1100" dirty="0">
                <a:solidFill>
                  <a:srgbClr val="2D2D2D"/>
                </a:solidFill>
              </a:rPr>
              <a:t>Audience segmentation data to build grounded agent archetypes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The Parameter Lock Architecture is a Genuine Differentiator</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005840"/>
          </a:xfrm>
          <a:prstGeom prst="roundRect">
            <a:avLst>
              <a:gd name="adj" fmla="val 7273"/>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34440"/>
            <a:ext cx="7589520" cy="822960"/>
          </a:xfrm>
          <a:prstGeom prst="rect">
            <a:avLst/>
          </a:prstGeom>
          <a:noFill/>
          <a:ln/>
        </p:spPr>
        <p:txBody>
          <a:bodyPr wrap="square" lIns="0" tIns="0" rIns="0" bIns="0" rtlCol="0" anchor="ctr"/>
          <a:lstStyle/>
          <a:p>
            <a:pPr indent="0" marL="0">
              <a:buNone/>
            </a:pPr>
            <a:r>
              <a:rPr lang="en-US" sz="1300" dirty="0">
                <a:solidFill>
                  <a:srgbClr val="2D2D2D"/>
                </a:solidFill>
                <a:latin typeface="Calibri" pitchFamily="34" charset="0"/>
                <a:ea typeface="Calibri" pitchFamily="34" charset="-122"/>
                <a:cs typeface="Calibri" pitchFamily="34" charset="-120"/>
              </a:rPr>
              <a:t>Z1's three-tier parameter governance hierarchy is a novel design contribution. Most protocols treat all parameters as equally mutable through the same governance process. Z1 separates parameters by what they protect, creating graduated safeguards against governance attacks.</a:t>
            </a:r>
            <a:endParaRPr lang="en-US" sz="1300" dirty="0"/>
          </a:p>
        </p:txBody>
      </p:sp>
      <p:sp>
        <p:nvSpPr>
          <p:cNvPr id="7" name="Shape 5"/>
          <p:cNvSpPr/>
          <p:nvPr/>
        </p:nvSpPr>
        <p:spPr>
          <a:xfrm>
            <a:off x="548640" y="23774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sp>
      <p:sp>
        <p:nvSpPr>
          <p:cNvPr id="8" name="Text 6"/>
          <p:cNvSpPr/>
          <p:nvPr/>
        </p:nvSpPr>
        <p:spPr>
          <a:xfrm>
            <a:off x="777240" y="2432304"/>
            <a:ext cx="228600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Tier 0: Constitutional</a:t>
            </a:r>
            <a:endParaRPr lang="en-US" sz="1200" dirty="0"/>
          </a:p>
        </p:txBody>
      </p:sp>
      <p:sp>
        <p:nvSpPr>
          <p:cNvPr id="9" name="Text 7"/>
          <p:cNvSpPr/>
          <p:nvPr/>
        </p:nvSpPr>
        <p:spPr>
          <a:xfrm>
            <a:off x="3108960" y="2432304"/>
            <a:ext cx="2743200" cy="640080"/>
          </a:xfrm>
          <a:prstGeom prst="rect">
            <a:avLst/>
          </a:prstGeom>
          <a:noFill/>
          <a:ln/>
        </p:spPr>
        <p:txBody>
          <a:bodyPr wrap="square" lIns="0" tIns="0" rIns="0" bIns="0" rtlCol="0" anchor="t"/>
          <a:lstStyle/>
          <a:p>
            <a:pPr indent="0" marL="0">
              <a:buNone/>
            </a:pPr>
            <a:r>
              <a:rPr lang="en-US" sz="1000" dirty="0">
                <a:solidFill>
                  <a:srgbClr val="2D2D2D"/>
                </a:solidFill>
                <a:latin typeface="Calibri" pitchFamily="34" charset="0"/>
                <a:ea typeface="Calibri" pitchFamily="34" charset="-122"/>
                <a:cs typeface="Calibri" pitchFamily="34" charset="-120"/>
              </a:rPr>
              <a:t>Total supply cap, reserve floor ratio, governance qualification, settlement source constraint</a:t>
            </a:r>
            <a:endParaRPr lang="en-US" sz="1000" dirty="0"/>
          </a:p>
        </p:txBody>
      </p:sp>
      <p:sp>
        <p:nvSpPr>
          <p:cNvPr id="10" name="Text 8"/>
          <p:cNvSpPr/>
          <p:nvPr/>
        </p:nvSpPr>
        <p:spPr>
          <a:xfrm>
            <a:off x="5943600" y="2432304"/>
            <a:ext cx="2468880" cy="640080"/>
          </a:xfrm>
          <a:prstGeom prst="rect">
            <a:avLst/>
          </a:prstGeom>
          <a:noFill/>
          <a:ln/>
        </p:spPr>
        <p:txBody>
          <a:bodyPr wrap="square" lIns="0" tIns="0" rIns="0" bIns="0" rtlCol="0" anchor="t"/>
          <a:lstStyle/>
          <a:p>
            <a:pPr indent="0" marL="0">
              <a:buNone/>
            </a:pPr>
            <a:r>
              <a:rPr lang="en-US" sz="1000" i="1" dirty="0">
                <a:solidFill>
                  <a:srgbClr val="888888"/>
                </a:solidFill>
                <a:latin typeface="Calibri" pitchFamily="34" charset="0"/>
                <a:ea typeface="Calibri" pitchFamily="34" charset="-122"/>
                <a:cs typeface="Calibri" pitchFamily="34" charset="-120"/>
              </a:rPr>
              <a:t>90% supermajority + 60-day cooling period. These define what the system is.</a:t>
            </a:r>
            <a:endParaRPr lang="en-US" sz="1000" dirty="0"/>
          </a:p>
        </p:txBody>
      </p:sp>
      <p:sp>
        <p:nvSpPr>
          <p:cNvPr id="11" name="Shape 9"/>
          <p:cNvSpPr/>
          <p:nvPr/>
        </p:nvSpPr>
        <p:spPr>
          <a:xfrm>
            <a:off x="548640" y="32461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sp>
      <p:sp>
        <p:nvSpPr>
          <p:cNvPr id="12" name="Text 10"/>
          <p:cNvSpPr/>
          <p:nvPr/>
        </p:nvSpPr>
        <p:spPr>
          <a:xfrm>
            <a:off x="777240" y="3300984"/>
            <a:ext cx="228600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Tier 1: Governed</a:t>
            </a:r>
            <a:endParaRPr lang="en-US" sz="1200" dirty="0"/>
          </a:p>
        </p:txBody>
      </p:sp>
      <p:sp>
        <p:nvSpPr>
          <p:cNvPr id="13" name="Text 11"/>
          <p:cNvSpPr/>
          <p:nvPr/>
        </p:nvSpPr>
        <p:spPr>
          <a:xfrm>
            <a:off x="3108960" y="3300984"/>
            <a:ext cx="2743200" cy="640080"/>
          </a:xfrm>
          <a:prstGeom prst="rect">
            <a:avLst/>
          </a:prstGeom>
          <a:noFill/>
          <a:ln/>
        </p:spPr>
        <p:txBody>
          <a:bodyPr wrap="square" lIns="0" tIns="0" rIns="0" bIns="0" rtlCol="0" anchor="t"/>
          <a:lstStyle/>
          <a:p>
            <a:pPr indent="0" marL="0">
              <a:buNone/>
            </a:pPr>
            <a:r>
              <a:rPr lang="en-US" sz="1000" dirty="0">
                <a:solidFill>
                  <a:srgbClr val="2D2D2D"/>
                </a:solidFill>
                <a:latin typeface="Calibri" pitchFamily="34" charset="0"/>
                <a:ea typeface="Calibri" pitchFamily="34" charset="-122"/>
                <a:cs typeface="Calibri" pitchFamily="34" charset="-120"/>
              </a:rPr>
              <a:t>Fee rates, settlement caps, scoring weights, throttle thresholds</a:t>
            </a:r>
            <a:endParaRPr lang="en-US" sz="1000" dirty="0"/>
          </a:p>
        </p:txBody>
      </p:sp>
      <p:sp>
        <p:nvSpPr>
          <p:cNvPr id="14" name="Text 12"/>
          <p:cNvSpPr/>
          <p:nvPr/>
        </p:nvSpPr>
        <p:spPr>
          <a:xfrm>
            <a:off x="5943600" y="3300984"/>
            <a:ext cx="2468880" cy="640080"/>
          </a:xfrm>
          <a:prstGeom prst="rect">
            <a:avLst/>
          </a:prstGeom>
          <a:noFill/>
          <a:ln/>
        </p:spPr>
        <p:txBody>
          <a:bodyPr wrap="square" lIns="0" tIns="0" rIns="0" bIns="0" rtlCol="0" anchor="t"/>
          <a:lstStyle/>
          <a:p>
            <a:pPr indent="0" marL="0">
              <a:buNone/>
            </a:pPr>
            <a:r>
              <a:rPr lang="en-US" sz="1000" i="1" dirty="0">
                <a:solidFill>
                  <a:srgbClr val="888888"/>
                </a:solidFill>
                <a:latin typeface="Calibri" pitchFamily="34" charset="0"/>
                <a:ea typeface="Calibri" pitchFamily="34" charset="-122"/>
                <a:cs typeface="Calibri" pitchFamily="34" charset="-120"/>
              </a:rPr>
              <a:t>Standard governance with qualified majority + timelocks. These tune performance.</a:t>
            </a:r>
            <a:endParaRPr lang="en-US" sz="1000" dirty="0"/>
          </a:p>
        </p:txBody>
      </p:sp>
      <p:sp>
        <p:nvSpPr>
          <p:cNvPr id="15" name="Shape 13"/>
          <p:cNvSpPr/>
          <p:nvPr/>
        </p:nvSpPr>
        <p:spPr>
          <a:xfrm>
            <a:off x="548640" y="411480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sp>
      <p:sp>
        <p:nvSpPr>
          <p:cNvPr id="16" name="Text 14"/>
          <p:cNvSpPr/>
          <p:nvPr/>
        </p:nvSpPr>
        <p:spPr>
          <a:xfrm>
            <a:off x="777240" y="4169664"/>
            <a:ext cx="228600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Tier 2: Operational</a:t>
            </a:r>
            <a:endParaRPr lang="en-US" sz="1200" dirty="0"/>
          </a:p>
        </p:txBody>
      </p:sp>
      <p:sp>
        <p:nvSpPr>
          <p:cNvPr id="17" name="Text 15"/>
          <p:cNvSpPr/>
          <p:nvPr/>
        </p:nvSpPr>
        <p:spPr>
          <a:xfrm>
            <a:off x="3108960" y="4169664"/>
            <a:ext cx="2743200" cy="640080"/>
          </a:xfrm>
          <a:prstGeom prst="rect">
            <a:avLst/>
          </a:prstGeom>
          <a:noFill/>
          <a:ln/>
        </p:spPr>
        <p:txBody>
          <a:bodyPr wrap="square" lIns="0" tIns="0" rIns="0" bIns="0" rtlCol="0" anchor="t"/>
          <a:lstStyle/>
          <a:p>
            <a:pPr indent="0" marL="0">
              <a:buNone/>
            </a:pPr>
            <a:r>
              <a:rPr lang="en-US" sz="1000" dirty="0">
                <a:solidFill>
                  <a:srgbClr val="2D2D2D"/>
                </a:solidFill>
                <a:latin typeface="Calibri" pitchFamily="34" charset="0"/>
                <a:ea typeface="Calibri" pitchFamily="34" charset="-122"/>
                <a:cs typeface="Calibri" pitchFamily="34" charset="-120"/>
              </a:rPr>
              <a:t>Bounded operational parameters within governance-set ranges</a:t>
            </a:r>
            <a:endParaRPr lang="en-US" sz="1000" dirty="0"/>
          </a:p>
        </p:txBody>
      </p:sp>
      <p:sp>
        <p:nvSpPr>
          <p:cNvPr id="18" name="Text 16"/>
          <p:cNvSpPr/>
          <p:nvPr/>
        </p:nvSpPr>
        <p:spPr>
          <a:xfrm>
            <a:off x="5943600" y="4169664"/>
            <a:ext cx="2468880" cy="640080"/>
          </a:xfrm>
          <a:prstGeom prst="rect">
            <a:avLst/>
          </a:prstGeom>
          <a:noFill/>
          <a:ln/>
        </p:spPr>
        <p:txBody>
          <a:bodyPr wrap="square" lIns="0" tIns="0" rIns="0" bIns="0" rtlCol="0" anchor="t"/>
          <a:lstStyle/>
          <a:p>
            <a:pPr indent="0" marL="0">
              <a:buNone/>
            </a:pPr>
            <a:r>
              <a:rPr lang="en-US" sz="1000" i="1" dirty="0">
                <a:solidFill>
                  <a:srgbClr val="888888"/>
                </a:solidFill>
                <a:latin typeface="Calibri" pitchFamily="34" charset="0"/>
                <a:ea typeface="Calibri" pitchFamily="34" charset="-122"/>
                <a:cs typeface="Calibri" pitchFamily="34" charset="-120"/>
              </a:rPr>
              <a:t>Adjustable by the operator within pre-approved boundaries. Day-to-day controls.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v2 Simulation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09728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16128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Broader sensitivity analysis and parameter sweeps</a:t>
            </a:r>
            <a:endParaRPr lang="en-US" sz="1200" dirty="0"/>
          </a:p>
        </p:txBody>
      </p:sp>
      <p:sp>
        <p:nvSpPr>
          <p:cNvPr id="7" name="Text 5"/>
          <p:cNvSpPr/>
          <p:nvPr/>
        </p:nvSpPr>
        <p:spPr>
          <a:xfrm>
            <a:off x="777240" y="144475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Target all high-sensitivity control points independently and in combination. Map the full safe operating region, not just the optimizer's single point.</a:t>
            </a:r>
            <a:endParaRPr lang="en-US" sz="1050" dirty="0"/>
          </a:p>
        </p:txBody>
      </p:sp>
      <p:sp>
        <p:nvSpPr>
          <p:cNvPr id="8" name="Shape 6"/>
          <p:cNvSpPr/>
          <p:nvPr/>
        </p:nvSpPr>
        <p:spPr>
          <a:xfrm>
            <a:off x="548640" y="196596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sp>
      <p:sp>
        <p:nvSpPr>
          <p:cNvPr id="9" name="Text 7"/>
          <p:cNvSpPr/>
          <p:nvPr/>
        </p:nvSpPr>
        <p:spPr>
          <a:xfrm>
            <a:off x="777240" y="202996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Behavioral calibration from Zee audience data</a:t>
            </a:r>
            <a:endParaRPr lang="en-US" sz="1200" dirty="0"/>
          </a:p>
        </p:txBody>
      </p:sp>
      <p:sp>
        <p:nvSpPr>
          <p:cNvPr id="10" name="Text 8"/>
          <p:cNvSpPr/>
          <p:nvPr/>
        </p:nvSpPr>
        <p:spPr>
          <a:xfrm>
            <a:off x="777240" y="231343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Replace placeholder agent profiles with empirically grounded archetypes. Zee's engagement history provides direct proxies for claim, settlement, and spending behavior.</a:t>
            </a:r>
            <a:endParaRPr lang="en-US" sz="1050" dirty="0"/>
          </a:p>
        </p:txBody>
      </p:sp>
      <p:sp>
        <p:nvSpPr>
          <p:cNvPr id="11" name="Shape 9"/>
          <p:cNvSpPr/>
          <p:nvPr/>
        </p:nvSpPr>
        <p:spPr>
          <a:xfrm>
            <a:off x="548640" y="28346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sp>
      <p:sp>
        <p:nvSpPr>
          <p:cNvPr id="12" name="Text 10"/>
          <p:cNvSpPr/>
          <p:nvPr/>
        </p:nvSpPr>
        <p:spPr>
          <a:xfrm>
            <a:off x="777240" y="289864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More aggressive stress-test scenarios</a:t>
            </a:r>
            <a:endParaRPr lang="en-US" sz="1200" dirty="0"/>
          </a:p>
        </p:txBody>
      </p:sp>
      <p:sp>
        <p:nvSpPr>
          <p:cNvPr id="13" name="Text 11"/>
          <p:cNvSpPr/>
          <p:nvPr/>
        </p:nvSpPr>
        <p:spPr>
          <a:xfrm>
            <a:off x="777240" y="318211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Bank runs at scale, coordinated governance attacks, multi-vector adversarial campaigns. Scenarios designed to find the breaking point, not confirm the happy path.</a:t>
            </a:r>
            <a:endParaRPr lang="en-US" sz="1050" dirty="0"/>
          </a:p>
        </p:txBody>
      </p:sp>
      <p:sp>
        <p:nvSpPr>
          <p:cNvPr id="14" name="Shape 12"/>
          <p:cNvSpPr/>
          <p:nvPr/>
        </p:nvSpPr>
        <p:spPr>
          <a:xfrm>
            <a:off x="548640" y="37033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sp>
      <p:sp>
        <p:nvSpPr>
          <p:cNvPr id="15" name="Text 13"/>
          <p:cNvSpPr/>
          <p:nvPr/>
        </p:nvSpPr>
        <p:spPr>
          <a:xfrm>
            <a:off x="777240" y="376732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All mechanisms under test</a:t>
            </a:r>
            <a:endParaRPr lang="en-US" sz="1200" dirty="0"/>
          </a:p>
        </p:txBody>
      </p:sp>
      <p:sp>
        <p:nvSpPr>
          <p:cNvPr id="16" name="Text 14"/>
          <p:cNvSpPr/>
          <p:nvPr/>
        </p:nvSpPr>
        <p:spPr>
          <a:xfrm>
            <a:off x="777240" y="405079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v1 covered core solvency and settlement. v2 exercises governance capture, utility pricing, campaign marketplace, and creator incentive dynamics.</a:t>
            </a:r>
            <a:endParaRPr lang="en-US" sz="1050" dirty="0"/>
          </a:p>
        </p:txBody>
      </p:sp>
      <p:sp>
        <p:nvSpPr>
          <p:cNvPr id="17" name="Text 15"/>
          <p:cNvSpPr/>
          <p:nvPr/>
        </p:nvSpPr>
        <p:spPr>
          <a:xfrm>
            <a:off x="548640" y="4617720"/>
            <a:ext cx="8046720" cy="274320"/>
          </a:xfrm>
          <a:prstGeom prst="rect">
            <a:avLst/>
          </a:prstGeom>
          <a:noFill/>
          <a:ln/>
        </p:spPr>
        <p:txBody>
          <a:bodyPr wrap="square" lIns="0" tIns="0" rIns="0" bIns="0" rtlCol="0" anchor="ctr"/>
          <a:lstStyle/>
          <a:p>
            <a:pPr indent="0" marL="0">
              <a:buNone/>
            </a:pPr>
            <a:r>
              <a:rPr lang="en-US" sz="1000" i="1" dirty="0">
                <a:solidFill>
                  <a:srgbClr val="888888"/>
                </a:solidFill>
                <a:latin typeface="Calibri" pitchFamily="34" charset="0"/>
                <a:ea typeface="Calibri" pitchFamily="34" charset="-122"/>
                <a:cs typeface="Calibri" pitchFamily="34" charset="-120"/>
              </a:rPr>
              <a:t>Adversarial testing will be handled internally by Provecto Labs, giving tighter integration between specification and attack design.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Academic Publication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sp>
      <p:sp>
        <p:nvSpPr>
          <p:cNvPr id="6" name="Text 4"/>
          <p:cNvSpPr/>
          <p:nvPr/>
        </p:nvSpPr>
        <p:spPr>
          <a:xfrm>
            <a:off x="777240" y="1234440"/>
            <a:ext cx="7589520" cy="365760"/>
          </a:xfrm>
          <a:prstGeom prst="rect">
            <a:avLst/>
          </a:prstGeom>
          <a:noFill/>
          <a:ln/>
        </p:spPr>
        <p:txBody>
          <a:bodyPr wrap="square" lIns="0" tIns="0" rIns="0" bIns="0" rtlCol="0" anchor="ctr"/>
          <a:lstStyle/>
          <a:p>
            <a:pPr indent="0" marL="0">
              <a:buNone/>
            </a:pPr>
            <a:r>
              <a:rPr lang="en-US" sz="1600" b="1" dirty="0">
                <a:solidFill>
                  <a:srgbClr val="2D2D2D"/>
                </a:solidFill>
                <a:latin typeface="Calibri" pitchFamily="34" charset="0"/>
                <a:ea typeface="Calibri" pitchFamily="34" charset="-122"/>
                <a:cs typeface="Calibri" pitchFamily="34" charset="-120"/>
              </a:rPr>
              <a:t>Parameter Locks in Token Economic Systems</a:t>
            </a:r>
            <a:endParaRPr lang="en-US" sz="1600" dirty="0"/>
          </a:p>
        </p:txBody>
      </p:sp>
      <p:sp>
        <p:nvSpPr>
          <p:cNvPr id="7" name="Text 5"/>
          <p:cNvSpPr/>
          <p:nvPr/>
        </p:nvSpPr>
        <p:spPr>
          <a:xfrm>
            <a:off x="777240" y="1600200"/>
            <a:ext cx="7589520" cy="274320"/>
          </a:xfrm>
          <a:prstGeom prst="rect">
            <a:avLst/>
          </a:prstGeom>
          <a:noFill/>
          <a:ln/>
        </p:spPr>
        <p:txBody>
          <a:bodyPr wrap="square" lIns="0" tIns="0" rIns="0" bIns="0" rtlCol="0" anchor="ctr"/>
          <a:lstStyle/>
          <a:p>
            <a:pPr indent="0" marL="0">
              <a:buNone/>
            </a:pPr>
            <a:r>
              <a:rPr lang="en-US" sz="1100" dirty="0">
                <a:solidFill>
                  <a:srgbClr val="2EAA56"/>
                </a:solidFill>
                <a:latin typeface="Calibri" pitchFamily="34" charset="0"/>
                <a:ea typeface="Calibri" pitchFamily="34" charset="-122"/>
                <a:cs typeface="Calibri" pitchFamily="34" charset="-120"/>
              </a:rPr>
              <a:t>Journal of The British Blockchain Association (JBBA)</a:t>
            </a:r>
            <a:endParaRPr lang="en-US" sz="1100" dirty="0"/>
          </a:p>
        </p:txBody>
      </p:sp>
      <p:sp>
        <p:nvSpPr>
          <p:cNvPr id="8" name="Text 6"/>
          <p:cNvSpPr/>
          <p:nvPr/>
        </p:nvSpPr>
        <p:spPr>
          <a:xfrm>
            <a:off x="777240" y="1965960"/>
            <a:ext cx="7589520" cy="50292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Formalizing the Z1 three-tier parameter governance hierarchy as a generalizable framework for token economic design. The paper will demonstrate how treating parameter mutability as a first-class design primitive creates measurable governance attack resistance.</a:t>
            </a:r>
            <a:endParaRPr lang="en-US" sz="1200" dirty="0"/>
          </a:p>
        </p:txBody>
      </p:sp>
      <p:sp>
        <p:nvSpPr>
          <p:cNvPr id="9" name="Shape 7"/>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sp>
      <p:sp>
        <p:nvSpPr>
          <p:cNvPr id="10" name="Text 8"/>
          <p:cNvSpPr/>
          <p:nvPr/>
        </p:nvSpPr>
        <p:spPr>
          <a:xfrm>
            <a:off x="77724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publishable</a:t>
            </a:r>
            <a:endParaRPr lang="en-US" sz="1200" dirty="0"/>
          </a:p>
        </p:txBody>
      </p:sp>
      <p:sp>
        <p:nvSpPr>
          <p:cNvPr id="11" name="Text 9"/>
          <p:cNvSpPr/>
          <p:nvPr/>
        </p:nvSpPr>
        <p:spPr>
          <a:xfrm>
            <a:off x="777240" y="3246120"/>
            <a:ext cx="3383280" cy="1280160"/>
          </a:xfrm>
          <a:prstGeom prst="rect">
            <a:avLst/>
          </a:prstGeom>
          <a:noFill/>
          <a:ln/>
        </p:spPr>
        <p:txBody>
          <a:bodyPr wrap="square" rtlCol="0" anchor="t"/>
          <a:lstStyle/>
          <a:p>
            <a:pPr marL="342900" indent="-342900">
              <a:spcAft>
                <a:spcPts val="400"/>
              </a:spcAft>
              <a:buSzPct val="100000"/>
              <a:buChar char="•"/>
            </a:pPr>
            <a:r>
              <a:rPr lang="en-US" sz="1100" dirty="0">
                <a:solidFill>
                  <a:srgbClr val="2D2D2D"/>
                </a:solidFill>
              </a:rPr>
              <a:t>No existing protocol formalizes parameter mutability at this level</a:t>
            </a:r>
            <a:endParaRPr lang="en-US" sz="1100" dirty="0"/>
          </a:p>
          <a:p>
            <a:pPr marL="342900" indent="-342900">
              <a:spcAft>
                <a:spcPts val="400"/>
              </a:spcAft>
              <a:buSzPct val="100000"/>
              <a:buChar char="•"/>
            </a:pPr>
            <a:r>
              <a:rPr lang="en-US" sz="1100" dirty="0">
                <a:solidFill>
                  <a:srgbClr val="2D2D2D"/>
                </a:solidFill>
              </a:rPr>
              <a:t>Combines game theory, formal verification, and mechanism design</a:t>
            </a:r>
            <a:endParaRPr lang="en-US" sz="1100" dirty="0"/>
          </a:p>
          <a:p>
            <a:pPr marL="342900" indent="-342900">
              <a:spcAft>
                <a:spcPts val="400"/>
              </a:spcAft>
              <a:buSzPct val="100000"/>
              <a:buChar char="•"/>
            </a:pPr>
            <a:r>
              <a:rPr lang="en-US" sz="1100" dirty="0">
                <a:solidFill>
                  <a:srgbClr val="2D2D2D"/>
                </a:solidFill>
              </a:rPr>
              <a:t>Real case study (Z1) with simulation evidence, not just theory</a:t>
            </a:r>
            <a:endParaRPr lang="en-US" sz="1100" dirty="0"/>
          </a:p>
          <a:p>
            <a:pPr marL="342900" indent="-342900">
              <a:spcAft>
                <a:spcPts val="400"/>
              </a:spcAft>
              <a:buSzPct val="100000"/>
              <a:buChar char="•"/>
            </a:pPr>
            <a:r>
              <a:rPr lang="en-US" sz="1100" dirty="0">
                <a:solidFill>
                  <a:srgbClr val="2D2D2D"/>
                </a:solidFill>
              </a:rPr>
              <a:t>Directly addresses the governance capture problem plaguing DeFi</a:t>
            </a:r>
            <a:endParaRPr lang="en-US" sz="1100" dirty="0"/>
          </a:p>
        </p:txBody>
      </p:sp>
      <p:sp>
        <p:nvSpPr>
          <p:cNvPr id="12" name="Shape 10"/>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sp>
      <p:sp>
        <p:nvSpPr>
          <p:cNvPr id="13" name="Text 11"/>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Contributors</a:t>
            </a:r>
            <a:endParaRPr lang="en-US" sz="1200" dirty="0"/>
          </a:p>
        </p:txBody>
      </p:sp>
      <p:sp>
        <p:nvSpPr>
          <p:cNvPr id="14" name="Text 12"/>
          <p:cNvSpPr/>
          <p:nvPr/>
        </p:nvSpPr>
        <p:spPr>
          <a:xfrm>
            <a:off x="5029200" y="3246120"/>
            <a:ext cx="3383280" cy="1280160"/>
          </a:xfrm>
          <a:prstGeom prst="rect">
            <a:avLst/>
          </a:prstGeom>
          <a:noFill/>
          <a:ln/>
        </p:spPr>
        <p:txBody>
          <a:bodyPr wrap="square" rtlCol="0" anchor="t"/>
          <a:lstStyle/>
          <a:p>
            <a:pPr indent="0" marL="0">
              <a:spcAft>
                <a:spcPts val="200"/>
              </a:spcAft>
              <a:buNone/>
            </a:pPr>
            <a:r>
              <a:rPr lang="en-US" sz="1100" b="1" dirty="0">
                <a:solidFill>
                  <a:srgbClr val="2D2D2D"/>
                </a:solidFill>
              </a:rPr>
              <a:t>Linas Stankevicius  </a:t>
            </a:r>
            <a:pPr indent="0" marL="0">
              <a:spcAft>
                <a:spcPts val="200"/>
              </a:spcAft>
              <a:buNone/>
            </a:pPr>
            <a:r>
              <a:rPr lang="en-US" sz="950" dirty="0">
                <a:solidFill>
                  <a:srgbClr val="888888"/>
                </a:solidFill>
              </a:rPr>
              <a:t>2 prior publications with TokenLab</a:t>
            </a:r>
            <a:endParaRPr lang="en-US" sz="1100" dirty="0"/>
          </a:p>
          <a:p>
            <a:pPr indent="0" marL="0">
              <a:spcAft>
                <a:spcPts val="200"/>
              </a:spcAft>
              <a:buNone/>
            </a:pPr>
            <a:r>
              <a:rPr lang="en-US" sz="1100" b="1" dirty="0">
                <a:solidFill>
                  <a:srgbClr val="2D2D2D"/>
                </a:solidFill>
              </a:rPr>
              <a:t>Nik Pletikos  </a:t>
            </a:r>
            <a:pPr indent="0" marL="0">
              <a:spcAft>
                <a:spcPts val="200"/>
              </a:spcAft>
              <a:buNone/>
            </a:pPr>
            <a:r>
              <a:rPr lang="en-US" sz="950" dirty="0">
                <a:solidFill>
                  <a:srgbClr val="888888"/>
                </a:solidFill>
              </a:rPr>
              <a:t>Provecto Labs</a:t>
            </a:r>
            <a:endParaRPr lang="en-US" sz="1100" dirty="0"/>
          </a:p>
          <a:p>
            <a:pPr indent="0" marL="0">
              <a:spcAft>
                <a:spcPts val="200"/>
              </a:spcAft>
              <a:buNone/>
            </a:pPr>
            <a:r>
              <a:rPr lang="en-US" sz="1100" b="1" dirty="0">
                <a:solidFill>
                  <a:srgbClr val="2D2D2D"/>
                </a:solidFill>
              </a:rPr>
              <a:t>Dr. Stylianos Kampakis  </a:t>
            </a:r>
            <a:pPr indent="0" marL="0">
              <a:spcAft>
                <a:spcPts val="200"/>
              </a:spcAft>
              <a:buNone/>
            </a:pPr>
            <a:r>
              <a:rPr lang="en-US" sz="950" dirty="0">
                <a:solidFill>
                  <a:srgbClr val="888888"/>
                </a:solidFill>
              </a:rPr>
              <a:t>TokenLab, simulation engineering</a:t>
            </a:r>
            <a:endParaRPr lang="en-US" sz="1100" dirty="0"/>
          </a:p>
          <a:p>
            <a:pPr indent="0" marL="0">
              <a:spcAft>
                <a:spcPts val="200"/>
              </a:spcAft>
              <a:buNone/>
            </a:pPr>
            <a:r>
              <a:rPr lang="en-US" sz="1100" b="1" dirty="0">
                <a:solidFill>
                  <a:srgbClr val="2D2D2D"/>
                </a:solidFill>
              </a:rPr>
              <a:t>[Cryptography PhD contributor]  </a:t>
            </a:r>
            <a:pPr indent="0" marL="0">
              <a:spcAft>
                <a:spcPts val="200"/>
              </a:spcAft>
              <a:buNone/>
            </a:pPr>
            <a:r>
              <a:rPr lang="en-US" sz="950" dirty="0">
                <a:solidFill>
                  <a:srgbClr val="888888"/>
                </a:solidFill>
              </a:rPr>
              <a:t>PhD Cryptography (2011)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1645920"/>
            <a:ext cx="8046720" cy="548640"/>
          </a:xfrm>
          <a:prstGeom prst="rect">
            <a:avLst/>
          </a:prstGeom>
          <a:noFill/>
          <a:ln/>
        </p:spPr>
        <p:txBody>
          <a:bodyPr wrap="square" lIns="0" tIns="0" rIns="0" bIns="0" rtlCol="0" anchor="ctr"/>
          <a:lstStyle/>
          <a:p>
            <a:pPr algn="ctr" indent="0" marL="0">
              <a:buNone/>
            </a:pPr>
            <a:r>
              <a:rPr lang="en-US" sz="2800" i="1" dirty="0">
                <a:solidFill>
                  <a:srgbClr val="FFFFFF"/>
                </a:solidFill>
                <a:latin typeface="Calibri" pitchFamily="34" charset="0"/>
                <a:ea typeface="Calibri" pitchFamily="34" charset="-122"/>
                <a:cs typeface="Calibri" pitchFamily="34" charset="-120"/>
              </a:rPr>
              <a:t>provecto labs.</a:t>
            </a:r>
            <a:endParaRPr lang="en-US" sz="2800" dirty="0"/>
          </a:p>
        </p:txBody>
      </p:sp>
      <p:sp>
        <p:nvSpPr>
          <p:cNvPr id="3" name="Shape 1"/>
          <p:cNvSpPr/>
          <p:nvPr/>
        </p:nvSpPr>
        <p:spPr>
          <a:xfrm>
            <a:off x="3657600" y="2377440"/>
            <a:ext cx="1828800" cy="0"/>
          </a:xfrm>
          <a:prstGeom prst="line">
            <a:avLst/>
          </a:prstGeom>
          <a:noFill/>
          <a:ln w="25400">
            <a:solidFill>
              <a:srgbClr val="2EAA56"/>
            </a:solidFill>
            <a:prstDash val="solid"/>
          </a:ln>
        </p:spPr>
      </p:sp>
      <p:sp>
        <p:nvSpPr>
          <p:cNvPr id="4" name="Text 2"/>
          <p:cNvSpPr/>
          <p:nvPr/>
        </p:nvSpPr>
        <p:spPr>
          <a:xfrm>
            <a:off x="548640" y="2606040"/>
            <a:ext cx="8046720" cy="320040"/>
          </a:xfrm>
          <a:prstGeom prst="rect">
            <a:avLst/>
          </a:prstGeom>
          <a:noFill/>
          <a:ln/>
        </p:spPr>
        <p:txBody>
          <a:bodyPr wrap="square" lIns="0" tIns="0" rIns="0" bIns="0" rtlCol="0" anchor="ctr"/>
          <a:lstStyle/>
          <a:p>
            <a:pPr algn="ctr" indent="0" marL="0">
              <a:buNone/>
            </a:pPr>
            <a:r>
              <a:rPr lang="en-US" sz="1200" dirty="0">
                <a:solidFill>
                  <a:srgbClr val="888888"/>
                </a:solidFill>
                <a:latin typeface="Calibri" pitchFamily="34" charset="0"/>
                <a:ea typeface="Calibri" pitchFamily="34" charset="-122"/>
                <a:cs typeface="Calibri" pitchFamily="34" charset="-120"/>
              </a:rPr>
              <a:t>linas@provecto.io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Z1 Simulation v1 — Key Findings &amp; Next Steps</dc:title>
  <dc:subject>PptxGenJS Presentation</dc:subject>
  <dc:creator>Provecto Labs</dc:creator>
  <cp:lastModifiedBy>Provecto Labs</cp:lastModifiedBy>
  <cp:revision>1</cp:revision>
  <dcterms:created xsi:type="dcterms:W3CDTF">2026-06-24T14:21:28Z</dcterms:created>
  <dcterms:modified xsi:type="dcterms:W3CDTF">2026-06-24T14:21:28Z</dcterms:modified>
</cp:coreProperties>
</file>