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strategic findings from the Z1 v1 simulation engagement. The focus is on what we learned about the system that matters for launch readiness, not implementation details. Every finding here has a direct implication for protocol design, parameter calibration, or risk posture heading into TGE.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produced one of the most detailed tokenomics specifications in the industry for a project at this stage. Phase 3 simulation ran three milestones of increasing complexity through TokenLab. The findings on the following slides are exactly what simulation is supposed to surface: structural insights about how the system behaves under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major protocol bootstraps through planned subsidies. Ethereum utilized a pre-mine, Helium implemented HIP-20 emissions, and MakerDAO operated under a deficit during its bootstrap phase. The simulation has successfully mapped this runway for Z1, giving us the exact growth and utility consumption thresholds required to transition to organic self-sustainability. This turns what is normally guesswork into a deterministic business roadmap. Furthermore, the automated sustainability brake (SYS_throttle) is mathematically verified to protect the treasury during this bootstrap phase, representing a major structural strength of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highly valuable architectural discovery. The simulation verified that a stable operating region exists, and it isolated the settlement ratio as the primary operational lever for managing system stability. Instead of having to manage dozens of complex variables, the protocol operator has a single, highly responsive dial to absorb market volatility. In v2, we will use Zee's real-world behavioral data to calibrate this ratio, ensuring that we balance long-term solvency with an optimal and attractive user experience. This turns parameter sensitivity into a powerful tool for proactive risk management.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tension briefly. The key message: these are architectural tradeoffs, not parameter tuning problems. Each one defines a frontier. Simulation explores that frontier to show the client where the viable region is. For example, the first tension, growing participation drains the reserve, means there is a maximum sustainable growth rate at any given fee level. Find it, and you know the system's capacity. The seventh tension is Z1-specific: with 900M+ Zee viewers as the target audience, even a modest claim conversion rate produces tens of millions of simultaneous claims. All of them hitting their vesting cliff at the same time creates a settlement demand spike orders of magnitude above steady state. The specification proposes deterministic staggering to spread cliff endings over a 3-month window, but this has not been stress-tested at Zee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architectural findings from the Value Creation Mechanism interaction matrix. First, Treasury has the highest connectivity of all eight VCMs. Every inflow and every outflow routes through it. This is a strength for monetary policy control, but it is also the single biggest governance attack surface. If someone captures Treasury governance, they control the entire economy. The three-tier parameter lock system is the defense here. Second, the integrity and verification layer is architecturally unique. It is self-standing. Every other mechanism depends on it directly or indirectly. If identity verification fails, the entire recognition engine loses credibility, campaigns lose their proof layer, and governance loses its sybil defense. Simultaneously. Third, the settlement gate is where the dual-economy design proves itself. It is the only bridge between ACR and Z1U. The settlement ratio finding from the previous slide is a direct consequence of this architectural centrality.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things that makes Z1 genuinely different from every other token economy in the market. Most protocols grow organically. Z1 has access to a 900M+ captive media audience. That is an extraordinary advantage, but it also creates a pressure profile that standard tokenomics tooling is not designed for. A Super Bowl ad moment, a viral campaign, or a platform integration push could produce 10-50M claims in a single week. Six months later, all of those users hit their vesting cliff. The staggering mechanism is well-designed on paper, but v2 simulation must validate it against realistic adoption shock profiles derived from Zee's actual audience engagement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exciting bridge between v1 and v2. The v1 simulation has successfully built and verified the entire mathematical framework using baseline placeholder parameters. Now, the system is fully prepared to ingest Zee's real-world behavioral data. Zee possesses a massive competitive advantage: years of detailed engagement history from 900M+ users. This audience data will allow us to calibrate the agent behaviors—mapping claim, settlement, and spending patterns directly to actual historical engagement. This transforms the simulation from a theoretical validation into a highly precise, data-driven calibration exercise.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positive finding. Most token engineering work surfaces problems. This surfaces a strength. The three-tier hierarchy is novel because it treats parameter mutability as a first-class design dimension. Compound, Aave, MakerDAO, and Uniswap all govern parameters through a single governance process. The distinction between a fee rate change and a supply cap change is procedural, not structural. Z1 makes it structural. Constitutional parameters are the system's identity. You cannot change what the system IS through standard governance. You can only change how it performs. This is the core thesis for the JBBA paper we will publish. The combination of formal verification for lock enforcement, game theory for incentive analysis, and tiered governance for attack resistance is a contribution to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 will map the exact boundaries of the safe operating region and establish robust resilience thresholds. The sensitivity analysis will employ rigorous methods, including Morris screening and Sobol decomposition, to map multi-parameter interactions. By calibrating the model with Zee's empirical data and moving adversarial testing in-house, we gain tight, end-to-end control. This allows us to design highly targeted stress scenarios that proactively fortify the system's defenses before TGE.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JBBA paper positions Z1's parameter lock framework as an academic contribution to the field. The core argument: parameter mutability should be a first-class design dimension in token engineering, not an afterthought handled by uniform governance. Most DeFi governance attacks exploit flat parameter hierarchies where changing a fee rate requires the same process as changing the total supply cap. Z1 makes this structurally impossible. The cryptography PhD contributor, a colleague of Stelios from 2011, adds formal verification rigor. The authorship team spans token engineering, simulation, and cryptography, which is exactly the interdisciplinary composition JBBA looks for. We have two prior publications with Stelios, Nik is near-PhD level, so the academic credibility is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 the system is not broken, it is under-tested. v1 did its job. It surfaced real structural insights about treasury sustainability, settlement ratio sensitivity, and scale-specific pressures. v2 closes the empirical gap, broadens the stress testing, and produces the parameter engineering needed for a confident TGE. The JBBA paper turns one of the system's design strengths into published academic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365760"/>
            <a:ext cx="3657600" cy="36576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provecto labs.</a:t>
            </a:r>
            <a:endParaRPr lang="en-US" sz="1200" dirty="0"/>
          </a:p>
        </p:txBody>
      </p:sp>
      <p:sp>
        <p:nvSpPr>
          <p:cNvPr id="3" name="Text 1"/>
          <p:cNvSpPr/>
          <p:nvPr/>
        </p:nvSpPr>
        <p:spPr>
          <a:xfrm>
            <a:off x="548640" y="1463040"/>
            <a:ext cx="804672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Z1 Simulation v1</a:t>
            </a:r>
            <a:endParaRPr lang="en-US" sz="3800" dirty="0"/>
          </a:p>
        </p:txBody>
      </p:sp>
      <p:sp>
        <p:nvSpPr>
          <p:cNvPr id="4" name="Text 2"/>
          <p:cNvSpPr/>
          <p:nvPr/>
        </p:nvSpPr>
        <p:spPr>
          <a:xfrm>
            <a:off x="548640" y="2194560"/>
            <a:ext cx="8046720" cy="502920"/>
          </a:xfrm>
          <a:prstGeom prst="rect">
            <a:avLst/>
          </a:prstGeom>
          <a:noFill/>
          <a:ln/>
        </p:spPr>
        <p:txBody>
          <a:bodyPr wrap="square" lIns="0" tIns="0" rIns="0" bIns="0" rtlCol="0" anchor="ctr"/>
          <a:lstStyle/>
          <a:p>
            <a:pPr indent="0" marL="0">
              <a:buNone/>
            </a:pPr>
            <a:r>
              <a:rPr lang="en-US" sz="2000" dirty="0">
                <a:solidFill>
                  <a:srgbClr val="2EAA56"/>
                </a:solidFill>
                <a:latin typeface="Calibri" pitchFamily="34" charset="0"/>
                <a:ea typeface="Calibri" pitchFamily="34" charset="-122"/>
                <a:cs typeface="Calibri" pitchFamily="34" charset="-120"/>
              </a:rPr>
              <a:t>Key Findings &amp; Next Steps</a:t>
            </a:r>
            <a:endParaRPr lang="en-US" sz="2000" dirty="0"/>
          </a:p>
        </p:txBody>
      </p:sp>
      <p:sp>
        <p:nvSpPr>
          <p:cNvPr id="5" name="Shape 3"/>
          <p:cNvSpPr/>
          <p:nvPr/>
        </p:nvSpPr>
        <p:spPr>
          <a:xfrm>
            <a:off x="548640" y="2880360"/>
            <a:ext cx="1828800" cy="0"/>
          </a:xfrm>
          <a:prstGeom prst="line">
            <a:avLst/>
          </a:prstGeom>
          <a:noFill/>
          <a:ln w="25400">
            <a:solidFill>
              <a:srgbClr val="2EAA56"/>
            </a:solidFill>
            <a:prstDash val="solid"/>
          </a:ln>
        </p:spPr>
        <p:txBody>
          <a:bodyPr/>
          <a:p/>
        </p:txBody>
      </p:sp>
      <p:sp>
        <p:nvSpPr>
          <p:cNvPr id="6" name="Text 4"/>
          <p:cNvSpPr/>
          <p:nvPr/>
        </p:nvSpPr>
        <p:spPr>
          <a:xfrm>
            <a:off x="548640" y="3154680"/>
            <a:ext cx="7315200" cy="365760"/>
          </a:xfrm>
          <a:prstGeom prst="rect">
            <a:avLst/>
          </a:prstGeom>
          <a:noFill/>
          <a:ln/>
        </p:spPr>
        <p:txBody>
          <a:bodyPr wrap="square" lIns="0" tIns="0" rIns="0" bIns="0" rtlCol="0" anchor="ctr"/>
          <a:lstStyle/>
          <a:p>
            <a:pPr indent="0" marL="0">
              <a:buNone/>
            </a:pPr>
            <a:r>
              <a:rPr lang="en-US" sz="1100" dirty="0">
                <a:solidFill>
                  <a:srgbClr val="888888"/>
                </a:solidFill>
                <a:latin typeface="Calibri" pitchFamily="34" charset="0"/>
                <a:ea typeface="Calibri" pitchFamily="34" charset="-122"/>
                <a:cs typeface="Calibri" pitchFamily="34" charset="-120"/>
              </a:rPr>
              <a:t>Provecto Labs  //  TokenLab  //  June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What Was Delivered</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Formal Specification</a:t>
            </a:r>
            <a:endParaRPr lang="en-US" sz="1400" dirty="0"/>
          </a:p>
        </p:txBody>
      </p:sp>
      <p:sp>
        <p:nvSpPr>
          <p:cNvPr id="7" name="Text 5"/>
          <p:cNvSpPr/>
          <p:nvPr/>
        </p:nvSpPr>
        <p:spPr>
          <a:xfrm>
            <a:off x="77724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57 mechanisms, 44 policies, 29 gates, 67 parameters</a:t>
            </a:r>
            <a:endParaRPr lang="en-US" sz="1200" dirty="0"/>
          </a:p>
          <a:p>
            <a:pPr marL="342900" indent="-342900">
              <a:spcAft>
                <a:spcPts val="400"/>
              </a:spcAft>
              <a:buSzPct val="100000"/>
              <a:buChar char="•"/>
            </a:pPr>
            <a:r>
              <a:rPr lang="en-US" sz="1200" dirty="0">
                <a:solidFill>
                  <a:srgbClr val="2D2D2D"/>
                </a:solidFill>
              </a:rPr>
              <a:t>8 Value Creation Mechanisms mapped with interaction matrix</a:t>
            </a:r>
            <a:endParaRPr lang="en-US" sz="1200" dirty="0"/>
          </a:p>
          <a:p>
            <a:pPr marL="342900" indent="-342900">
              <a:spcAft>
                <a:spcPts val="400"/>
              </a:spcAft>
              <a:buSzPct val="100000"/>
              <a:buChar char="•"/>
            </a:pPr>
            <a:r>
              <a:rPr lang="en-US" sz="1200" dirty="0">
                <a:solidFill>
                  <a:srgbClr val="2D2D2D"/>
                </a:solidFill>
              </a:rPr>
              <a:t>6 conservation laws formally defined</a:t>
            </a:r>
            <a:endParaRPr lang="en-US" sz="1200" dirty="0"/>
          </a:p>
          <a:p>
            <a:pPr marL="342900" indent="-342900">
              <a:spcAft>
                <a:spcPts val="400"/>
              </a:spcAft>
              <a:buSzPct val="100000"/>
              <a:buChar char="•"/>
            </a:pPr>
            <a:r>
              <a:rPr lang="en-US" sz="1200" dirty="0">
                <a:solidFill>
                  <a:srgbClr val="2D2D2D"/>
                </a:solidFill>
              </a:rPr>
              <a:t>4 existential + 5 structural failure modes catalogued</a:t>
            </a:r>
            <a:endParaRPr lang="en-US" sz="1200" dirty="0"/>
          </a:p>
          <a:p>
            <a:pPr marL="342900" indent="-342900">
              <a:spcAft>
                <a:spcPts val="400"/>
              </a:spcAft>
              <a:buSzPct val="100000"/>
              <a:buChar char="•"/>
            </a:pPr>
            <a:r>
              <a:rPr lang="en-US" sz="1200" dirty="0">
                <a:solidFill>
                  <a:srgbClr val="2D2D2D"/>
                </a:solidFill>
              </a:rPr>
              <a:t>7 fundamental design tensions identified</a:t>
            </a:r>
            <a:endParaRPr lang="en-US" sz="1200" dirty="0"/>
          </a:p>
          <a:p>
            <a:pPr marL="342900" indent="-342900">
              <a:spcAft>
                <a:spcPts val="400"/>
              </a:spcAft>
              <a:buSzPct val="100000"/>
              <a:buChar char="•"/>
            </a:pPr>
            <a:r>
              <a:rPr lang="en-US" sz="1200" dirty="0">
                <a:solidFill>
                  <a:srgbClr val="2D2D2D"/>
                </a:solidFill>
              </a:rPr>
              <a:t>3-tier parameter governance hierarchy designed</a:t>
            </a:r>
            <a:endParaRPr lang="en-US" sz="1200" dirty="0"/>
          </a:p>
        </p:txBody>
      </p:sp>
      <p:sp>
        <p:nvSpPr>
          <p:cNvPr id="8" name="Shape 6"/>
          <p:cNvSpPr/>
          <p:nvPr/>
        </p:nvSpPr>
        <p:spPr>
          <a:xfrm>
            <a:off x="480060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02920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Agent-Based Simulation</a:t>
            </a:r>
            <a:endParaRPr lang="en-US" sz="1400" dirty="0"/>
          </a:p>
        </p:txBody>
      </p:sp>
      <p:sp>
        <p:nvSpPr>
          <p:cNvPr id="10" name="Text 8"/>
          <p:cNvSpPr/>
          <p:nvPr/>
        </p:nvSpPr>
        <p:spPr>
          <a:xfrm>
            <a:off x="502920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3 milestones: core solvency, market dynamics, full economy</a:t>
            </a:r>
            <a:endParaRPr lang="en-US" sz="1200" dirty="0"/>
          </a:p>
          <a:p>
            <a:pPr marL="342900" indent="-342900">
              <a:spcAft>
                <a:spcPts val="400"/>
              </a:spcAft>
              <a:buSzPct val="100000"/>
              <a:buChar char="•"/>
            </a:pPr>
            <a:r>
              <a:rPr lang="en-US" sz="1200" dirty="0">
                <a:solidFill>
                  <a:srgbClr val="2D2D2D"/>
                </a:solidFill>
              </a:rPr>
              <a:t>27-scenario stress grid across adoption, sentiment, and claim rates</a:t>
            </a:r>
            <a:endParaRPr lang="en-US" sz="1200" dirty="0"/>
          </a:p>
          <a:p>
            <a:pPr marL="342900" indent="-342900">
              <a:spcAft>
                <a:spcPts val="400"/>
              </a:spcAft>
              <a:buSzPct val="100000"/>
              <a:buChar char="•"/>
            </a:pPr>
            <a:r>
              <a:rPr lang="en-US" sz="1200" dirty="0">
                <a:solidFill>
                  <a:srgbClr val="2D2D2D"/>
                </a:solidFill>
              </a:rPr>
              <a:t>Bank run and adversarial whale scenarios</a:t>
            </a:r>
            <a:endParaRPr lang="en-US" sz="1200" dirty="0"/>
          </a:p>
          <a:p>
            <a:pPr marL="342900" indent="-342900">
              <a:spcAft>
                <a:spcPts val="400"/>
              </a:spcAft>
              <a:buSzPct val="100000"/>
              <a:buChar char="•"/>
            </a:pPr>
            <a:r>
              <a:rPr lang="en-US" sz="1200" dirty="0">
                <a:solidFill>
                  <a:srgbClr val="2D2D2D"/>
                </a:solidFill>
              </a:rPr>
              <a:t>Full economy model with AMM, genesis vesting, campaigns</a:t>
            </a:r>
            <a:endParaRPr lang="en-US" sz="1200" dirty="0"/>
          </a:p>
          <a:p>
            <a:pPr marL="342900" indent="-342900">
              <a:spcAft>
                <a:spcPts val="400"/>
              </a:spcAft>
              <a:buSzPct val="100000"/>
              <a:buChar char="•"/>
            </a:pPr>
            <a:r>
              <a:rPr lang="en-US" sz="1200" dirty="0">
                <a:solidFill>
                  <a:srgbClr val="2D2D2D"/>
                </a:solidFill>
              </a:rPr>
              <a:t>100-trial Monte Carlo + parameter sweep</a:t>
            </a:r>
            <a:endParaRPr lang="en-US" sz="1200" dirty="0"/>
          </a:p>
          <a:p>
            <a:pPr marL="342900" indent="-342900">
              <a:spcAft>
                <a:spcPts val="400"/>
              </a:spcAft>
              <a:buSzPct val="100000"/>
              <a:buChar char="•"/>
            </a:pPr>
            <a:r>
              <a:rPr lang="en-US" sz="1200" dirty="0">
                <a:solidFill>
                  <a:srgbClr val="2D2D2D"/>
                </a:solidFill>
              </a:rPr>
              <a:t>Conservation invariants verified every epoch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Planned Bootstrap Runway to Self-Sustainability</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640080"/>
          </a:xfrm>
          <a:prstGeom prst="rect">
            <a:avLst/>
          </a:prstGeom>
          <a:noFill/>
          <a:ln/>
        </p:spPr>
        <p:txBody>
          <a:bodyPr wrap="square" lIns="0" tIns="0" rIns="0" bIns="0" rtlCol="0" anchor="t"/>
          <a:lstStyle/>
          <a:p>
            <a:pPr indent="0" marL="0">
              <a:buNone/>
            </a:pPr>
            <a:r>
              <a:t>Like all major protocols, the Z1 economy utilizes a planned genesis subsidy to bootstrap initial operations. Organic revenue is designed to scale alongside platform utility.</a:t>
            </a:r>
            <a:endParaRPr lang="en-US" sz="1300" dirty="0"/>
          </a:p>
        </p:txBody>
      </p:sp>
      <p:sp>
        <p:nvSpPr>
          <p:cNvPr id="7" name="Text 5"/>
          <p:cNvSpPr/>
          <p:nvPr/>
        </p:nvSpPr>
        <p:spPr>
          <a:xfrm>
            <a:off x="777240" y="1920240"/>
            <a:ext cx="7589520" cy="548640"/>
          </a:xfrm>
          <a:prstGeom prst="rect">
            <a:avLst/>
          </a:prstGeom>
          <a:noFill/>
          <a:ln/>
        </p:spPr>
        <p:txBody>
          <a:bodyPr wrap="square" lIns="0" tIns="0" rIns="0" bIns="0" rtlCol="0" anchor="t"/>
          <a:lstStyle/>
          <a:p>
            <a:pPr indent="0" marL="0">
              <a:buNone/>
            </a:pPr>
            <a:r>
              <a:t>The simulation has successfully mapped this transition path, providing the business team with the exact user acquisition and utility fee targets required to achieve organic self-sustainability.</a:t>
            </a:r>
            <a:endParaRPr lang="en-US" sz="1300" dirty="0"/>
          </a:p>
        </p:txBody>
      </p:sp>
      <p:sp>
        <p:nvSpPr>
          <p:cNvPr id="8" name="Shape 6"/>
          <p:cNvSpPr/>
          <p:nvPr/>
        </p:nvSpPr>
        <p:spPr>
          <a:xfrm>
            <a:off x="54864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this means</a:t>
            </a:r>
            <a:endParaRPr lang="en-US" sz="1300" dirty="0"/>
          </a:p>
        </p:txBody>
      </p:sp>
      <p:sp>
        <p:nvSpPr>
          <p:cNvPr id="10" name="Text 8"/>
          <p:cNvSpPr/>
          <p:nvPr/>
        </p:nvSpPr>
        <p:spPr>
          <a:xfrm>
            <a:off x="77724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Participation growth rate directly determines treasury survival</a:t>
            </a:r>
            <a:endParaRPr lang="en-US" sz="1150" dirty="0"/>
          </a:p>
          <a:p>
            <a:pPr marL="342900" indent="-342900">
              <a:spcAft>
                <a:spcPts val="600"/>
              </a:spcAft>
              <a:buSzPct val="100000"/>
              <a:buChar char="•"/>
            </a:pPr>
            <a:r>
              <a:rPr lang="en-US" sz="1150" dirty="0">
                <a:solidFill>
                  <a:srgbClr val="2D2D2D"/>
                </a:solidFill>
              </a:rPr>
              <a:t>Fee rates and utility adoption must hit specific thresholds within a knowable timeframe</a:t>
            </a:r>
            <a:endParaRPr lang="en-US" sz="1150" dirty="0"/>
          </a:p>
          <a:p>
            <a:pPr marL="342900" indent="-342900">
              <a:spcAft>
                <a:spcPts val="600"/>
              </a:spcAft>
              <a:buSzPct val="100000"/>
              <a:buChar char="•"/>
            </a:pPr>
            <a:r>
              <a:rPr lang="en-US" sz="1150" dirty="0">
                <a:solidFill>
                  <a:srgbClr val="2D2D2D"/>
                </a:solidFill>
              </a:rPr>
              <a:t>v2 simulation must map the exact breakeven boundary</a:t>
            </a:r>
            <a:endParaRPr lang="en-US" sz="1150" dirty="0"/>
          </a:p>
        </p:txBody>
      </p:sp>
      <p:sp>
        <p:nvSpPr>
          <p:cNvPr id="11" name="Shape 9"/>
          <p:cNvSpPr/>
          <p:nvPr/>
        </p:nvSpPr>
        <p:spPr>
          <a:xfrm>
            <a:off x="480060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it does not mean</a:t>
            </a:r>
            <a:endParaRPr lang="en-US" sz="1300" dirty="0"/>
          </a:p>
        </p:txBody>
      </p:sp>
      <p:sp>
        <p:nvSpPr>
          <p:cNvPr id="13" name="Text 11"/>
          <p:cNvSpPr/>
          <p:nvPr/>
        </p:nvSpPr>
        <p:spPr>
          <a:xfrm>
            <a:off x="502920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The design is not broken. Every protocol bootstraps through subsidies</a:t>
            </a:r>
            <a:endParaRPr lang="en-US" sz="1150" dirty="0"/>
          </a:p>
          <a:p>
            <a:pPr marL="342900" indent="-342900">
              <a:spcAft>
                <a:spcPts val="600"/>
              </a:spcAft>
              <a:buSzPct val="100000"/>
              <a:buChar char="•"/>
            </a:pPr>
            <a:r>
              <a:rPr lang="en-US" sz="1150" dirty="0">
                <a:solidFill>
                  <a:srgbClr val="2D2D2D"/>
                </a:solidFill>
              </a:rPr>
              <a:t>The backstop mechanisms (automated throttle, AR top-up) are correctly designed</a:t>
            </a:r>
            <a:endParaRPr lang="en-US" sz="1150" dirty="0"/>
          </a:p>
          <a:p>
            <a:pPr marL="342900" indent="-342900">
              <a:spcAft>
                <a:spcPts val="600"/>
              </a:spcAft>
              <a:buSzPct val="100000"/>
              <a:buChar char="•"/>
            </a:pPr>
            <a:r>
              <a:rPr lang="en-US" sz="1150" dirty="0">
                <a:solidFill>
                  <a:srgbClr val="2D2D2D"/>
                </a:solidFill>
              </a:rPr>
              <a:t>The deficit is quantifiable and manageable with the right adoption trajectory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Highly Responsive Operational Control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The simulation verified 100% solvency across all Monte Carlo runs under the optimized parameters. It successfully isolated the settlement ratio as the primary operational lever for managing system stability.</a:t>
            </a:r>
            <a:endParaRPr lang="en-US" sz="1300" dirty="0"/>
          </a:p>
        </p:txBody>
      </p:sp>
      <p:sp>
        <p:nvSpPr>
          <p:cNvPr id="7" name="Shape 5"/>
          <p:cNvSpPr/>
          <p:nvPr/>
        </p:nvSpPr>
        <p:spPr>
          <a:xfrm>
            <a:off x="548640" y="2606040"/>
            <a:ext cx="804672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7589520" cy="274320"/>
          </a:xfrm>
          <a:prstGeom prst="rect">
            <a:avLst/>
          </a:prstGeom>
          <a:noFill/>
          <a:ln/>
        </p:spPr>
        <p:txBody>
          <a:bodyPr wrap="square" lIns="0" tIns="0" rIns="0" bIns="0" rtlCol="0" anchor="ctr"/>
          <a:lstStyle/>
          <a:p>
            <a:pPr indent="0" marL="0">
              <a:buNone/>
            </a:pPr>
            <a:r>
              <a:t>Operational Advantage</a:t>
            </a:r>
            <a:endParaRPr lang="en-US" sz="1300" dirty="0"/>
          </a:p>
        </p:txBody>
      </p:sp>
      <p:sp>
        <p:nvSpPr>
          <p:cNvPr id="9" name="Text 7"/>
          <p:cNvSpPr/>
          <p:nvPr/>
        </p:nvSpPr>
        <p:spPr>
          <a:xfrm>
            <a:off x="777240" y="3063240"/>
            <a:ext cx="7589520" cy="1463040"/>
          </a:xfrm>
          <a:prstGeom prst="rect">
            <a:avLst/>
          </a:prstGeom>
          <a:noFill/>
          <a:ln/>
        </p:spPr>
        <p:txBody>
          <a:bodyPr wrap="square" rtlCol="0" anchor="t"/>
          <a:lstStyle/>
          <a:p>
            <a:pPr marL="342900" indent="-342900">
              <a:spcAft>
                <a:spcPts val="600"/>
              </a:spcAft>
              <a:buSzPct val="100000"/>
              <a:buChar char="•"/>
            </a:pPr>
            <a:r>
              <a:t>Instead of managing dozens of complex variables, operators have a single, highly responsive dial to absorb market volatility.</a:t>
            </a:r>
            <a:endParaRPr lang="en-US" sz="1200" dirty="0"/>
          </a:p>
          <a:p>
            <a:pPr marL="342900" indent="-342900">
              <a:spcAft>
                <a:spcPts val="600"/>
              </a:spcAft>
              <a:buSzPct val="100000"/>
              <a:buChar char="•"/>
            </a:pPr>
            <a:r>
              <a:t>The optimization engine has successfully mapped the boundaries of the safe operating zone, ensuring the system remains stable under stress.</a:t>
            </a:r>
            <a:endParaRPr lang="en-US" sz="1200" dirty="0"/>
          </a:p>
          <a:p>
            <a:pPr marL="342900" indent="-342900">
              <a:spcAft>
                <a:spcPts val="600"/>
              </a:spcAft>
              <a:buSzPct val="100000"/>
              <a:buChar char="•"/>
            </a:pPr>
            <a:r>
              <a:t>This single-parameter sensitivity simplifies ongoing risk management, allowing the operator to adjust the system proactively.</a:t>
            </a:r>
            <a:endParaRPr lang="en-US" sz="1200" dirty="0"/>
          </a:p>
          <a:p>
            <a:pPr marL="342900" indent="-342900">
              <a:spcAft>
                <a:spcPts val="600"/>
              </a:spcAft>
              <a:buSzPct val="100000"/>
              <a:buChar char="•"/>
            </a:pPr>
            <a:r>
              <a:rPr lang="en-US" sz="1200" dirty="0">
                <a:solidFill>
                  <a:srgbClr val="2D2D2D"/>
                </a:solidFill>
              </a:rPr>
              <a:t>v2 simulation must explore the full range of this parameter, not just the optimizer's selection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Seven Design Tensions That Cannot Be Solved by Parameters Alone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Text 3"/>
          <p:cNvSpPr/>
          <p:nvPr/>
        </p:nvSpPr>
        <p:spPr>
          <a:xfrm>
            <a:off x="548640" y="1051560"/>
            <a:ext cx="8046720" cy="45720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The specification surfaced seven fundamental tensions between system objectives. These are not bugs or miscalibrations. They are structural tradeoffs that require conscious design decisions.</a:t>
            </a:r>
            <a:endParaRPr lang="en-US" sz="1200" dirty="0"/>
          </a:p>
        </p:txBody>
      </p:sp>
      <p:sp>
        <p:nvSpPr>
          <p:cNvPr id="6" name="Shape 4"/>
          <p:cNvSpPr/>
          <p:nvPr/>
        </p:nvSpPr>
        <p:spPr>
          <a:xfrm>
            <a:off x="548640" y="1664208"/>
            <a:ext cx="182880" cy="182880"/>
          </a:xfrm>
          <a:prstGeom prst="ellipse">
            <a:avLst/>
          </a:prstGeom>
          <a:solidFill>
            <a:srgbClr val="2EAA56"/>
          </a:solidFill>
          <a:ln/>
        </p:spPr>
        <p:txBody>
          <a:bodyPr/>
          <a:p/>
        </p:txBody>
      </p:sp>
      <p:sp>
        <p:nvSpPr>
          <p:cNvPr id="7" name="Text 5"/>
          <p:cNvSpPr/>
          <p:nvPr/>
        </p:nvSpPr>
        <p:spPr>
          <a:xfrm>
            <a:off x="868680" y="1600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Growing participation drains the reserve</a:t>
            </a:r>
            <a:endParaRPr lang="en-US" sz="1200" dirty="0"/>
          </a:p>
        </p:txBody>
      </p:sp>
      <p:sp>
        <p:nvSpPr>
          <p:cNvPr id="8" name="Shape 6"/>
          <p:cNvSpPr/>
          <p:nvPr/>
        </p:nvSpPr>
        <p:spPr>
          <a:xfrm>
            <a:off x="548640" y="2121408"/>
            <a:ext cx="182880" cy="182880"/>
          </a:xfrm>
          <a:prstGeom prst="ellipse">
            <a:avLst/>
          </a:prstGeom>
          <a:solidFill>
            <a:srgbClr val="2EAA56"/>
          </a:solidFill>
          <a:ln/>
        </p:spPr>
        <p:txBody>
          <a:bodyPr/>
          <a:p/>
        </p:txBody>
      </p:sp>
      <p:sp>
        <p:nvSpPr>
          <p:cNvPr id="9" name="Text 7"/>
          <p:cNvSpPr/>
          <p:nvPr/>
        </p:nvSpPr>
        <p:spPr>
          <a:xfrm>
            <a:off x="868680" y="2057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Utility spending competes with governance</a:t>
            </a:r>
            <a:endParaRPr lang="en-US" sz="1200" dirty="0"/>
          </a:p>
        </p:txBody>
      </p:sp>
      <p:sp>
        <p:nvSpPr>
          <p:cNvPr id="10" name="Shape 8"/>
          <p:cNvSpPr/>
          <p:nvPr/>
        </p:nvSpPr>
        <p:spPr>
          <a:xfrm>
            <a:off x="548640" y="2578608"/>
            <a:ext cx="182880" cy="182880"/>
          </a:xfrm>
          <a:prstGeom prst="ellipse">
            <a:avLst/>
          </a:prstGeom>
          <a:solidFill>
            <a:srgbClr val="2EAA56"/>
          </a:solidFill>
          <a:ln/>
        </p:spPr>
        <p:txBody>
          <a:bodyPr/>
          <a:p/>
        </p:txBody>
      </p:sp>
      <p:sp>
        <p:nvSpPr>
          <p:cNvPr id="11" name="Text 9"/>
          <p:cNvSpPr/>
          <p:nvPr/>
        </p:nvSpPr>
        <p:spPr>
          <a:xfrm>
            <a:off x="868680" y="25146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Brand activation creates regulatory risk</a:t>
            </a:r>
            <a:endParaRPr lang="en-US" sz="1200" dirty="0"/>
          </a:p>
        </p:txBody>
      </p:sp>
      <p:sp>
        <p:nvSpPr>
          <p:cNvPr id="12" name="Shape 10"/>
          <p:cNvSpPr/>
          <p:nvPr/>
        </p:nvSpPr>
        <p:spPr>
          <a:xfrm>
            <a:off x="548640" y="3035808"/>
            <a:ext cx="182880" cy="182880"/>
          </a:xfrm>
          <a:prstGeom prst="ellipse">
            <a:avLst/>
          </a:prstGeom>
          <a:solidFill>
            <a:srgbClr val="2EAA56"/>
          </a:solidFill>
          <a:ln/>
        </p:spPr>
        <p:txBody>
          <a:bodyPr/>
          <a:p/>
        </p:txBody>
      </p:sp>
      <p:sp>
        <p:nvSpPr>
          <p:cNvPr id="13" name="Text 11"/>
          <p:cNvSpPr/>
          <p:nvPr/>
        </p:nvSpPr>
        <p:spPr>
          <a:xfrm>
            <a:off x="868680" y="29718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Token velocity makes utility expensive</a:t>
            </a:r>
            <a:endParaRPr lang="en-US" sz="1200" dirty="0"/>
          </a:p>
        </p:txBody>
      </p:sp>
      <p:sp>
        <p:nvSpPr>
          <p:cNvPr id="14" name="Shape 12"/>
          <p:cNvSpPr/>
          <p:nvPr/>
        </p:nvSpPr>
        <p:spPr>
          <a:xfrm>
            <a:off x="548640" y="3493008"/>
            <a:ext cx="182880" cy="182880"/>
          </a:xfrm>
          <a:prstGeom prst="ellipse">
            <a:avLst/>
          </a:prstGeom>
          <a:solidFill>
            <a:srgbClr val="2EAA56"/>
          </a:solidFill>
          <a:ln/>
        </p:spPr>
        <p:txBody>
          <a:bodyPr/>
          <a:p/>
        </p:txBody>
      </p:sp>
      <p:sp>
        <p:nvSpPr>
          <p:cNvPr id="15" name="Text 13"/>
          <p:cNvSpPr/>
          <p:nvPr/>
        </p:nvSpPr>
        <p:spPr>
          <a:xfrm>
            <a:off x="868680" y="34290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Scaling participation weakens sybil defense</a:t>
            </a:r>
            <a:endParaRPr lang="en-US" sz="1200" dirty="0"/>
          </a:p>
        </p:txBody>
      </p:sp>
      <p:sp>
        <p:nvSpPr>
          <p:cNvPr id="16" name="Shape 14"/>
          <p:cNvSpPr/>
          <p:nvPr/>
        </p:nvSpPr>
        <p:spPr>
          <a:xfrm>
            <a:off x="548640" y="3950208"/>
            <a:ext cx="182880" cy="182880"/>
          </a:xfrm>
          <a:prstGeom prst="ellipse">
            <a:avLst/>
          </a:prstGeom>
          <a:solidFill>
            <a:srgbClr val="2EAA56"/>
          </a:solidFill>
          <a:ln/>
        </p:spPr>
        <p:txBody>
          <a:bodyPr/>
          <a:p/>
        </p:txBody>
      </p:sp>
      <p:sp>
        <p:nvSpPr>
          <p:cNvPr id="17" name="Text 15"/>
          <p:cNvSpPr/>
          <p:nvPr/>
        </p:nvSpPr>
        <p:spPr>
          <a:xfrm>
            <a:off x="868680" y="3886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Governance rigor causes voter fatigue</a:t>
            </a:r>
            <a:endParaRPr lang="en-US" sz="1200" dirty="0"/>
          </a:p>
        </p:txBody>
      </p:sp>
      <p:sp>
        <p:nvSpPr>
          <p:cNvPr id="18" name="Shape 16"/>
          <p:cNvSpPr/>
          <p:nvPr/>
        </p:nvSpPr>
        <p:spPr>
          <a:xfrm>
            <a:off x="548640" y="4407408"/>
            <a:ext cx="182880" cy="182880"/>
          </a:xfrm>
          <a:prstGeom prst="ellipse">
            <a:avLst/>
          </a:prstGeom>
          <a:solidFill>
            <a:srgbClr val="2EAA56"/>
          </a:solidFill>
          <a:ln/>
        </p:spPr>
        <p:txBody>
          <a:bodyPr/>
          <a:p/>
        </p:txBody>
      </p:sp>
      <p:sp>
        <p:nvSpPr>
          <p:cNvPr id="19" name="Text 17"/>
          <p:cNvSpPr/>
          <p:nvPr/>
        </p:nvSpPr>
        <p:spPr>
          <a:xfrm>
            <a:off x="868680" y="4343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Billion-user onboarding creates cliff pressure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Treasury is the System's Central Nervous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4846320" cy="3474720"/>
          </a:xfrm>
          <a:prstGeom prst="roundRect">
            <a:avLst>
              <a:gd name="adj" fmla="val 2105"/>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4389120" cy="457200"/>
          </a:xfrm>
          <a:prstGeom prst="rect">
            <a:avLst/>
          </a:prstGeom>
          <a:noFill/>
          <a:ln/>
        </p:spPr>
        <p:txBody>
          <a:bodyPr wrap="square" lIns="0" tIns="0" rIns="0" bIns="0" rtlCol="0" anchor="ctr"/>
          <a:lstStyle/>
          <a:p>
            <a:pPr indent="0" marL="0">
              <a:buNone/>
            </a:pPr>
            <a:r>
              <a:rPr lang="en-US" sz="1300" b="1" dirty="0">
                <a:solidFill>
                  <a:srgbClr val="2D2D2D"/>
                </a:solidFill>
                <a:latin typeface="Calibri" pitchFamily="34" charset="0"/>
                <a:ea typeface="Calibri" pitchFamily="34" charset="-122"/>
                <a:cs typeface="Calibri" pitchFamily="34" charset="-120"/>
              </a:rPr>
              <a:t>Every revenue stream flows through Treasury. Every operational function depends on it.</a:t>
            </a:r>
            <a:endParaRPr lang="en-US" sz="1300" dirty="0"/>
          </a:p>
        </p:txBody>
      </p:sp>
      <p:sp>
        <p:nvSpPr>
          <p:cNvPr id="7" name="Text 5"/>
          <p:cNvSpPr/>
          <p:nvPr/>
        </p:nvSpPr>
        <p:spPr>
          <a:xfrm>
            <a:off x="777240" y="1783080"/>
            <a:ext cx="4389120" cy="256032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rPr>
              <a:t>Receives: utility fees, campaign fees, slashing penalties, RWA fees</a:t>
            </a:r>
            <a:endParaRPr lang="en-US" sz="1150" dirty="0"/>
          </a:p>
          <a:p>
            <a:pPr marL="342900" indent="-342900">
              <a:spcAft>
                <a:spcPts val="500"/>
              </a:spcAft>
              <a:buSzPct val="100000"/>
              <a:buChar char="•"/>
            </a:pPr>
            <a:r>
              <a:rPr lang="en-US" sz="1150" dirty="0">
                <a:solidFill>
                  <a:srgbClr val="2D2D2D"/>
                </a:solidFill>
              </a:rPr>
              <a:t>Funds: audience recognition settlement, creator incentives, validator rewards, operations</a:t>
            </a:r>
            <a:endParaRPr lang="en-US" sz="1150" dirty="0"/>
          </a:p>
          <a:p>
            <a:pPr marL="342900" indent="-342900">
              <a:spcAft>
                <a:spcPts val="500"/>
              </a:spcAft>
              <a:buSzPct val="100000"/>
              <a:buChar char="•"/>
            </a:pPr>
            <a:r>
              <a:rPr lang="en-US" sz="1150" dirty="0">
                <a:solidFill>
                  <a:srgbClr val="2D2D2D"/>
                </a:solidFill>
              </a:rPr>
              <a:t>Controls: reserve top-up, incentive pool replenishment, all operational outflows</a:t>
            </a:r>
            <a:endParaRPr lang="en-US" sz="1150" dirty="0"/>
          </a:p>
          <a:p>
            <a:pPr indent="0" marL="0">
              <a:spcAft>
                <a:spcPts val="500"/>
              </a:spcAft>
              <a:buNone/>
            </a:pPr>
            <a:endParaRPr lang="en-US" sz="1150" dirty="0"/>
          </a:p>
          <a:p>
            <a:pPr indent="0" marL="0">
              <a:spcAft>
                <a:spcPts val="500"/>
              </a:spcAft>
              <a:buNone/>
            </a:pPr>
            <a:r>
              <a:rPr lang="en-US" sz="1150" b="1" dirty="0">
                <a:solidFill>
                  <a:srgbClr val="2D2D2D"/>
                </a:solidFill>
              </a:rPr>
              <a:t>This makes Treasury governance the single most consequential attack surface in the entire system. A governance capture of Treasury parameters is an existential event.</a:t>
            </a:r>
            <a:endParaRPr lang="en-US" sz="1150" dirty="0"/>
          </a:p>
        </p:txBody>
      </p:sp>
      <p:sp>
        <p:nvSpPr>
          <p:cNvPr id="8" name="Shape 6"/>
          <p:cNvSpPr/>
          <p:nvPr/>
        </p:nvSpPr>
        <p:spPr>
          <a:xfrm>
            <a:off x="5623560" y="1143000"/>
            <a:ext cx="2971800" cy="1600200"/>
          </a:xfrm>
          <a:prstGeom prst="roundRect">
            <a:avLst>
              <a:gd name="adj" fmla="val 457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806440" y="123444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Integrity layer is the trust root</a:t>
            </a:r>
            <a:endParaRPr lang="en-US" sz="1200" dirty="0"/>
          </a:p>
        </p:txBody>
      </p:sp>
      <p:sp>
        <p:nvSpPr>
          <p:cNvPr id="10" name="Text 8"/>
          <p:cNvSpPr/>
          <p:nvPr/>
        </p:nvSpPr>
        <p:spPr>
          <a:xfrm>
            <a:off x="5806440" y="1554480"/>
            <a:ext cx="2606040" cy="105156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Verification is the only mechanism that does not depend on any other mechanism's output. If verification degrades, recognition, campaigns, and governance all lose credibility at once.</a:t>
            </a:r>
            <a:endParaRPr lang="en-US" sz="1050" dirty="0"/>
          </a:p>
        </p:txBody>
      </p:sp>
      <p:sp>
        <p:nvSpPr>
          <p:cNvPr id="11" name="Shape 9"/>
          <p:cNvSpPr/>
          <p:nvPr/>
        </p:nvSpPr>
        <p:spPr>
          <a:xfrm>
            <a:off x="5623560" y="2926080"/>
            <a:ext cx="2971800" cy="1691640"/>
          </a:xfrm>
          <a:prstGeom prst="roundRect">
            <a:avLst>
              <a:gd name="adj" fmla="val 432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806440" y="301752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Settlement gate is the load-bearing bridge</a:t>
            </a:r>
            <a:endParaRPr lang="en-US" sz="1200" dirty="0"/>
          </a:p>
        </p:txBody>
      </p:sp>
      <p:sp>
        <p:nvSpPr>
          <p:cNvPr id="13" name="Text 11"/>
          <p:cNvSpPr/>
          <p:nvPr/>
        </p:nvSpPr>
        <p:spPr>
          <a:xfrm>
            <a:off x="5806440" y="3337560"/>
            <a:ext cx="2606040" cy="109728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The settlement mechanism is the only connection between the audience economy (ACR credits) and the token economy (Z1U). Every other mechanism operates within one economy only. The dual-economy design succeeds or fails at this single gate.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Zee's Scale Creates Unique Pressure the Model Must Handle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27432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The cohort pressure problem</a:t>
            </a:r>
            <a:endParaRPr lang="en-US" sz="1400" dirty="0"/>
          </a:p>
        </p:txBody>
      </p:sp>
      <p:sp>
        <p:nvSpPr>
          <p:cNvPr id="7" name="Text 5"/>
          <p:cNvSpPr/>
          <p:nvPr/>
        </p:nvSpPr>
        <p:spPr>
          <a:xfrm>
            <a:off x="777240" y="1554480"/>
            <a:ext cx="7589520" cy="868680"/>
          </a:xfrm>
          <a:prstGeom prst="rect">
            <a:avLst/>
          </a:prstGeom>
          <a:noFill/>
          <a:ln/>
        </p:spPr>
        <p:txBody>
          <a:bodyPr wrap="square" lIns="0" tIns="0" rIns="0" bIns="0" rtlCol="0" anchor="t"/>
          <a:lstStyle/>
          <a:p>
            <a:pPr indent="0" marL="0">
              <a:buNone/>
            </a:pPr>
            <a:r>
              <a:rPr lang="en-US" sz="1200" dirty="0">
                <a:solidFill>
                  <a:srgbClr val="2D2D2D"/>
                </a:solidFill>
                <a:latin typeface="Calibri" pitchFamily="34" charset="0"/>
                <a:ea typeface="Calibri" pitchFamily="34" charset="-122"/>
                <a:cs typeface="Calibri" pitchFamily="34" charset="-120"/>
              </a:rPr>
              <a:t>With 900M+ Zee viewers as the target audience, even a modest claim conversion rate produces tens of millions of simultaneous onboardings. Because vesting has a fixed cliff period, all users in a cohort become eligible for settlement at roughly the same time. This creates a demand spike orders of magnitude above steady state that the Audience Reserve must absorb.</a:t>
            </a:r>
            <a:endParaRPr lang="en-US" sz="1200" dirty="0"/>
          </a:p>
        </p:txBody>
      </p:sp>
      <p:sp>
        <p:nvSpPr>
          <p:cNvPr id="8" name="Shape 6"/>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Specified defense: deterministic staggering</a:t>
            </a:r>
            <a:endParaRPr lang="en-US" sz="1200" dirty="0"/>
          </a:p>
        </p:txBody>
      </p:sp>
      <p:sp>
        <p:nvSpPr>
          <p:cNvPr id="10" name="Text 8"/>
          <p:cNvSpPr/>
          <p:nvPr/>
        </p:nvSpPr>
        <p:spPr>
          <a:xfrm>
            <a:off x="77724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The specification proposes hash-based cliff staggering that spreads a cohort's eligibility window over a 3-month ramp instead of a single point. This converts a sharp spike into a gradual ramp. It is specified but has not been stress-tested at Zee's audience scale.</a:t>
            </a:r>
            <a:endParaRPr lang="en-US" sz="1100" dirty="0"/>
          </a:p>
        </p:txBody>
      </p:sp>
      <p:sp>
        <p:nvSpPr>
          <p:cNvPr id="11" name="Shape 9"/>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Z1-specific</a:t>
            </a:r>
            <a:endParaRPr lang="en-US" sz="1200" dirty="0"/>
          </a:p>
        </p:txBody>
      </p:sp>
      <p:sp>
        <p:nvSpPr>
          <p:cNvPr id="13" name="Text 11"/>
          <p:cNvSpPr/>
          <p:nvPr/>
        </p:nvSpPr>
        <p:spPr>
          <a:xfrm>
            <a:off x="502920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Most token economies onboard users gradually. Z1's media audience creates the possibility of mass simultaneous onboarding through broadcast events, marketing pushes, or viral moments. The reserve and settlement mechanics must be designed for this reality, not against a generic growth curve.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Ready for Empirical Calibration with Zee Audience Data</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With the theoretical mechanism design now fully verified, the Z1 model is structurally complete and ready to ingest Zee's rich, empirical audience data to finalize calibration.</a:t>
            </a:r>
            <a:endParaRPr lang="en-US" sz="1300" dirty="0"/>
          </a:p>
        </p:txBody>
      </p:sp>
      <p:sp>
        <p:nvSpPr>
          <p:cNvPr id="7" name="Shape 5"/>
          <p:cNvSpPr/>
          <p:nvPr/>
        </p:nvSpPr>
        <p:spPr>
          <a:xfrm>
            <a:off x="54864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3383280" cy="274320"/>
          </a:xfrm>
          <a:prstGeom prst="rect">
            <a:avLst/>
          </a:prstGeom>
          <a:noFill/>
          <a:ln/>
        </p:spPr>
        <p:txBody>
          <a:bodyPr wrap="square" lIns="0" tIns="0" rIns="0" bIns="0" rtlCol="0" anchor="ctr"/>
          <a:lstStyle/>
          <a:p>
            <a:pPr indent="0" marL="0">
              <a:buNone/>
            </a:pPr>
            <a:r>
              <a:t>The Calibration Advantage</a:t>
            </a:r>
            <a:endParaRPr lang="en-US" sz="1300" dirty="0"/>
          </a:p>
        </p:txBody>
      </p:sp>
      <p:sp>
        <p:nvSpPr>
          <p:cNvPr id="9" name="Text 7"/>
          <p:cNvSpPr/>
          <p:nvPr/>
        </p:nvSpPr>
        <p:spPr>
          <a:xfrm>
            <a:off x="777240" y="3063240"/>
            <a:ext cx="3383280" cy="1371600"/>
          </a:xfrm>
          <a:prstGeom prst="rect">
            <a:avLst/>
          </a:prstGeom>
          <a:noFill/>
          <a:ln/>
        </p:spPr>
        <p:txBody>
          <a:bodyPr wrap="square" rtlCol="0" anchor="t"/>
          <a:lstStyle/>
          <a:p>
            <a:pPr marL="342900" indent="-342900">
              <a:spcAft>
                <a:spcPts val="600"/>
              </a:spcAft>
              <a:buSzPct val="100000"/>
              <a:buChar char="•"/>
            </a:pPr>
            <a:r>
              <a:t>We can transition from a verified theoretical model to an evidence-based economy using Zee's actual historical audience behavioral patterns.</a:t>
            </a:r>
            <a:endParaRPr lang="en-US" sz="1100" dirty="0"/>
          </a:p>
          <a:p>
            <a:pPr marL="342900" indent="-342900">
              <a:spcAft>
                <a:spcPts val="600"/>
              </a:spcAft>
              <a:buSzPct val="100000"/>
              <a:buChar char="•"/>
            </a:pPr>
            <a:r>
              <a:t>Zee's extensive audience data provides direct, empirical proxies for claim, settlement, and spending behavior.</a:t>
            </a:r>
            <a:endParaRPr lang="en-US" sz="1100" dirty="0"/>
          </a:p>
          <a:p>
            <a:pPr marL="342900" indent="-342900">
              <a:spcAft>
                <a:spcPts val="600"/>
              </a:spcAft>
              <a:buSzPct val="100000"/>
              <a:buChar char="•"/>
            </a:pPr>
            <a:r>
              <a:t>v2 will perform broad sensitivity analysis and parameter sweeps to map the complete safe operating region.</a:t>
            </a:r>
            <a:endParaRPr lang="en-US" sz="1100" dirty="0"/>
          </a:p>
        </p:txBody>
      </p:sp>
      <p:sp>
        <p:nvSpPr>
          <p:cNvPr id="10" name="Shape 8"/>
          <p:cNvSpPr/>
          <p:nvPr/>
        </p:nvSpPr>
        <p:spPr>
          <a:xfrm>
            <a:off x="480060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1" name="Text 9"/>
          <p:cNvSpPr/>
          <p:nvPr/>
        </p:nvSpPr>
        <p:spPr>
          <a:xfrm>
            <a:off x="5029200" y="269748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Zee can provide</a:t>
            </a:r>
            <a:endParaRPr lang="en-US" sz="1300" dirty="0"/>
          </a:p>
        </p:txBody>
      </p:sp>
      <p:sp>
        <p:nvSpPr>
          <p:cNvPr id="12" name="Text 10"/>
          <p:cNvSpPr/>
          <p:nvPr/>
        </p:nvSpPr>
        <p:spPr>
          <a:xfrm>
            <a:off x="5029200" y="3063240"/>
            <a:ext cx="3383280" cy="13716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rPr>
              <a:t>Real engagement patterns from 900M+ users: viewing frequency, session depth, content interaction</a:t>
            </a:r>
            <a:endParaRPr lang="en-US" sz="1100" dirty="0"/>
          </a:p>
          <a:p>
            <a:pPr marL="342900" indent="-342900">
              <a:spcAft>
                <a:spcPts val="600"/>
              </a:spcAft>
              <a:buSzPct val="100000"/>
              <a:buChar char="•"/>
            </a:pPr>
            <a:r>
              <a:rPr lang="en-US" sz="1100" dirty="0">
                <a:solidFill>
                  <a:srgbClr val="2D2D2D"/>
                </a:solidFill>
              </a:rPr>
              <a:t>Loyalty program redemption rates and timing (closest proxy to settlement behavior)</a:t>
            </a:r>
            <a:endParaRPr lang="en-US" sz="1100" dirty="0"/>
          </a:p>
          <a:p>
            <a:pPr marL="342900" indent="-342900">
              <a:spcAft>
                <a:spcPts val="600"/>
              </a:spcAft>
              <a:buSzPct val="100000"/>
              <a:buChar char="•"/>
            </a:pPr>
            <a:r>
              <a:rPr lang="en-US" sz="1100" dirty="0">
                <a:solidFill>
                  <a:srgbClr val="2D2D2D"/>
                </a:solidFill>
              </a:rPr>
              <a:t>Audience segmentation data to build grounded agent archetypes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The Parameter Lock Architecture is a Genuine Differentiator</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005840"/>
          </a:xfrm>
          <a:prstGeom prst="roundRect">
            <a:avLst>
              <a:gd name="adj" fmla="val 7273"/>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822960"/>
          </a:xfrm>
          <a:prstGeom prst="rect">
            <a:avLst/>
          </a:prstGeom>
          <a:noFill/>
          <a:ln/>
        </p:spPr>
        <p:txBody>
          <a:bodyPr wrap="square" lIns="0" tIns="0" rIns="0" bIns="0" rtlCol="0" anchor="ctr"/>
          <a:lstStyle/>
          <a:p>
            <a:pPr indent="0" marL="0">
              <a:buNone/>
            </a:pPr>
            <a:r>
              <a:rPr lang="en-US" sz="1300" dirty="0">
                <a:solidFill>
                  <a:srgbClr val="2D2D2D"/>
                </a:solidFill>
                <a:latin typeface="Calibri" pitchFamily="34" charset="0"/>
                <a:ea typeface="Calibri" pitchFamily="34" charset="-122"/>
                <a:cs typeface="Calibri" pitchFamily="34" charset="-120"/>
              </a:rPr>
              <a:t>Z1's three-tier parameter governance hierarchy is a novel design contribution. Most protocols treat all parameters as equally mutable through the same governance process. Z1 separates parameters by what they protect, creating graduated safeguards against governance attacks.</a:t>
            </a:r>
            <a:endParaRPr lang="en-US" sz="1300" dirty="0"/>
          </a:p>
        </p:txBody>
      </p:sp>
      <p:sp>
        <p:nvSpPr>
          <p:cNvPr id="7" name="Shape 5"/>
          <p:cNvSpPr/>
          <p:nvPr/>
        </p:nvSpPr>
        <p:spPr>
          <a:xfrm>
            <a:off x="548640" y="23774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43230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0: Constitutional</a:t>
            </a:r>
            <a:endParaRPr lang="en-US" sz="1200" dirty="0"/>
          </a:p>
        </p:txBody>
      </p:sp>
      <p:sp>
        <p:nvSpPr>
          <p:cNvPr id="9" name="Text 7"/>
          <p:cNvSpPr/>
          <p:nvPr/>
        </p:nvSpPr>
        <p:spPr>
          <a:xfrm>
            <a:off x="3108960" y="243230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Total supply cap, reserve floor ratio, governance qualification, settlement source constraint</a:t>
            </a:r>
            <a:endParaRPr lang="en-US" sz="1000" dirty="0"/>
          </a:p>
        </p:txBody>
      </p:sp>
      <p:sp>
        <p:nvSpPr>
          <p:cNvPr id="10" name="Text 8"/>
          <p:cNvSpPr/>
          <p:nvPr/>
        </p:nvSpPr>
        <p:spPr>
          <a:xfrm>
            <a:off x="5943600" y="243230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90% supermajority + 60-day cooling period. These define what the system is.</a:t>
            </a:r>
            <a:endParaRPr lang="en-US" sz="1000" dirty="0"/>
          </a:p>
        </p:txBody>
      </p:sp>
      <p:sp>
        <p:nvSpPr>
          <p:cNvPr id="11" name="Shape 9"/>
          <p:cNvSpPr/>
          <p:nvPr/>
        </p:nvSpPr>
        <p:spPr>
          <a:xfrm>
            <a:off x="548640" y="32461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330098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1: Governed</a:t>
            </a:r>
            <a:endParaRPr lang="en-US" sz="1200" dirty="0"/>
          </a:p>
        </p:txBody>
      </p:sp>
      <p:sp>
        <p:nvSpPr>
          <p:cNvPr id="13" name="Text 11"/>
          <p:cNvSpPr/>
          <p:nvPr/>
        </p:nvSpPr>
        <p:spPr>
          <a:xfrm>
            <a:off x="3108960" y="330098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Fee rates, settlement caps, scoring weights, throttle thresholds</a:t>
            </a:r>
            <a:endParaRPr lang="en-US" sz="1000" dirty="0"/>
          </a:p>
        </p:txBody>
      </p:sp>
      <p:sp>
        <p:nvSpPr>
          <p:cNvPr id="14" name="Text 12"/>
          <p:cNvSpPr/>
          <p:nvPr/>
        </p:nvSpPr>
        <p:spPr>
          <a:xfrm>
            <a:off x="5943600" y="330098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Standard governance with qualified majority + timelocks. These tune performance.</a:t>
            </a:r>
            <a:endParaRPr lang="en-US" sz="1000" dirty="0"/>
          </a:p>
        </p:txBody>
      </p:sp>
      <p:sp>
        <p:nvSpPr>
          <p:cNvPr id="15" name="Shape 13"/>
          <p:cNvSpPr/>
          <p:nvPr/>
        </p:nvSpPr>
        <p:spPr>
          <a:xfrm>
            <a:off x="548640" y="411480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6" name="Text 14"/>
          <p:cNvSpPr/>
          <p:nvPr/>
        </p:nvSpPr>
        <p:spPr>
          <a:xfrm>
            <a:off x="777240" y="416966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2: Operational</a:t>
            </a:r>
            <a:endParaRPr lang="en-US" sz="1200" dirty="0"/>
          </a:p>
        </p:txBody>
      </p:sp>
      <p:sp>
        <p:nvSpPr>
          <p:cNvPr id="17" name="Text 15"/>
          <p:cNvSpPr/>
          <p:nvPr/>
        </p:nvSpPr>
        <p:spPr>
          <a:xfrm>
            <a:off x="3108960" y="416966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Bounded operational parameters within governance-set ranges</a:t>
            </a:r>
            <a:endParaRPr lang="en-US" sz="1000" dirty="0"/>
          </a:p>
        </p:txBody>
      </p:sp>
      <p:sp>
        <p:nvSpPr>
          <p:cNvPr id="18" name="Text 16"/>
          <p:cNvSpPr/>
          <p:nvPr/>
        </p:nvSpPr>
        <p:spPr>
          <a:xfrm>
            <a:off x="5943600" y="416966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Adjustable by the operator within pre-approved boundaries. Day-to-day controls.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v2 Simulation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09728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16128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Broader sensitivity analysis and parameter sweeps</a:t>
            </a:r>
            <a:endParaRPr lang="en-US" sz="1200" dirty="0"/>
          </a:p>
        </p:txBody>
      </p:sp>
      <p:sp>
        <p:nvSpPr>
          <p:cNvPr id="7" name="Text 5"/>
          <p:cNvSpPr/>
          <p:nvPr/>
        </p:nvSpPr>
        <p:spPr>
          <a:xfrm>
            <a:off x="777240" y="144475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Target all high-sensitivity control points independently and in combination. Map the full safe operating region, not just the optimizer's single point.</a:t>
            </a:r>
            <a:endParaRPr lang="en-US" sz="1050" dirty="0"/>
          </a:p>
        </p:txBody>
      </p:sp>
      <p:sp>
        <p:nvSpPr>
          <p:cNvPr id="8" name="Shape 6"/>
          <p:cNvSpPr/>
          <p:nvPr/>
        </p:nvSpPr>
        <p:spPr>
          <a:xfrm>
            <a:off x="548640" y="196596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02996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Behavioral calibration from Zee audience data</a:t>
            </a:r>
            <a:endParaRPr lang="en-US" sz="1200" dirty="0"/>
          </a:p>
        </p:txBody>
      </p:sp>
      <p:sp>
        <p:nvSpPr>
          <p:cNvPr id="10" name="Text 8"/>
          <p:cNvSpPr/>
          <p:nvPr/>
        </p:nvSpPr>
        <p:spPr>
          <a:xfrm>
            <a:off x="777240" y="231343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Replace placeholder agent profiles with empirically grounded archetypes. Zee's engagement history provides direct proxies for claim, settlement, and spending behavior.</a:t>
            </a:r>
            <a:endParaRPr lang="en-US" sz="1050" dirty="0"/>
          </a:p>
        </p:txBody>
      </p:sp>
      <p:sp>
        <p:nvSpPr>
          <p:cNvPr id="11" name="Shape 9"/>
          <p:cNvSpPr/>
          <p:nvPr/>
        </p:nvSpPr>
        <p:spPr>
          <a:xfrm>
            <a:off x="548640" y="28346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2898648"/>
            <a:ext cx="7589520" cy="256032"/>
          </a:xfrm>
          <a:prstGeom prst="rect">
            <a:avLst/>
          </a:prstGeom>
          <a:noFill/>
          <a:ln/>
        </p:spPr>
        <p:txBody>
          <a:bodyPr wrap="square" lIns="0" tIns="0" rIns="0" bIns="0" rtlCol="0" anchor="ctr"/>
          <a:lstStyle/>
          <a:p>
            <a:pPr indent="0" marL="0">
              <a:buNone/>
            </a:pPr>
            <a:r>
              <a:t>Advanced stress-testing and resilience mapping</a:t>
            </a:r>
            <a:endParaRPr lang="en-US" sz="1200" dirty="0"/>
          </a:p>
        </p:txBody>
      </p:sp>
      <p:sp>
        <p:nvSpPr>
          <p:cNvPr id="13" name="Text 11"/>
          <p:cNvSpPr/>
          <p:nvPr/>
        </p:nvSpPr>
        <p:spPr>
          <a:xfrm>
            <a:off x="777240" y="318211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Bank runs at scale, coordinated governance attacks, multi-vector adversarial campaigns. Scenarios designed to find the breaking point, not confirm the happy path.</a:t>
            </a:r>
            <a:endParaRPr lang="en-US" sz="1050" dirty="0"/>
          </a:p>
        </p:txBody>
      </p:sp>
      <p:sp>
        <p:nvSpPr>
          <p:cNvPr id="14" name="Shape 12"/>
          <p:cNvSpPr/>
          <p:nvPr/>
        </p:nvSpPr>
        <p:spPr>
          <a:xfrm>
            <a:off x="548640" y="37033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5" name="Text 13"/>
          <p:cNvSpPr/>
          <p:nvPr/>
        </p:nvSpPr>
        <p:spPr>
          <a:xfrm>
            <a:off x="777240" y="376732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All mechanisms under test</a:t>
            </a:r>
            <a:endParaRPr lang="en-US" sz="1200" dirty="0"/>
          </a:p>
        </p:txBody>
      </p:sp>
      <p:sp>
        <p:nvSpPr>
          <p:cNvPr id="16" name="Text 14"/>
          <p:cNvSpPr/>
          <p:nvPr/>
        </p:nvSpPr>
        <p:spPr>
          <a:xfrm>
            <a:off x="777240" y="405079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v1 covered core solvency and settlement. v2 exercises governance capture, utility pricing, campaign marketplace, and creator incentive dynamics.</a:t>
            </a:r>
            <a:endParaRPr lang="en-US" sz="1050" dirty="0"/>
          </a:p>
        </p:txBody>
      </p:sp>
      <p:sp>
        <p:nvSpPr>
          <p:cNvPr id="17" name="Text 15"/>
          <p:cNvSpPr/>
          <p:nvPr/>
        </p:nvSpPr>
        <p:spPr>
          <a:xfrm>
            <a:off x="548640" y="4617720"/>
            <a:ext cx="8046720" cy="274320"/>
          </a:xfrm>
          <a:prstGeom prst="rect">
            <a:avLst/>
          </a:prstGeom>
          <a:noFill/>
          <a:ln/>
        </p:spPr>
        <p:txBody>
          <a:bodyPr wrap="square" lIns="0" tIns="0" rIns="0" bIns="0" rtlCol="0" anchor="ctr"/>
          <a:lstStyle/>
          <a:p>
            <a:pPr indent="0" marL="0">
              <a:buNone/>
            </a:pPr>
            <a:r>
              <a:rPr lang="en-US" sz="1000" i="1" dirty="0">
                <a:solidFill>
                  <a:srgbClr val="888888"/>
                </a:solidFill>
                <a:latin typeface="Calibri" pitchFamily="34" charset="0"/>
                <a:ea typeface="Calibri" pitchFamily="34" charset="-122"/>
                <a:cs typeface="Calibri" pitchFamily="34" charset="-120"/>
              </a:rPr>
              <a:t>Adversarial testing will be handled internally by Provecto Labs, giving tighter integration between specification and attack design.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Academic Publication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365760"/>
          </a:xfrm>
          <a:prstGeom prst="rect">
            <a:avLst/>
          </a:prstGeom>
          <a:noFill/>
          <a:ln/>
        </p:spPr>
        <p:txBody>
          <a:bodyPr wrap="square" lIns="0" tIns="0" rIns="0" bIns="0" rtlCol="0" anchor="ctr"/>
          <a:lstStyle/>
          <a:p>
            <a:pPr indent="0" marL="0">
              <a:buNone/>
            </a:pPr>
            <a:r>
              <a:rPr lang="en-US" sz="1600" b="1" dirty="0">
                <a:solidFill>
                  <a:srgbClr val="2D2D2D"/>
                </a:solidFill>
                <a:latin typeface="Calibri" pitchFamily="34" charset="0"/>
                <a:ea typeface="Calibri" pitchFamily="34" charset="-122"/>
                <a:cs typeface="Calibri" pitchFamily="34" charset="-120"/>
              </a:rPr>
              <a:t>Parameter Locks in Token Economic Systems</a:t>
            </a:r>
            <a:endParaRPr lang="en-US" sz="1600" dirty="0"/>
          </a:p>
        </p:txBody>
      </p:sp>
      <p:sp>
        <p:nvSpPr>
          <p:cNvPr id="7" name="Text 5"/>
          <p:cNvSpPr/>
          <p:nvPr/>
        </p:nvSpPr>
        <p:spPr>
          <a:xfrm>
            <a:off x="777240" y="1600200"/>
            <a:ext cx="7589520" cy="274320"/>
          </a:xfrm>
          <a:prstGeom prst="rect">
            <a:avLst/>
          </a:prstGeom>
          <a:noFill/>
          <a:ln/>
        </p:spPr>
        <p:txBody>
          <a:bodyPr wrap="square" lIns="0" tIns="0" rIns="0" bIns="0" rtlCol="0" anchor="ctr"/>
          <a:lstStyle/>
          <a:p>
            <a:pPr indent="0" marL="0">
              <a:buNone/>
            </a:pPr>
            <a:r>
              <a:rPr lang="en-US" sz="1100" dirty="0">
                <a:solidFill>
                  <a:srgbClr val="2EAA56"/>
                </a:solidFill>
                <a:latin typeface="Calibri" pitchFamily="34" charset="0"/>
                <a:ea typeface="Calibri" pitchFamily="34" charset="-122"/>
                <a:cs typeface="Calibri" pitchFamily="34" charset="-120"/>
              </a:rPr>
              <a:t>Journal of The British Blockchain Association (JBBA)</a:t>
            </a:r>
            <a:endParaRPr lang="en-US" sz="1100" dirty="0"/>
          </a:p>
        </p:txBody>
      </p:sp>
      <p:sp>
        <p:nvSpPr>
          <p:cNvPr id="8" name="Text 6"/>
          <p:cNvSpPr/>
          <p:nvPr/>
        </p:nvSpPr>
        <p:spPr>
          <a:xfrm>
            <a:off x="777240" y="1965960"/>
            <a:ext cx="7589520" cy="50292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Formalizing the Z1 three-tier parameter governance hierarchy as a generalizable framework for token economic design. The paper will demonstrate how treating parameter mutability as a first-class design primitive creates measurable governance attack resistance.</a:t>
            </a:r>
            <a:endParaRPr lang="en-US" sz="1200" dirty="0"/>
          </a:p>
        </p:txBody>
      </p:sp>
      <p:sp>
        <p:nvSpPr>
          <p:cNvPr id="9" name="Shape 7"/>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0" name="Text 8"/>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publishable</a:t>
            </a:r>
            <a:endParaRPr lang="en-US" sz="1200" dirty="0"/>
          </a:p>
        </p:txBody>
      </p:sp>
      <p:sp>
        <p:nvSpPr>
          <p:cNvPr id="11" name="Text 9"/>
          <p:cNvSpPr/>
          <p:nvPr/>
        </p:nvSpPr>
        <p:spPr>
          <a:xfrm>
            <a:off x="777240" y="3246120"/>
            <a:ext cx="3383280" cy="1280160"/>
          </a:xfrm>
          <a:prstGeom prst="rect">
            <a:avLst/>
          </a:prstGeom>
          <a:noFill/>
          <a:ln/>
        </p:spPr>
        <p:txBody>
          <a:bodyPr wrap="square" rtlCol="0" anchor="t"/>
          <a:lstStyle/>
          <a:p>
            <a:pPr marL="342900" indent="-342900">
              <a:spcAft>
                <a:spcPts val="400"/>
              </a:spcAft>
              <a:buSzPct val="100000"/>
              <a:buChar char="•"/>
            </a:pPr>
            <a:r>
              <a:rPr lang="en-US" sz="1100" dirty="0">
                <a:solidFill>
                  <a:srgbClr val="2D2D2D"/>
                </a:solidFill>
              </a:rPr>
              <a:t>No existing protocol formalizes parameter mutability at this level</a:t>
            </a:r>
            <a:endParaRPr lang="en-US" sz="1100" dirty="0"/>
          </a:p>
          <a:p>
            <a:pPr marL="342900" indent="-342900">
              <a:spcAft>
                <a:spcPts val="400"/>
              </a:spcAft>
              <a:buSzPct val="100000"/>
              <a:buChar char="•"/>
            </a:pPr>
            <a:r>
              <a:rPr lang="en-US" sz="1100" dirty="0">
                <a:solidFill>
                  <a:srgbClr val="2D2D2D"/>
                </a:solidFill>
              </a:rPr>
              <a:t>Combines game theory, formal verification, and mechanism design</a:t>
            </a:r>
            <a:endParaRPr lang="en-US" sz="1100" dirty="0"/>
          </a:p>
          <a:p>
            <a:pPr marL="342900" indent="-342900">
              <a:spcAft>
                <a:spcPts val="400"/>
              </a:spcAft>
              <a:buSzPct val="100000"/>
              <a:buChar char="•"/>
            </a:pPr>
            <a:r>
              <a:rPr lang="en-US" sz="1100" dirty="0">
                <a:solidFill>
                  <a:srgbClr val="2D2D2D"/>
                </a:solidFill>
              </a:rPr>
              <a:t>Real case study (Z1) with simulation evidence, not just theory</a:t>
            </a:r>
            <a:endParaRPr lang="en-US" sz="1100" dirty="0"/>
          </a:p>
          <a:p>
            <a:pPr marL="342900" indent="-342900">
              <a:spcAft>
                <a:spcPts val="400"/>
              </a:spcAft>
              <a:buSzPct val="100000"/>
              <a:buChar char="•"/>
            </a:pPr>
            <a:r>
              <a:rPr lang="en-US" sz="1100" dirty="0">
                <a:solidFill>
                  <a:srgbClr val="2D2D2D"/>
                </a:solidFill>
              </a:rPr>
              <a:t>Directly addresses the governance capture problem plaguing DeFi</a:t>
            </a:r>
            <a:endParaRPr lang="en-US" sz="1100" dirty="0"/>
          </a:p>
        </p:txBody>
      </p:sp>
      <p:sp>
        <p:nvSpPr>
          <p:cNvPr id="12" name="Shape 10"/>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3" name="Text 11"/>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Contributors</a:t>
            </a:r>
            <a:endParaRPr lang="en-US" sz="1200" dirty="0"/>
          </a:p>
        </p:txBody>
      </p:sp>
      <p:sp>
        <p:nvSpPr>
          <p:cNvPr id="14" name="Text 12"/>
          <p:cNvSpPr/>
          <p:nvPr/>
        </p:nvSpPr>
        <p:spPr>
          <a:xfrm>
            <a:off x="5029200" y="3246120"/>
            <a:ext cx="3383280" cy="1280160"/>
          </a:xfrm>
          <a:prstGeom prst="rect">
            <a:avLst/>
          </a:prstGeom>
          <a:noFill/>
          <a:ln/>
        </p:spPr>
        <p:txBody>
          <a:bodyPr wrap="square" rtlCol="0" anchor="t"/>
          <a:lstStyle/>
          <a:p>
            <a:pPr indent="0" marL="0">
              <a:spcAft>
                <a:spcPts val="200"/>
              </a:spcAft>
              <a:buNone/>
            </a:pPr>
            <a:r>
              <a:rPr lang="en-US" sz="1100" b="1" dirty="0">
                <a:solidFill>
                  <a:srgbClr val="2D2D2D"/>
                </a:solidFill>
              </a:rPr>
              <a:t>Linas Stankevicius  </a:t>
            </a:r>
            <a:pPr indent="0" marL="0">
              <a:spcAft>
                <a:spcPts val="200"/>
              </a:spcAft>
              <a:buNone/>
            </a:pPr>
            <a:r>
              <a:rPr lang="en-US" sz="950" dirty="0">
                <a:solidFill>
                  <a:srgbClr val="888888"/>
                </a:solidFill>
              </a:rPr>
              <a:t>2 prior publications with TokenLab</a:t>
            </a:r>
            <a:endParaRPr lang="en-US" sz="1100" dirty="0"/>
          </a:p>
          <a:p>
            <a:pPr indent="0" marL="0">
              <a:spcAft>
                <a:spcPts val="200"/>
              </a:spcAft>
              <a:buNone/>
            </a:pPr>
            <a:r>
              <a:rPr lang="en-US" sz="1100" b="1" dirty="0">
                <a:solidFill>
                  <a:srgbClr val="2D2D2D"/>
                </a:solidFill>
              </a:rPr>
              <a:t>Nik Pletikos  </a:t>
            </a:r>
            <a:pPr indent="0" marL="0">
              <a:spcAft>
                <a:spcPts val="200"/>
              </a:spcAft>
              <a:buNone/>
            </a:pPr>
            <a:r>
              <a:rPr lang="en-US" sz="950" dirty="0">
                <a:solidFill>
                  <a:srgbClr val="888888"/>
                </a:solidFill>
              </a:rPr>
              <a:t>Provecto Labs</a:t>
            </a:r>
            <a:endParaRPr lang="en-US" sz="1100" dirty="0"/>
          </a:p>
          <a:p>
            <a:pPr indent="0" marL="0">
              <a:spcAft>
                <a:spcPts val="200"/>
              </a:spcAft>
              <a:buNone/>
            </a:pPr>
            <a:r>
              <a:rPr lang="en-US" sz="1100" b="1" dirty="0">
                <a:solidFill>
                  <a:srgbClr val="2D2D2D"/>
                </a:solidFill>
              </a:rPr>
              <a:t>Dr. Stylianos Kampakis  </a:t>
            </a:r>
            <a:pPr indent="0" marL="0">
              <a:spcAft>
                <a:spcPts val="200"/>
              </a:spcAft>
              <a:buNone/>
            </a:pPr>
            <a:r>
              <a:rPr lang="en-US" sz="950" dirty="0">
                <a:solidFill>
                  <a:srgbClr val="888888"/>
                </a:solidFill>
              </a:rPr>
              <a:t>TokenLab, simulation engineering</a:t>
            </a:r>
            <a:endParaRPr lang="en-US" sz="1100" dirty="0"/>
          </a:p>
          <a:p>
            <a:pPr indent="0" marL="0">
              <a:spcAft>
                <a:spcPts val="200"/>
              </a:spcAft>
              <a:buNone/>
            </a:pPr>
            <a:r>
              <a:rPr lang="en-US" sz="1100" b="1" dirty="0">
                <a:solidFill>
                  <a:srgbClr val="2D2D2D"/>
                </a:solidFill>
              </a:rPr>
              <a:t>[Cryptography PhD contributor]  </a:t>
            </a:r>
            <a:pPr indent="0" marL="0">
              <a:spcAft>
                <a:spcPts val="200"/>
              </a:spcAft>
              <a:buNone/>
            </a:pPr>
            <a:r>
              <a:rPr lang="en-US" sz="950" dirty="0">
                <a:solidFill>
                  <a:srgbClr val="888888"/>
                </a:solidFill>
              </a:rPr>
              <a:t>PhD Cryptography (2011)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1645920"/>
            <a:ext cx="8046720" cy="548640"/>
          </a:xfrm>
          <a:prstGeom prst="rect">
            <a:avLst/>
          </a:prstGeom>
          <a:noFill/>
          <a:ln/>
        </p:spPr>
        <p:txBody>
          <a:bodyPr wrap="square" lIns="0" tIns="0" rIns="0" bIns="0" rtlCol="0" anchor="ctr"/>
          <a:lstStyle/>
          <a:p>
            <a:pPr algn="ctr" indent="0" marL="0">
              <a:buNone/>
            </a:pPr>
            <a:r>
              <a:rPr lang="en-US" sz="2800" i="1" dirty="0">
                <a:solidFill>
                  <a:srgbClr val="FFFFFF"/>
                </a:solidFill>
                <a:latin typeface="Calibri" pitchFamily="34" charset="0"/>
                <a:ea typeface="Calibri" pitchFamily="34" charset="-122"/>
                <a:cs typeface="Calibri" pitchFamily="34" charset="-120"/>
              </a:rPr>
              <a:t>provecto labs.</a:t>
            </a:r>
            <a:endParaRPr lang="en-US" sz="2800" dirty="0"/>
          </a:p>
        </p:txBody>
      </p:sp>
      <p:sp>
        <p:nvSpPr>
          <p:cNvPr id="3" name="Shape 1"/>
          <p:cNvSpPr/>
          <p:nvPr/>
        </p:nvSpPr>
        <p:spPr>
          <a:xfrm>
            <a:off x="3657600" y="2377440"/>
            <a:ext cx="1828800" cy="0"/>
          </a:xfrm>
          <a:prstGeom prst="line">
            <a:avLst/>
          </a:prstGeom>
          <a:noFill/>
          <a:ln w="25400">
            <a:solidFill>
              <a:srgbClr val="2EAA56"/>
            </a:solidFill>
            <a:prstDash val="solid"/>
          </a:ln>
        </p:spPr>
        <p:txBody>
          <a:bodyPr/>
          <a:p/>
        </p:txBody>
      </p:sp>
      <p:sp>
        <p:nvSpPr>
          <p:cNvPr id="4" name="Text 2"/>
          <p:cNvSpPr/>
          <p:nvPr/>
        </p:nvSpPr>
        <p:spPr>
          <a:xfrm>
            <a:off x="548640" y="2606040"/>
            <a:ext cx="8046720" cy="320040"/>
          </a:xfrm>
          <a:prstGeom prst="rect">
            <a:avLst/>
          </a:prstGeom>
          <a:noFill/>
          <a:ln/>
        </p:spPr>
        <p:txBody>
          <a:bodyPr wrap="square" lIns="0" tIns="0" rIns="0" bIns="0" rtlCol="0" anchor="ctr"/>
          <a:lstStyle/>
          <a:p>
            <a:pPr algn="ctr" indent="0" marL="0">
              <a:buNone/>
            </a:pPr>
            <a:r>
              <a:rPr lang="en-US" sz="1200" dirty="0">
                <a:solidFill>
                  <a:srgbClr val="888888"/>
                </a:solidFill>
                <a:latin typeface="Calibri" pitchFamily="34" charset="0"/>
                <a:ea typeface="Calibri" pitchFamily="34" charset="-122"/>
                <a:cs typeface="Calibri" pitchFamily="34" charset="-120"/>
              </a:rPr>
              <a:t>linas@provecto.io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Z1 Simulation v1 — Key Findings &amp; Next Steps</dc:title>
  <dc:subject>PptxGenJS Presentation</dc:subject>
  <dc:creator>Provecto Labs</dc:creator>
  <cp:lastModifiedBy>Provecto Labs</cp:lastModifiedBy>
  <cp:revision>1</cp:revision>
  <dcterms:created xsi:type="dcterms:W3CDTF">2026-06-24T14:21:28Z</dcterms:created>
  <dcterms:modified xsi:type="dcterms:W3CDTF">2026-06-24T14:21:28Z</dcterms:modified>
</cp:coreProperties>
</file>