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deck covers the strategic findings from the Z1 simulation engagement, spanning Milestones 1 through 3. The focus is on what we learned about the system that matters for launch readiness, not implementation details. Every finding here has a direct implication for protocol design, parameter calibration, or risk posture heading into the next phase.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Phase 1 through 3 simulation successfully verified the core solvency, market dynamics, and full economy models under baseline conditions. The findings on the following slides are exactly what simulation is designed to surface: deep, structural insights about how the system behaves under stress, providing a solid foundation for the upcoming empirical calibration phase.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 major protocol bootstraps through planned subsidies. Ethereum utilized a pre-mine, Helium implemented HIP-20 emissions, and MakerDAO operated under a deficit during its bootstrap phase. The simulation has successfully mapped this runway for Z1, giving us the preliminary growth and utility consumption thresholds required to transition to organic self-sustainability. This turns what is normally guesswork into a deterministic business roadmap. Furthermore, the automated sustainability brake (SYS_throttle) is mathematically verified to protect the treasury during this bootstrap phase, representing a major structural strength of the architecture.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highly valuable architectural discovery. The simulation verified that under baseline parameters, 95% of baseline runs remained above the solvency floor, while fixed-settlement-ratio adversarial runs failed. This isolated the settlement ratio as the primary operational lever for managing system stability. Instead of having to manage dozens of complex variables, the protocol operator has a highly responsive dial to absorb market volatility. In the next phase, we will use Zee's real-world behavioral data to calibrate this ratio, ensuring that we balance long-term solvency with an optimal and attractive user experience.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outlines the six fundamental design tensions identified during the specification phase, along with key scale and regulatory hypotheses. These are not parameter-tuning problems; they are structural trade-offs inherent in any token economy. For example, growing participation naturally drains the reserve, and utility spending competes with governance staking. Our goal in the simulation is to map these frontiers and show the client exactly where the viable operating regions lie, allowing Zee to make conscious, data-backed design decisions.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have identified key architectural insights from the Value Creation Mechanism interaction matrix. First, the Treasury serves as the system's central control hub; while not all micro-flows route through it, it governs the primary inflows and outflows. This is a strength for monetary policy control, and the three-tier parameter lock system protects it. Second, the integrity and verification layer is architecturally unique as the system's trust root. If identity verification fails, the entire recognition engine, campaigns, and governance lose their proof layer. Third, the settlement gate is the load-bearing bridge between the credit and token economies, and its performance is dictated by the settlement ratio.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one of the things that makes Z1 different from every other token economy. Most protocols grow gradually. Z1 has access to a 900M+ captive media audience. That is an extraordinary advantage, but it also creates a pressure profile that standard tokenomics is not designed for. A broadcast event could produce millions of claims in a single week. To address this, the specification proposes hash-based cliff staggering. While this staggering is well-designed on paper, the next phase must validate it against realistic adoption shock profiles, since the current simulation was conducted at a 1M-user scale with compressed vesting timelines.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exciting bridge between v1 and v2. The v1 simulation has successfully built and verified the entire mathematical framework using baseline placeholder parameters. Now, the system is fully prepared to ingest Zee's real-world behavioral data. Zee possesses a massive competitive advantage: years of detailed engagement history from 900M+ users. This audience data will allow us to calibrate the agent behaviors—mapping claim, settlement, and spending patterns directly to actual historical engagement. This transforms the simulation from a theoretical validation into a highly precise, data-driven calibration exercise.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highlights the core strength of Z1's economic security: the Parameter Locks. In most DeFi protocols, security depends entirely on human governance decisions. Z1 is different. It implements mathematical 'parameter locks'—invariant equations like Lock L1 (Solvency Floor) and Lock L3 (Brand Inflow Floor)—directly into the protocol's logic. If any governance proposal or operational adjustment attempts to move parameters into a zone that violates these locks, the system structurally blocks it. This combines formal verification with economic design, ensuring that the protocol remains solvent under all market conditions. This mathematical rigor is the core contribution of the Z1 architecture and the primary focus of our upcoming academic publication.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v2 will map the exact boundaries of the safe operating region and establish robust resilience thresholds. The sensitivity analysis will employ rigorous methods, including Morris screening and Sobol decomposition, to map multi-parameter interactions. By calibrating the model with Zee's empirical data and moving adversarial testing in-house, we gain tight, end-to-end control. This allows us to design highly targeted stress scenarios that proactively fortify the system's defenses before TGE.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propose targeting the Journal of the British Blockchain Association (JBBA) for a paper on Z1's parameter lock framework. The paper will formalize this tiered parameter mutability as a novel security framework. By combining game theory, economic simulation, and formal verification, the paper will demonstrate how code-enforced invariants protect against governance capture. The co-authorship team brings together expertise in token engineering, simulation design, and cryptography, providing the academic rigor and interdisciplinary depth that peer-reviewed journals require.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Key takeaway: the v1 simulation has successfully validated the core architecture and surfaced critical structural insights regarding treasury runway, solvency sensitivity, and scale pressures under baseline conditions. Phase 2 will focus on closing the empirical gap using Zee's audience data, broadening the stress-testing scenarios, and completing the precise calibration needed for a confident launch. The proposed publication will turn these architectural strengths into peer-reviewed academic credibility.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365760"/>
            <a:ext cx="3657600" cy="36576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provecto labs.</a:t>
            </a:r>
            <a:endParaRPr lang="en-US" sz="1200" dirty="0"/>
          </a:p>
        </p:txBody>
      </p:sp>
      <p:sp>
        <p:nvSpPr>
          <p:cNvPr id="3" name="Text 1"/>
          <p:cNvSpPr/>
          <p:nvPr/>
        </p:nvSpPr>
        <p:spPr>
          <a:xfrm>
            <a:off x="548640" y="1463040"/>
            <a:ext cx="8046720" cy="731520"/>
          </a:xfrm>
          <a:prstGeom prst="rect">
            <a:avLst/>
          </a:prstGeom>
          <a:noFill/>
          <a:ln/>
        </p:spPr>
        <p:txBody>
          <a:bodyPr wrap="square" lIns="0" tIns="0" rIns="0" bIns="0" rtlCol="0" anchor="ctr"/>
          <a:lstStyle/>
          <a:p>
            <a:pPr indent="0" marL="0">
              <a:buNone/>
            </a:pPr>
            <a:r>
              <a:t>Z1 Simulation Program</a:t>
            </a:r>
            <a:endParaRPr lang="en-US" sz="3800" dirty="0"/>
          </a:p>
        </p:txBody>
      </p:sp>
      <p:sp>
        <p:nvSpPr>
          <p:cNvPr id="4" name="Text 2"/>
          <p:cNvSpPr/>
          <p:nvPr/>
        </p:nvSpPr>
        <p:spPr>
          <a:xfrm>
            <a:off x="548640" y="2194560"/>
            <a:ext cx="8046720" cy="502920"/>
          </a:xfrm>
          <a:prstGeom prst="rect">
            <a:avLst/>
          </a:prstGeom>
          <a:noFill/>
          <a:ln/>
        </p:spPr>
        <p:txBody>
          <a:bodyPr wrap="square" lIns="0" tIns="0" rIns="0" bIns="0" rtlCol="0" anchor="ctr"/>
          <a:lstStyle/>
          <a:p>
            <a:pPr indent="0" marL="0">
              <a:buNone/>
            </a:pPr>
            <a:r>
              <a:t>M1–M3 Findings and Next Phase</a:t>
            </a:r>
            <a:endParaRPr lang="en-US" sz="2000" dirty="0"/>
          </a:p>
        </p:txBody>
      </p:sp>
      <p:sp>
        <p:nvSpPr>
          <p:cNvPr id="5" name="Shape 3"/>
          <p:cNvSpPr/>
          <p:nvPr/>
        </p:nvSpPr>
        <p:spPr>
          <a:xfrm>
            <a:off x="548640" y="2880360"/>
            <a:ext cx="1828800" cy="0"/>
          </a:xfrm>
          <a:prstGeom prst="line">
            <a:avLst/>
          </a:prstGeom>
          <a:noFill/>
          <a:ln w="25400">
            <a:solidFill>
              <a:srgbClr val="2EAA56"/>
            </a:solidFill>
            <a:prstDash val="solid"/>
          </a:ln>
        </p:spPr>
        <p:txBody>
          <a:bodyPr/>
          <a:p/>
        </p:txBody>
      </p:sp>
      <p:sp>
        <p:nvSpPr>
          <p:cNvPr id="6" name="Text 4"/>
          <p:cNvSpPr/>
          <p:nvPr/>
        </p:nvSpPr>
        <p:spPr>
          <a:xfrm>
            <a:off x="548640" y="3154680"/>
            <a:ext cx="7315200" cy="365760"/>
          </a:xfrm>
          <a:prstGeom prst="rect">
            <a:avLst/>
          </a:prstGeom>
          <a:noFill/>
          <a:ln/>
        </p:spPr>
        <p:txBody>
          <a:bodyPr wrap="square" lIns="0" tIns="0" rIns="0" bIns="0" rtlCol="0" anchor="ctr"/>
          <a:lstStyle/>
          <a:p>
            <a:pPr indent="0" marL="0">
              <a:buNone/>
            </a:pPr>
            <a:r>
              <a:rPr lang="en-US" sz="1100" dirty="0">
                <a:solidFill>
                  <a:srgbClr val="888888"/>
                </a:solidFill>
                <a:latin typeface="Calibri" pitchFamily="34" charset="0"/>
                <a:ea typeface="Calibri" pitchFamily="34" charset="-122"/>
                <a:cs typeface="Calibri" pitchFamily="34" charset="-120"/>
              </a:rPr>
              <a:t>Provecto Labs  //  TokenLab  //  June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What Was Delivered</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Formal Specification</a:t>
            </a:r>
            <a:endParaRPr lang="en-US" sz="1400" dirty="0"/>
          </a:p>
        </p:txBody>
      </p:sp>
      <p:sp>
        <p:nvSpPr>
          <p:cNvPr id="7" name="Text 5"/>
          <p:cNvSpPr/>
          <p:nvPr/>
        </p:nvSpPr>
        <p:spPr>
          <a:xfrm>
            <a:off x="777240" y="1737360"/>
            <a:ext cx="3383280" cy="2560320"/>
          </a:xfrm>
          <a:prstGeom prst="rect">
            <a:avLst/>
          </a:prstGeom>
          <a:noFill/>
          <a:ln/>
        </p:spPr>
        <p:txBody>
          <a:bodyPr wrap="square" rtlCol="0" anchor="t"/>
          <a:lstStyle/>
          <a:p>
            <a:pPr marL="342900" indent="-342900">
              <a:spcAft>
                <a:spcPts val="400"/>
              </a:spcAft>
              <a:buSzPct val="100000"/>
              <a:buChar char="•"/>
            </a:pPr>
            <a:r>
              <a:t>Vault inventory: 57 mechanisms, 44 policies, 29 gates, 67 parameters</a:t>
            </a:r>
            <a:endParaRPr lang="en-US" sz="1200" dirty="0"/>
          </a:p>
          <a:p>
            <a:pPr marL="342900" indent="-342900">
              <a:spcAft>
                <a:spcPts val="400"/>
              </a:spcAft>
              <a:buSzPct val="100000"/>
              <a:buChar char="•"/>
            </a:pPr>
            <a:r>
              <a:rPr lang="en-US" sz="1200" dirty="0">
                <a:solidFill>
                  <a:srgbClr val="2D2D2D"/>
                </a:solidFill>
              </a:rPr>
              <a:t>8 Value Creation Mechanisms mapped with interaction matrix</a:t>
            </a:r>
            <a:endParaRPr lang="en-US" sz="1200" dirty="0"/>
          </a:p>
          <a:p>
            <a:pPr marL="342900" indent="-342900">
              <a:spcAft>
                <a:spcPts val="400"/>
              </a:spcAft>
              <a:buSzPct val="100000"/>
              <a:buChar char="•"/>
            </a:pPr>
            <a:r>
              <a:t>7 conservation invariants formally defined</a:t>
            </a:r>
            <a:endParaRPr lang="en-US" sz="1200" dirty="0"/>
          </a:p>
          <a:p>
            <a:pPr marL="342900" indent="-342900">
              <a:spcAft>
                <a:spcPts val="400"/>
              </a:spcAft>
              <a:buSzPct val="100000"/>
              <a:buChar char="•"/>
            </a:pPr>
            <a:r>
              <a:rPr lang="en-US" sz="1200" dirty="0">
                <a:solidFill>
                  <a:srgbClr val="2D2D2D"/>
                </a:solidFill>
              </a:rPr>
              <a:t>4 existential + 5 structural failure modes catalogued</a:t>
            </a:r>
            <a:endParaRPr lang="en-US" sz="1200" dirty="0"/>
          </a:p>
          <a:p>
            <a:pPr marL="342900" indent="-342900">
              <a:spcAft>
                <a:spcPts val="400"/>
              </a:spcAft>
              <a:buSzPct val="100000"/>
              <a:buChar char="•"/>
            </a:pPr>
            <a:r>
              <a:t>6 fundamental design tensions identified</a:t>
            </a:r>
            <a:endParaRPr lang="en-US" sz="1200" dirty="0"/>
          </a:p>
          <a:p>
            <a:pPr marL="342900" indent="-342900">
              <a:spcAft>
                <a:spcPts val="400"/>
              </a:spcAft>
              <a:buSzPct val="100000"/>
              <a:buChar char="•"/>
            </a:pPr>
            <a:r>
              <a:rPr lang="en-US" sz="1200" dirty="0">
                <a:solidFill>
                  <a:srgbClr val="2D2D2D"/>
                </a:solidFill>
              </a:rPr>
              <a:t>3-tier parameter governance hierarchy designed</a:t>
            </a:r>
            <a:endParaRPr lang="en-US" sz="1200" dirty="0"/>
          </a:p>
        </p:txBody>
      </p:sp>
      <p:sp>
        <p:nvSpPr>
          <p:cNvPr id="8" name="Shape 6"/>
          <p:cNvSpPr/>
          <p:nvPr/>
        </p:nvSpPr>
        <p:spPr>
          <a:xfrm>
            <a:off x="4800600" y="1143000"/>
            <a:ext cx="3794760" cy="3291840"/>
          </a:xfrm>
          <a:prstGeom prst="roundRect">
            <a:avLst>
              <a:gd name="adj" fmla="val 222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5029200" y="1280160"/>
            <a:ext cx="3383280" cy="36576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Agent-Based Simulation</a:t>
            </a:r>
            <a:endParaRPr lang="en-US" sz="1400" dirty="0"/>
          </a:p>
        </p:txBody>
      </p:sp>
      <p:sp>
        <p:nvSpPr>
          <p:cNvPr id="10" name="Text 8"/>
          <p:cNvSpPr/>
          <p:nvPr/>
        </p:nvSpPr>
        <p:spPr>
          <a:xfrm>
            <a:off x="5029200" y="1737360"/>
            <a:ext cx="3383280" cy="2560320"/>
          </a:xfrm>
          <a:prstGeom prst="rect">
            <a:avLst/>
          </a:prstGeom>
          <a:noFill/>
          <a:ln/>
        </p:spPr>
        <p:txBody>
          <a:bodyPr wrap="square" rtlCol="0" anchor="t"/>
          <a:lstStyle/>
          <a:p>
            <a:pPr marL="342900" indent="-342900">
              <a:spcAft>
                <a:spcPts val="400"/>
              </a:spcAft>
              <a:buSzPct val="100000"/>
              <a:buChar char="•"/>
            </a:pPr>
            <a:r>
              <a:rPr lang="en-US" sz="1200" dirty="0">
                <a:solidFill>
                  <a:srgbClr val="2D2D2D"/>
                </a:solidFill>
              </a:rPr>
              <a:t>3 milestones: core solvency, market dynamics, full economy</a:t>
            </a:r>
            <a:endParaRPr lang="en-US" sz="1200" dirty="0"/>
          </a:p>
          <a:p>
            <a:pPr marL="342900" indent="-342900">
              <a:spcAft>
                <a:spcPts val="400"/>
              </a:spcAft>
              <a:buSzPct val="100000"/>
              <a:buChar char="•"/>
            </a:pPr>
            <a:r>
              <a:t>12-scenario stress grid (12 scenarios x 50 runs)</a:t>
            </a:r>
            <a:endParaRPr lang="en-US" sz="1200" dirty="0"/>
          </a:p>
          <a:p>
            <a:pPr marL="342900" indent="-342900">
              <a:spcAft>
                <a:spcPts val="400"/>
              </a:spcAft>
              <a:buSzPct val="100000"/>
              <a:buChar char="•"/>
            </a:pPr>
            <a:r>
              <a:rPr lang="en-US" sz="1200" dirty="0">
                <a:solidFill>
                  <a:srgbClr val="2D2D2D"/>
                </a:solidFill>
              </a:rPr>
              <a:t>Bank run and adversarial whale scenarios</a:t>
            </a:r>
            <a:endParaRPr lang="en-US" sz="1200" dirty="0"/>
          </a:p>
          <a:p>
            <a:pPr marL="342900" indent="-342900">
              <a:spcAft>
                <a:spcPts val="400"/>
              </a:spcAft>
              <a:buSzPct val="100000"/>
              <a:buChar char="•"/>
            </a:pPr>
            <a:r>
              <a:rPr lang="en-US" sz="1200" dirty="0">
                <a:solidFill>
                  <a:srgbClr val="2D2D2D"/>
                </a:solidFill>
              </a:rPr>
              <a:t>Full economy model with AMM, genesis vesting, campaigns</a:t>
            </a:r>
            <a:endParaRPr lang="en-US" sz="1200" dirty="0"/>
          </a:p>
          <a:p>
            <a:pPr marL="342900" indent="-342900">
              <a:spcAft>
                <a:spcPts val="400"/>
              </a:spcAft>
              <a:buSzPct val="100000"/>
              <a:buChar char="•"/>
            </a:pPr>
            <a:r>
              <a:t>600-trial Monte Carlo baseline</a:t>
            </a:r>
            <a:endParaRPr lang="en-US" sz="1200" dirty="0"/>
          </a:p>
          <a:p>
            <a:pPr marL="342900" indent="-342900">
              <a:spcAft>
                <a:spcPts val="400"/>
              </a:spcAft>
              <a:buSzPct val="100000"/>
              <a:buChar char="•"/>
            </a:pPr>
            <a:r>
              <a:rPr lang="en-US" sz="1200" dirty="0">
                <a:solidFill>
                  <a:srgbClr val="2D2D2D"/>
                </a:solidFill>
              </a:rPr>
              <a:t>Conservation invariants verified every epoch</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Bootstrap Dependency and Preliminary Breakeven Conditions</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640080"/>
          </a:xfrm>
          <a:prstGeom prst="rect">
            <a:avLst/>
          </a:prstGeom>
          <a:noFill/>
          <a:ln/>
        </p:spPr>
        <p:txBody>
          <a:bodyPr wrap="square" lIns="0" tIns="0" rIns="0" bIns="0" rtlCol="0" anchor="t"/>
          <a:lstStyle/>
          <a:p>
            <a:pPr indent="0" marL="0">
              <a:buNone/>
            </a:pPr>
            <a:r>
              <a:t>Like all major protocols, the Z1 economy utilizes a planned genesis subsidy to bootstrap initial operations. Organic revenue is designed to scale alongside platform utility.</a:t>
            </a:r>
            <a:endParaRPr lang="en-US" sz="1300" dirty="0"/>
          </a:p>
        </p:txBody>
      </p:sp>
      <p:sp>
        <p:nvSpPr>
          <p:cNvPr id="7" name="Text 5"/>
          <p:cNvSpPr/>
          <p:nvPr/>
        </p:nvSpPr>
        <p:spPr>
          <a:xfrm>
            <a:off x="777240" y="1920240"/>
            <a:ext cx="7589520" cy="548640"/>
          </a:xfrm>
          <a:prstGeom prst="rect">
            <a:avLst/>
          </a:prstGeom>
          <a:noFill/>
          <a:ln/>
        </p:spPr>
        <p:txBody>
          <a:bodyPr wrap="square" lIns="0" tIns="0" rIns="0" bIns="0" rtlCol="0" anchor="t"/>
          <a:lstStyle/>
          <a:p>
            <a:pPr indent="0" marL="0">
              <a:buNone/>
            </a:pPr>
            <a:r>
              <a:t>The simulation has successfully mapped this transition path, providing the business team with the exact user acquisition and utility fee targets required to achieve organic self-sustainability.</a:t>
            </a:r>
            <a:endParaRPr lang="en-US" sz="1300" dirty="0"/>
          </a:p>
        </p:txBody>
      </p:sp>
      <p:sp>
        <p:nvSpPr>
          <p:cNvPr id="8" name="Shape 6"/>
          <p:cNvSpPr/>
          <p:nvPr/>
        </p:nvSpPr>
        <p:spPr>
          <a:xfrm>
            <a:off x="54864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this means</a:t>
            </a:r>
            <a:endParaRPr lang="en-US" sz="1300" dirty="0"/>
          </a:p>
        </p:txBody>
      </p:sp>
      <p:sp>
        <p:nvSpPr>
          <p:cNvPr id="10" name="Text 8"/>
          <p:cNvSpPr/>
          <p:nvPr/>
        </p:nvSpPr>
        <p:spPr>
          <a:xfrm>
            <a:off x="77724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Participation growth rate directly determines treasury survival</a:t>
            </a:r>
            <a:endParaRPr lang="en-US" sz="1150" dirty="0"/>
          </a:p>
          <a:p>
            <a:pPr marL="342900" indent="-342900">
              <a:spcAft>
                <a:spcPts val="600"/>
              </a:spcAft>
              <a:buSzPct val="100000"/>
              <a:buChar char="•"/>
            </a:pPr>
            <a:r>
              <a:rPr lang="en-US" sz="1150" dirty="0">
                <a:solidFill>
                  <a:srgbClr val="2D2D2D"/>
                </a:solidFill>
              </a:rPr>
              <a:t>Fee rates and utility adoption must hit specific thresholds within a knowable timeframe</a:t>
            </a:r>
            <a:endParaRPr lang="en-US" sz="1150" dirty="0"/>
          </a:p>
          <a:p>
            <a:pPr marL="342900" indent="-342900">
              <a:spcAft>
                <a:spcPts val="600"/>
              </a:spcAft>
              <a:buSzPct val="100000"/>
              <a:buChar char="•"/>
            </a:pPr>
            <a:r>
              <a:rPr lang="en-US" sz="1150" dirty="0">
                <a:solidFill>
                  <a:srgbClr val="2D2D2D"/>
                </a:solidFill>
              </a:rPr>
              <a:t>v2 simulation must map the exact breakeven boundary</a:t>
            </a:r>
            <a:endParaRPr lang="en-US" sz="1150" dirty="0"/>
          </a:p>
        </p:txBody>
      </p:sp>
      <p:sp>
        <p:nvSpPr>
          <p:cNvPr id="11" name="Shape 9"/>
          <p:cNvSpPr/>
          <p:nvPr/>
        </p:nvSpPr>
        <p:spPr>
          <a:xfrm>
            <a:off x="4800600" y="2880360"/>
            <a:ext cx="3794760" cy="1737360"/>
          </a:xfrm>
          <a:prstGeom prst="roundRect">
            <a:avLst>
              <a:gd name="adj" fmla="val 421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029200" y="297180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it does not mean</a:t>
            </a:r>
            <a:endParaRPr lang="en-US" sz="1300" dirty="0"/>
          </a:p>
        </p:txBody>
      </p:sp>
      <p:sp>
        <p:nvSpPr>
          <p:cNvPr id="13" name="Text 11"/>
          <p:cNvSpPr/>
          <p:nvPr/>
        </p:nvSpPr>
        <p:spPr>
          <a:xfrm>
            <a:off x="5029200" y="3291840"/>
            <a:ext cx="3383280" cy="1188720"/>
          </a:xfrm>
          <a:prstGeom prst="rect">
            <a:avLst/>
          </a:prstGeom>
          <a:noFill/>
          <a:ln/>
        </p:spPr>
        <p:txBody>
          <a:bodyPr wrap="square" rtlCol="0" anchor="t"/>
          <a:lstStyle/>
          <a:p>
            <a:pPr marL="342900" indent="-342900">
              <a:spcAft>
                <a:spcPts val="600"/>
              </a:spcAft>
              <a:buSzPct val="100000"/>
              <a:buChar char="•"/>
            </a:pPr>
            <a:r>
              <a:rPr lang="en-US" sz="1150" dirty="0">
                <a:solidFill>
                  <a:srgbClr val="2D2D2D"/>
                </a:solidFill>
              </a:rPr>
              <a:t>The design is not broken. Every protocol bootstraps through subsidies</a:t>
            </a:r>
            <a:endParaRPr lang="en-US" sz="1150" dirty="0"/>
          </a:p>
          <a:p>
            <a:pPr marL="342900" indent="-342900">
              <a:spcAft>
                <a:spcPts val="600"/>
              </a:spcAft>
              <a:buSzPct val="100000"/>
              <a:buChar char="•"/>
            </a:pPr>
            <a:r>
              <a:rPr lang="en-US" sz="1150" dirty="0">
                <a:solidFill>
                  <a:srgbClr val="2D2D2D"/>
                </a:solidFill>
              </a:rPr>
              <a:t>The backstop mechanisms (automated throttle, AR top-up) are correctly designed</a:t>
            </a:r>
            <a:endParaRPr lang="en-US" sz="1150" dirty="0"/>
          </a:p>
          <a:p>
            <a:pPr marL="342900" indent="-342900">
              <a:spcAft>
                <a:spcPts val="600"/>
              </a:spcAft>
              <a:buSzPct val="100000"/>
              <a:buChar char="•"/>
            </a:pPr>
            <a:r>
              <a:rPr lang="en-US" sz="1150" dirty="0">
                <a:solidFill>
                  <a:srgbClr val="2D2D2D"/>
                </a:solidFill>
              </a:rPr>
              <a:t>The deficit is quantifiable and manageable with the right adoption trajectory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Operational Solvency &amp; Control System</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t>Under baseline parameters, 95% of randomized runs remained above the solvency floor. Fixed-settlement-ratio adversarial runs failed, while the dynamic settlement controller successfully maintained solvency.</a:t>
            </a:r>
            <a:endParaRPr lang="en-US" sz="1300" dirty="0"/>
          </a:p>
        </p:txBody>
      </p:sp>
      <p:sp>
        <p:nvSpPr>
          <p:cNvPr id="7" name="Shape 5"/>
          <p:cNvSpPr/>
          <p:nvPr/>
        </p:nvSpPr>
        <p:spPr>
          <a:xfrm>
            <a:off x="548640" y="2606040"/>
            <a:ext cx="804672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697480"/>
            <a:ext cx="7589520" cy="274320"/>
          </a:xfrm>
          <a:prstGeom prst="rect">
            <a:avLst/>
          </a:prstGeom>
          <a:noFill/>
          <a:ln/>
        </p:spPr>
        <p:txBody>
          <a:bodyPr wrap="square" lIns="0" tIns="0" rIns="0" bIns="0" rtlCol="0" anchor="ctr"/>
          <a:lstStyle/>
          <a:p>
            <a:pPr indent="0" marL="0">
              <a:buNone/>
            </a:pPr>
            <a:r>
              <a:t>Operational Advantage</a:t>
            </a:r>
            <a:endParaRPr lang="en-US" sz="1300" dirty="0"/>
          </a:p>
        </p:txBody>
      </p:sp>
      <p:sp>
        <p:nvSpPr>
          <p:cNvPr id="9" name="Text 7"/>
          <p:cNvSpPr/>
          <p:nvPr/>
        </p:nvSpPr>
        <p:spPr>
          <a:xfrm>
            <a:off x="777240" y="3063240"/>
            <a:ext cx="7589520" cy="1463040"/>
          </a:xfrm>
          <a:prstGeom prst="rect">
            <a:avLst/>
          </a:prstGeom>
          <a:noFill/>
          <a:ln/>
        </p:spPr>
        <p:txBody>
          <a:bodyPr wrap="square" rtlCol="0" anchor="t"/>
          <a:lstStyle/>
          <a:p>
            <a:pPr marL="342900" indent="-342900">
              <a:spcAft>
                <a:spcPts val="600"/>
              </a:spcAft>
              <a:buSzPct val="100000"/>
              <a:buChar char="•"/>
            </a:pPr>
            <a:r>
              <a:t>The settlement ratio serves as the primary operational lever for managing system stability under market volatility.</a:t>
            </a:r>
            <a:endParaRPr lang="en-US" sz="1200" dirty="0"/>
          </a:p>
          <a:p>
            <a:pPr marL="342900" indent="-342900">
              <a:spcAft>
                <a:spcPts val="600"/>
              </a:spcAft>
              <a:buSzPct val="100000"/>
              <a:buChar char="•"/>
            </a:pPr>
            <a:r>
              <a:t>The optimization engine has mapped the boundaries of the safe operating zone, indicating that the system remains stable under baseline conditions.</a:t>
            </a:r>
            <a:endParaRPr lang="en-US" sz="1200" dirty="0"/>
          </a:p>
          <a:p>
            <a:pPr marL="342900" indent="-342900">
              <a:spcAft>
                <a:spcPts val="600"/>
              </a:spcAft>
              <a:buSzPct val="100000"/>
              <a:buChar char="•"/>
            </a:pPr>
            <a:r>
              <a:t>This sensitivity simplifies ongoing risk management, allowing the operator to adjust the system parameters proactively.</a:t>
            </a:r>
            <a:endParaRPr lang="en-US" sz="1200" dirty="0"/>
          </a:p>
          <a:p>
            <a:pPr marL="342900" indent="-342900">
              <a:spcAft>
                <a:spcPts val="600"/>
              </a:spcAft>
              <a:buSzPct val="100000"/>
              <a:buChar char="•"/>
            </a:pPr>
            <a:r>
              <a:rPr lang="en-US" sz="1200" dirty="0">
                <a:solidFill>
                  <a:srgbClr val="2D2D2D"/>
                </a:solidFill>
              </a:rPr>
              <a:t>v2 simulation must explore the full range of this parameter, not just the optimizer's selection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Six Design Tensions and Scale/Regulatory Hypotheses</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Text 3"/>
          <p:cNvSpPr/>
          <p:nvPr/>
        </p:nvSpPr>
        <p:spPr>
          <a:xfrm>
            <a:off x="548640" y="1051560"/>
            <a:ext cx="8046720" cy="457200"/>
          </a:xfrm>
          <a:prstGeom prst="rect">
            <a:avLst/>
          </a:prstGeom>
          <a:noFill/>
          <a:ln/>
        </p:spPr>
        <p:txBody>
          <a:bodyPr wrap="square" lIns="0" tIns="0" rIns="0" bIns="0" rtlCol="0" anchor="ctr"/>
          <a:lstStyle/>
          <a:p>
            <a:pPr indent="0" marL="0">
              <a:buNone/>
            </a:pPr>
            <a:r>
              <a:rPr lang="en-US" sz="1200" i="1" dirty="0">
                <a:solidFill>
                  <a:srgbClr val="888888"/>
                </a:solidFill>
                <a:latin typeface="Calibri" pitchFamily="34" charset="0"/>
                <a:ea typeface="Calibri" pitchFamily="34" charset="-122"/>
                <a:cs typeface="Calibri" pitchFamily="34" charset="-120"/>
              </a:rPr>
              <a:t>The specification surfaced seven fundamental tensions between system objectives. These are not bugs or miscalibrations. They are structural tradeoffs that require conscious design decisions.</a:t>
            </a:r>
            <a:endParaRPr lang="en-US" sz="1200" dirty="0"/>
          </a:p>
        </p:txBody>
      </p:sp>
      <p:sp>
        <p:nvSpPr>
          <p:cNvPr id="6" name="Shape 4"/>
          <p:cNvSpPr/>
          <p:nvPr/>
        </p:nvSpPr>
        <p:spPr>
          <a:xfrm>
            <a:off x="548640" y="1664208"/>
            <a:ext cx="182880" cy="182880"/>
          </a:xfrm>
          <a:prstGeom prst="ellipse">
            <a:avLst/>
          </a:prstGeom>
          <a:solidFill>
            <a:srgbClr val="2EAA56"/>
          </a:solidFill>
          <a:ln/>
        </p:spPr>
        <p:txBody>
          <a:bodyPr/>
          <a:p/>
        </p:txBody>
      </p:sp>
      <p:sp>
        <p:nvSpPr>
          <p:cNvPr id="7" name="Text 5"/>
          <p:cNvSpPr/>
          <p:nvPr/>
        </p:nvSpPr>
        <p:spPr>
          <a:xfrm>
            <a:off x="868680" y="1600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Growing participation drains the reserve</a:t>
            </a:r>
            <a:endParaRPr lang="en-US" sz="1200" dirty="0"/>
          </a:p>
        </p:txBody>
      </p:sp>
      <p:sp>
        <p:nvSpPr>
          <p:cNvPr id="8" name="Shape 6"/>
          <p:cNvSpPr/>
          <p:nvPr/>
        </p:nvSpPr>
        <p:spPr>
          <a:xfrm>
            <a:off x="548640" y="2121408"/>
            <a:ext cx="182880" cy="182880"/>
          </a:xfrm>
          <a:prstGeom prst="ellipse">
            <a:avLst/>
          </a:prstGeom>
          <a:solidFill>
            <a:srgbClr val="2EAA56"/>
          </a:solidFill>
          <a:ln/>
        </p:spPr>
        <p:txBody>
          <a:bodyPr/>
          <a:p/>
        </p:txBody>
      </p:sp>
      <p:sp>
        <p:nvSpPr>
          <p:cNvPr id="9" name="Text 7"/>
          <p:cNvSpPr/>
          <p:nvPr/>
        </p:nvSpPr>
        <p:spPr>
          <a:xfrm>
            <a:off x="868680" y="2057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Utility spending competes with governance</a:t>
            </a:r>
            <a:endParaRPr lang="en-US" sz="1200" dirty="0"/>
          </a:p>
        </p:txBody>
      </p:sp>
      <p:sp>
        <p:nvSpPr>
          <p:cNvPr id="10" name="Shape 8"/>
          <p:cNvSpPr/>
          <p:nvPr/>
        </p:nvSpPr>
        <p:spPr>
          <a:xfrm>
            <a:off x="548640" y="2578608"/>
            <a:ext cx="182880" cy="182880"/>
          </a:xfrm>
          <a:prstGeom prst="ellipse">
            <a:avLst/>
          </a:prstGeom>
          <a:solidFill>
            <a:srgbClr val="2EAA56"/>
          </a:solidFill>
          <a:ln/>
        </p:spPr>
        <p:txBody>
          <a:bodyPr/>
          <a:p/>
        </p:txBody>
      </p:sp>
      <p:sp>
        <p:nvSpPr>
          <p:cNvPr id="11" name="Text 9"/>
          <p:cNvSpPr/>
          <p:nvPr/>
        </p:nvSpPr>
        <p:spPr>
          <a:xfrm>
            <a:off x="868680" y="25146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Brand activation creates regulatory risk</a:t>
            </a:r>
            <a:endParaRPr lang="en-US" sz="1200" dirty="0"/>
          </a:p>
        </p:txBody>
      </p:sp>
      <p:sp>
        <p:nvSpPr>
          <p:cNvPr id="12" name="Shape 10"/>
          <p:cNvSpPr/>
          <p:nvPr/>
        </p:nvSpPr>
        <p:spPr>
          <a:xfrm>
            <a:off x="548640" y="3035808"/>
            <a:ext cx="182880" cy="182880"/>
          </a:xfrm>
          <a:prstGeom prst="ellipse">
            <a:avLst/>
          </a:prstGeom>
          <a:solidFill>
            <a:srgbClr val="2EAA56"/>
          </a:solidFill>
          <a:ln/>
        </p:spPr>
        <p:txBody>
          <a:bodyPr/>
          <a:p/>
        </p:txBody>
      </p:sp>
      <p:sp>
        <p:nvSpPr>
          <p:cNvPr id="13" name="Text 11"/>
          <p:cNvSpPr/>
          <p:nvPr/>
        </p:nvSpPr>
        <p:spPr>
          <a:xfrm>
            <a:off x="868680" y="29718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Token velocity makes utility expensive</a:t>
            </a:r>
            <a:endParaRPr lang="en-US" sz="1200" dirty="0"/>
          </a:p>
        </p:txBody>
      </p:sp>
      <p:sp>
        <p:nvSpPr>
          <p:cNvPr id="14" name="Shape 12"/>
          <p:cNvSpPr/>
          <p:nvPr/>
        </p:nvSpPr>
        <p:spPr>
          <a:xfrm>
            <a:off x="548640" y="3493008"/>
            <a:ext cx="182880" cy="182880"/>
          </a:xfrm>
          <a:prstGeom prst="ellipse">
            <a:avLst/>
          </a:prstGeom>
          <a:solidFill>
            <a:srgbClr val="2EAA56"/>
          </a:solidFill>
          <a:ln/>
        </p:spPr>
        <p:txBody>
          <a:bodyPr/>
          <a:p/>
        </p:txBody>
      </p:sp>
      <p:sp>
        <p:nvSpPr>
          <p:cNvPr id="15" name="Text 13"/>
          <p:cNvSpPr/>
          <p:nvPr/>
        </p:nvSpPr>
        <p:spPr>
          <a:xfrm>
            <a:off x="868680" y="34290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Scaling participation weakens sybil defense</a:t>
            </a:r>
            <a:endParaRPr lang="en-US" sz="1200" dirty="0"/>
          </a:p>
        </p:txBody>
      </p:sp>
      <p:sp>
        <p:nvSpPr>
          <p:cNvPr id="16" name="Shape 14"/>
          <p:cNvSpPr/>
          <p:nvPr/>
        </p:nvSpPr>
        <p:spPr>
          <a:xfrm>
            <a:off x="548640" y="3950208"/>
            <a:ext cx="182880" cy="182880"/>
          </a:xfrm>
          <a:prstGeom prst="ellipse">
            <a:avLst/>
          </a:prstGeom>
          <a:solidFill>
            <a:srgbClr val="2EAA56"/>
          </a:solidFill>
          <a:ln/>
        </p:spPr>
        <p:txBody>
          <a:bodyPr/>
          <a:p/>
        </p:txBody>
      </p:sp>
      <p:sp>
        <p:nvSpPr>
          <p:cNvPr id="17" name="Text 15"/>
          <p:cNvSpPr/>
          <p:nvPr/>
        </p:nvSpPr>
        <p:spPr>
          <a:xfrm>
            <a:off x="868680" y="38862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Governance rigor causes voter fatigue</a:t>
            </a:r>
            <a:endParaRPr lang="en-US" sz="1200" dirty="0"/>
          </a:p>
        </p:txBody>
      </p:sp>
      <p:sp>
        <p:nvSpPr>
          <p:cNvPr id="18" name="Shape 16"/>
          <p:cNvSpPr/>
          <p:nvPr/>
        </p:nvSpPr>
        <p:spPr>
          <a:xfrm>
            <a:off x="548640" y="4407408"/>
            <a:ext cx="182880" cy="182880"/>
          </a:xfrm>
          <a:prstGeom prst="ellipse">
            <a:avLst/>
          </a:prstGeom>
          <a:solidFill>
            <a:srgbClr val="2EAA56"/>
          </a:solidFill>
          <a:ln/>
        </p:spPr>
        <p:txBody>
          <a:bodyPr/>
          <a:p/>
        </p:txBody>
      </p:sp>
      <p:sp>
        <p:nvSpPr>
          <p:cNvPr id="19" name="Text 17"/>
          <p:cNvSpPr/>
          <p:nvPr/>
        </p:nvSpPr>
        <p:spPr>
          <a:xfrm>
            <a:off x="868680" y="4343400"/>
            <a:ext cx="7726680" cy="32004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Billion-user onboarding creates cliff pressure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Treasury is the System's Central Nervous System</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4846320" cy="3474720"/>
          </a:xfrm>
          <a:prstGeom prst="roundRect">
            <a:avLst>
              <a:gd name="adj" fmla="val 2105"/>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4389120" cy="457200"/>
          </a:xfrm>
          <a:prstGeom prst="rect">
            <a:avLst/>
          </a:prstGeom>
          <a:noFill/>
          <a:ln/>
        </p:spPr>
        <p:txBody>
          <a:bodyPr wrap="square" lIns="0" tIns="0" rIns="0" bIns="0" rtlCol="0" anchor="ctr"/>
          <a:lstStyle/>
          <a:p>
            <a:pPr indent="0" marL="0">
              <a:buNone/>
            </a:pPr>
            <a:r>
              <a:t>Treasury serves as the system's central control hub, managing primary operational inflows and outflows.</a:t>
            </a:r>
            <a:endParaRPr lang="en-US" sz="1300" dirty="0"/>
          </a:p>
        </p:txBody>
      </p:sp>
      <p:sp>
        <p:nvSpPr>
          <p:cNvPr id="7" name="Text 5"/>
          <p:cNvSpPr/>
          <p:nvPr/>
        </p:nvSpPr>
        <p:spPr>
          <a:xfrm>
            <a:off x="777240" y="1783080"/>
            <a:ext cx="4389120" cy="2560320"/>
          </a:xfrm>
          <a:prstGeom prst="rect">
            <a:avLst/>
          </a:prstGeom>
          <a:noFill/>
          <a:ln/>
        </p:spPr>
        <p:txBody>
          <a:bodyPr wrap="square" rtlCol="0" anchor="t"/>
          <a:lstStyle/>
          <a:p>
            <a:pPr marL="342900" indent="-342900">
              <a:spcAft>
                <a:spcPts val="500"/>
              </a:spcAft>
              <a:buSzPct val="100000"/>
              <a:buChar char="•"/>
            </a:pPr>
            <a:r>
              <a:rPr lang="en-US" sz="1150" dirty="0">
                <a:solidFill>
                  <a:srgbClr val="2D2D2D"/>
                </a:solidFill>
              </a:rPr>
              <a:t>Receives: utility fees, campaign fees, slashing penalties, RWA fees</a:t>
            </a:r>
            <a:endParaRPr lang="en-US" sz="1150" dirty="0"/>
          </a:p>
          <a:p>
            <a:pPr marL="342900" indent="-342900">
              <a:spcAft>
                <a:spcPts val="500"/>
              </a:spcAft>
              <a:buSzPct val="100000"/>
              <a:buChar char="•"/>
            </a:pPr>
            <a:r>
              <a:rPr lang="en-US" sz="1150" dirty="0">
                <a:solidFill>
                  <a:srgbClr val="2D2D2D"/>
                </a:solidFill>
              </a:rPr>
              <a:t>Funds: audience recognition settlement, creator incentives, validator rewards, operations</a:t>
            </a:r>
            <a:endParaRPr lang="en-US" sz="1150" dirty="0"/>
          </a:p>
          <a:p>
            <a:pPr marL="342900" indent="-342900">
              <a:spcAft>
                <a:spcPts val="500"/>
              </a:spcAft>
              <a:buSzPct val="100000"/>
              <a:buChar char="•"/>
            </a:pPr>
            <a:r>
              <a:rPr lang="en-US" sz="1150" dirty="0">
                <a:solidFill>
                  <a:srgbClr val="2D2D2D"/>
                </a:solidFill>
              </a:rPr>
              <a:t>Controls: reserve top-up, incentive pool replenishment, all operational outflows</a:t>
            </a:r>
            <a:endParaRPr lang="en-US" sz="1150" dirty="0"/>
          </a:p>
          <a:p>
            <a:pPr indent="0" marL="0">
              <a:spcAft>
                <a:spcPts val="500"/>
              </a:spcAft>
              <a:buNone/>
            </a:pPr>
            <a:endParaRPr lang="en-US" sz="1150" dirty="0"/>
          </a:p>
          <a:p>
            <a:pPr indent="0" marL="0">
              <a:spcAft>
                <a:spcPts val="500"/>
              </a:spcAft>
              <a:buNone/>
            </a:pPr>
            <a:r>
              <a:rPr lang="en-US" sz="1150" b="1" dirty="0">
                <a:solidFill>
                  <a:srgbClr val="2D2D2D"/>
                </a:solidFill>
              </a:rPr>
              <a:t>This makes Treasury governance the single most consequential attack surface in the entire system. A governance capture of Treasury parameters is an existential event.</a:t>
            </a:r>
            <a:endParaRPr lang="en-US" sz="1150" dirty="0"/>
          </a:p>
        </p:txBody>
      </p:sp>
      <p:sp>
        <p:nvSpPr>
          <p:cNvPr id="8" name="Shape 6"/>
          <p:cNvSpPr/>
          <p:nvPr/>
        </p:nvSpPr>
        <p:spPr>
          <a:xfrm>
            <a:off x="5623560" y="1143000"/>
            <a:ext cx="2971800" cy="1600200"/>
          </a:xfrm>
          <a:prstGeom prst="roundRect">
            <a:avLst>
              <a:gd name="adj" fmla="val 4571"/>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5806440" y="123444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Integrity layer is the trust root</a:t>
            </a:r>
            <a:endParaRPr lang="en-US" sz="1200" dirty="0"/>
          </a:p>
        </p:txBody>
      </p:sp>
      <p:sp>
        <p:nvSpPr>
          <p:cNvPr id="10" name="Text 8"/>
          <p:cNvSpPr/>
          <p:nvPr/>
        </p:nvSpPr>
        <p:spPr>
          <a:xfrm>
            <a:off x="5806440" y="1554480"/>
            <a:ext cx="2606040" cy="105156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Verification is the only mechanism that does not depend on any other mechanism's output. If verification degrades, recognition, campaigns, and governance all lose credibility at once.</a:t>
            </a:r>
            <a:endParaRPr lang="en-US" sz="1050" dirty="0"/>
          </a:p>
        </p:txBody>
      </p:sp>
      <p:sp>
        <p:nvSpPr>
          <p:cNvPr id="11" name="Shape 9"/>
          <p:cNvSpPr/>
          <p:nvPr/>
        </p:nvSpPr>
        <p:spPr>
          <a:xfrm>
            <a:off x="5623560" y="2926080"/>
            <a:ext cx="2971800" cy="1691640"/>
          </a:xfrm>
          <a:prstGeom prst="roundRect">
            <a:avLst>
              <a:gd name="adj" fmla="val 432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806440" y="3017520"/>
            <a:ext cx="260604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Settlement gate is the load-bearing bridge</a:t>
            </a:r>
            <a:endParaRPr lang="en-US" sz="1200" dirty="0"/>
          </a:p>
        </p:txBody>
      </p:sp>
      <p:sp>
        <p:nvSpPr>
          <p:cNvPr id="13" name="Text 11"/>
          <p:cNvSpPr/>
          <p:nvPr/>
        </p:nvSpPr>
        <p:spPr>
          <a:xfrm>
            <a:off x="5806440" y="3337560"/>
            <a:ext cx="2606040" cy="1097280"/>
          </a:xfrm>
          <a:prstGeom prst="rect">
            <a:avLst/>
          </a:prstGeom>
          <a:noFill/>
          <a:ln/>
        </p:spPr>
        <p:txBody>
          <a:bodyPr wrap="square" lIns="0" tIns="0" rIns="0" bIns="0" rtlCol="0" anchor="t"/>
          <a:lstStyle/>
          <a:p>
            <a:pPr indent="0" marL="0">
              <a:buNone/>
            </a:pPr>
            <a:r>
              <a:rPr lang="en-US" sz="1050" dirty="0">
                <a:solidFill>
                  <a:srgbClr val="2D2D2D"/>
                </a:solidFill>
                <a:latin typeface="Calibri" pitchFamily="34" charset="0"/>
                <a:ea typeface="Calibri" pitchFamily="34" charset="-122"/>
                <a:cs typeface="Calibri" pitchFamily="34" charset="-120"/>
              </a:rPr>
              <a:t>The settlement mechanism is the only connection between the audience economy (ACR credits) and the token economy (Z1U). Every other mechanism operates within one economy only. The dual-economy design succeeds or fails at this single gate.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Zee's Scale Creates Unique Pressure the Model Must Handle</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274320"/>
          </a:xfrm>
          <a:prstGeom prst="rect">
            <a:avLst/>
          </a:prstGeom>
          <a:noFill/>
          <a:ln/>
        </p:spPr>
        <p:txBody>
          <a:bodyPr wrap="square" lIns="0" tIns="0" rIns="0" bIns="0" rtlCol="0" anchor="ctr"/>
          <a:lstStyle/>
          <a:p>
            <a:pPr indent="0" marL="0">
              <a:buNone/>
            </a:pPr>
            <a:r>
              <a:rPr lang="en-US" sz="1400" b="1" dirty="0">
                <a:solidFill>
                  <a:srgbClr val="2EAA56"/>
                </a:solidFill>
                <a:latin typeface="Calibri" pitchFamily="34" charset="0"/>
                <a:ea typeface="Calibri" pitchFamily="34" charset="-122"/>
                <a:cs typeface="Calibri" pitchFamily="34" charset="-120"/>
              </a:rPr>
              <a:t>The cohort pressure problem</a:t>
            </a:r>
            <a:endParaRPr lang="en-US" sz="1400" dirty="0"/>
          </a:p>
        </p:txBody>
      </p:sp>
      <p:sp>
        <p:nvSpPr>
          <p:cNvPr id="7" name="Text 5"/>
          <p:cNvSpPr/>
          <p:nvPr/>
        </p:nvSpPr>
        <p:spPr>
          <a:xfrm>
            <a:off x="777240" y="1554480"/>
            <a:ext cx="7589520" cy="868680"/>
          </a:xfrm>
          <a:prstGeom prst="rect">
            <a:avLst/>
          </a:prstGeom>
          <a:noFill/>
          <a:ln/>
        </p:spPr>
        <p:txBody>
          <a:bodyPr wrap="square" lIns="0" tIns="0" rIns="0" bIns="0" rtlCol="0" anchor="t"/>
          <a:lstStyle/>
          <a:p>
            <a:pPr indent="0" marL="0">
              <a:buNone/>
            </a:pPr>
            <a:r>
              <a:rPr lang="en-US" sz="1200" dirty="0">
                <a:solidFill>
                  <a:srgbClr val="2D2D2D"/>
                </a:solidFill>
                <a:latin typeface="Calibri" pitchFamily="34" charset="0"/>
                <a:ea typeface="Calibri" pitchFamily="34" charset="-122"/>
                <a:cs typeface="Calibri" pitchFamily="34" charset="-120"/>
              </a:rPr>
              <a:t>With 900M+ Zee viewers as the target audience, even a modest claim conversion rate produces tens of millions of simultaneous onboardings. Because vesting has a fixed cliff period, all users in a cohort become eligible for settlement at roughly the same time. This creates a demand spike orders of magnitude above steady state that the Audience Reserve must absorb.</a:t>
            </a:r>
            <a:endParaRPr lang="en-US" sz="1200" dirty="0"/>
          </a:p>
        </p:txBody>
      </p:sp>
      <p:sp>
        <p:nvSpPr>
          <p:cNvPr id="8" name="Shape 6"/>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926080"/>
            <a:ext cx="3383280" cy="274320"/>
          </a:xfrm>
          <a:prstGeom prst="rect">
            <a:avLst/>
          </a:prstGeom>
          <a:noFill/>
          <a:ln/>
        </p:spPr>
        <p:txBody>
          <a:bodyPr wrap="square" lIns="0" tIns="0" rIns="0" bIns="0" rtlCol="0" anchor="ctr"/>
          <a:lstStyle/>
          <a:p>
            <a:pPr indent="0" marL="0">
              <a:buNone/>
            </a:pPr>
            <a:r>
              <a:t>Tested Scale vs. Production Target</a:t>
            </a:r>
            <a:endParaRPr lang="en-US" sz="1200" dirty="0"/>
          </a:p>
        </p:txBody>
      </p:sp>
      <p:sp>
        <p:nvSpPr>
          <p:cNvPr id="10" name="Text 8"/>
          <p:cNvSpPr/>
          <p:nvPr/>
        </p:nvSpPr>
        <p:spPr>
          <a:xfrm>
            <a:off x="777240" y="3246120"/>
            <a:ext cx="3383280" cy="1188720"/>
          </a:xfrm>
          <a:prstGeom prst="rect">
            <a:avLst/>
          </a:prstGeom>
          <a:noFill/>
          <a:ln/>
        </p:spPr>
        <p:txBody>
          <a:bodyPr wrap="square" lIns="0" tIns="0" rIns="0" bIns="0" rtlCol="0" anchor="t"/>
          <a:lstStyle/>
          <a:p>
            <a:pPr indent="0" marL="0">
              <a:buNone/>
            </a:pPr>
            <a:r>
              <a:t>Simulation ran at 1M initial viewers with 4-epoch compressed vesting. Production spec (180-day cliff, 730-day linear, 90-day stagger) and 900M+ scale will be validated in v2.</a:t>
            </a:r>
            <a:endParaRPr lang="en-US" sz="1100" dirty="0"/>
          </a:p>
        </p:txBody>
      </p:sp>
      <p:sp>
        <p:nvSpPr>
          <p:cNvPr id="11" name="Shape 9"/>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Z1-specific</a:t>
            </a:r>
            <a:endParaRPr lang="en-US" sz="1200" dirty="0"/>
          </a:p>
        </p:txBody>
      </p:sp>
      <p:sp>
        <p:nvSpPr>
          <p:cNvPr id="13" name="Text 11"/>
          <p:cNvSpPr/>
          <p:nvPr/>
        </p:nvSpPr>
        <p:spPr>
          <a:xfrm>
            <a:off x="5029200" y="3246120"/>
            <a:ext cx="3383280" cy="1188720"/>
          </a:xfrm>
          <a:prstGeom prst="rect">
            <a:avLst/>
          </a:prstGeom>
          <a:noFill/>
          <a:ln/>
        </p:spPr>
        <p:txBody>
          <a:bodyPr wrap="square" lIns="0" tIns="0" rIns="0" bIns="0" rtlCol="0" anchor="t"/>
          <a:lstStyle/>
          <a:p>
            <a:pPr indent="0" marL="0">
              <a:buNone/>
            </a:pPr>
            <a:r>
              <a:rPr lang="en-US" sz="1100" dirty="0">
                <a:solidFill>
                  <a:srgbClr val="2D2D2D"/>
                </a:solidFill>
                <a:latin typeface="Calibri" pitchFamily="34" charset="0"/>
                <a:ea typeface="Calibri" pitchFamily="34" charset="-122"/>
                <a:cs typeface="Calibri" pitchFamily="34" charset="-120"/>
              </a:rPr>
              <a:t>Most token economies onboard users gradually. Z1's media audience creates the possibility of mass simultaneous onboarding through broadcast events, marketing pushes, or viral moments. The reserve and settlement mechanics must be designed for this reality, not against a generic growth curve.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Core Mechanics Implemented; Empirical Calibration Needed</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188720"/>
          </a:xfrm>
          <a:prstGeom prst="roundRect">
            <a:avLst>
              <a:gd name="adj" fmla="val 6154"/>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1005840"/>
          </a:xfrm>
          <a:prstGeom prst="rect">
            <a:avLst/>
          </a:prstGeom>
          <a:noFill/>
          <a:ln/>
        </p:spPr>
        <p:txBody>
          <a:bodyPr wrap="square" lIns="0" tIns="0" rIns="0" bIns="0" rtlCol="0" anchor="ctr"/>
          <a:lstStyle/>
          <a:p>
            <a:pPr indent="0" marL="0">
              <a:buNone/>
            </a:pPr>
            <a:r>
              <a:t>The core mechanics are implemented and consistent at simulation scale. Empirical calibration and scale validation using Zee audience data remain as next steps.</a:t>
            </a:r>
            <a:endParaRPr lang="en-US" sz="1300" dirty="0"/>
          </a:p>
        </p:txBody>
      </p:sp>
      <p:sp>
        <p:nvSpPr>
          <p:cNvPr id="7" name="Shape 5"/>
          <p:cNvSpPr/>
          <p:nvPr/>
        </p:nvSpPr>
        <p:spPr>
          <a:xfrm>
            <a:off x="54864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697480"/>
            <a:ext cx="3383280" cy="274320"/>
          </a:xfrm>
          <a:prstGeom prst="rect">
            <a:avLst/>
          </a:prstGeom>
          <a:noFill/>
          <a:ln/>
        </p:spPr>
        <p:txBody>
          <a:bodyPr wrap="square" lIns="0" tIns="0" rIns="0" bIns="0" rtlCol="0" anchor="ctr"/>
          <a:lstStyle/>
          <a:p>
            <a:pPr indent="0" marL="0">
              <a:buNone/>
            </a:pPr>
            <a:r>
              <a:t>The Calibration Advantage</a:t>
            </a:r>
            <a:endParaRPr lang="en-US" sz="1300" dirty="0"/>
          </a:p>
        </p:txBody>
      </p:sp>
      <p:sp>
        <p:nvSpPr>
          <p:cNvPr id="9" name="Text 7"/>
          <p:cNvSpPr/>
          <p:nvPr/>
        </p:nvSpPr>
        <p:spPr>
          <a:xfrm>
            <a:off x="777240" y="3063240"/>
            <a:ext cx="3383280" cy="1371600"/>
          </a:xfrm>
          <a:prstGeom prst="rect">
            <a:avLst/>
          </a:prstGeom>
          <a:noFill/>
          <a:ln/>
        </p:spPr>
        <p:txBody>
          <a:bodyPr wrap="square" rtlCol="0" anchor="t"/>
          <a:lstStyle/>
          <a:p>
            <a:pPr marL="342900" indent="-342900">
              <a:spcAft>
                <a:spcPts val="600"/>
              </a:spcAft>
              <a:buSzPct val="100000"/>
              <a:buChar char="•"/>
            </a:pPr>
            <a:r>
              <a:t>We can transition from a verified theoretical model to an evidence-based economy using Zee's actual historical audience behavioral patterns.</a:t>
            </a:r>
            <a:endParaRPr lang="en-US" sz="1100" dirty="0"/>
          </a:p>
          <a:p>
            <a:pPr marL="342900" indent="-342900">
              <a:spcAft>
                <a:spcPts val="600"/>
              </a:spcAft>
              <a:buSzPct val="100000"/>
              <a:buChar char="•"/>
            </a:pPr>
            <a:r>
              <a:t>Zee's extensive audience data provides direct, empirical proxies for claim, settlement, and spending behavior.</a:t>
            </a:r>
            <a:endParaRPr lang="en-US" sz="1100" dirty="0"/>
          </a:p>
          <a:p>
            <a:pPr marL="342900" indent="-342900">
              <a:spcAft>
                <a:spcPts val="600"/>
              </a:spcAft>
              <a:buSzPct val="100000"/>
              <a:buChar char="•"/>
            </a:pPr>
            <a:r>
              <a:t>v2 will perform broad sensitivity analysis and parameter sweeps to map the complete safe operating region.</a:t>
            </a:r>
            <a:endParaRPr lang="en-US" sz="1100" dirty="0"/>
          </a:p>
        </p:txBody>
      </p:sp>
      <p:sp>
        <p:nvSpPr>
          <p:cNvPr id="10" name="Shape 8"/>
          <p:cNvSpPr/>
          <p:nvPr/>
        </p:nvSpPr>
        <p:spPr>
          <a:xfrm>
            <a:off x="4800600" y="2606040"/>
            <a:ext cx="3794760" cy="2011680"/>
          </a:xfrm>
          <a:prstGeom prst="roundRect">
            <a:avLst>
              <a:gd name="adj" fmla="val 3636"/>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1" name="Text 9"/>
          <p:cNvSpPr/>
          <p:nvPr/>
        </p:nvSpPr>
        <p:spPr>
          <a:xfrm>
            <a:off x="5029200" y="2697480"/>
            <a:ext cx="3383280" cy="274320"/>
          </a:xfrm>
          <a:prstGeom prst="rect">
            <a:avLst/>
          </a:prstGeom>
          <a:noFill/>
          <a:ln/>
        </p:spPr>
        <p:txBody>
          <a:bodyPr wrap="square" lIns="0" tIns="0" rIns="0" bIns="0" rtlCol="0" anchor="ctr"/>
          <a:lstStyle/>
          <a:p>
            <a:pPr indent="0" marL="0">
              <a:buNone/>
            </a:pPr>
            <a:r>
              <a:rPr lang="en-US" sz="1300" b="1" dirty="0">
                <a:solidFill>
                  <a:srgbClr val="2EAA56"/>
                </a:solidFill>
                <a:latin typeface="Calibri" pitchFamily="34" charset="0"/>
                <a:ea typeface="Calibri" pitchFamily="34" charset="-122"/>
                <a:cs typeface="Calibri" pitchFamily="34" charset="-120"/>
              </a:rPr>
              <a:t>What Zee can provide</a:t>
            </a:r>
            <a:endParaRPr lang="en-US" sz="1300" dirty="0"/>
          </a:p>
        </p:txBody>
      </p:sp>
      <p:sp>
        <p:nvSpPr>
          <p:cNvPr id="12" name="Text 10"/>
          <p:cNvSpPr/>
          <p:nvPr/>
        </p:nvSpPr>
        <p:spPr>
          <a:xfrm>
            <a:off x="5029200" y="3063240"/>
            <a:ext cx="3383280" cy="1371600"/>
          </a:xfrm>
          <a:prstGeom prst="rect">
            <a:avLst/>
          </a:prstGeom>
          <a:noFill/>
          <a:ln/>
        </p:spPr>
        <p:txBody>
          <a:bodyPr wrap="square" rtlCol="0" anchor="t"/>
          <a:lstStyle/>
          <a:p>
            <a:pPr marL="342900" indent="-342900">
              <a:spcAft>
                <a:spcPts val="600"/>
              </a:spcAft>
              <a:buSzPct val="100000"/>
              <a:buChar char="•"/>
            </a:pPr>
            <a:r>
              <a:rPr lang="en-US" sz="1100" dirty="0">
                <a:solidFill>
                  <a:srgbClr val="2D2D2D"/>
                </a:solidFill>
              </a:rPr>
              <a:t>Real engagement patterns from 900M+ users: viewing frequency, session depth, content interaction</a:t>
            </a:r>
            <a:endParaRPr lang="en-US" sz="1100" dirty="0"/>
          </a:p>
          <a:p>
            <a:pPr marL="342900" indent="-342900">
              <a:spcAft>
                <a:spcPts val="600"/>
              </a:spcAft>
              <a:buSzPct val="100000"/>
              <a:buChar char="•"/>
            </a:pPr>
            <a:r>
              <a:rPr lang="en-US" sz="1100" dirty="0">
                <a:solidFill>
                  <a:srgbClr val="2D2D2D"/>
                </a:solidFill>
              </a:rPr>
              <a:t>Loyalty program redemption rates and timing (closest proxy to settlement behavior)</a:t>
            </a:r>
            <a:endParaRPr lang="en-US" sz="1100" dirty="0"/>
          </a:p>
          <a:p>
            <a:pPr marL="342900" indent="-342900">
              <a:spcAft>
                <a:spcPts val="600"/>
              </a:spcAft>
              <a:buSzPct val="100000"/>
              <a:buChar char="•"/>
            </a:pPr>
            <a:r>
              <a:rPr lang="en-US" sz="1100" dirty="0">
                <a:solidFill>
                  <a:srgbClr val="2D2D2D"/>
                </a:solidFill>
              </a:rPr>
              <a:t>Audience segmentation data to build grounded agent archetypes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t>Parameter Guardrails: Tested Conditions and Open Validation Items</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005840"/>
          </a:xfrm>
          <a:prstGeom prst="roundRect">
            <a:avLst>
              <a:gd name="adj" fmla="val 7273"/>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822960"/>
          </a:xfrm>
          <a:prstGeom prst="rect">
            <a:avLst/>
          </a:prstGeom>
          <a:noFill/>
          <a:ln/>
        </p:spPr>
        <p:txBody>
          <a:bodyPr wrap="square" lIns="0" tIns="0" rIns="0" bIns="0" rtlCol="0" anchor="ctr"/>
          <a:lstStyle/>
          <a:p>
            <a:pPr indent="0" marL="0">
              <a:buNone/>
            </a:pPr>
            <a:r>
              <a:t>Z1's economic security is protected by mathematically verified invariant locks. Direct code-level constraints block parameter changes that violate tested solvency bounds.</a:t>
            </a:r>
            <a:endParaRPr lang="en-US" sz="1300" dirty="0"/>
          </a:p>
        </p:txBody>
      </p:sp>
      <p:sp>
        <p:nvSpPr>
          <p:cNvPr id="7" name="Shape 5"/>
          <p:cNvSpPr/>
          <p:nvPr/>
        </p:nvSpPr>
        <p:spPr>
          <a:xfrm>
            <a:off x="548640" y="23774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8" name="Text 6"/>
          <p:cNvSpPr/>
          <p:nvPr/>
        </p:nvSpPr>
        <p:spPr>
          <a:xfrm>
            <a:off x="777240" y="2432304"/>
            <a:ext cx="2286000" cy="274320"/>
          </a:xfrm>
          <a:prstGeom prst="rect">
            <a:avLst/>
          </a:prstGeom>
          <a:noFill/>
          <a:ln/>
        </p:spPr>
        <p:txBody>
          <a:bodyPr wrap="square" lIns="0" tIns="0" rIns="0" bIns="0" rtlCol="0" anchor="ctr"/>
          <a:lstStyle/>
          <a:p>
            <a:pPr indent="0" marL="0">
              <a:buNone/>
            </a:pPr>
            <a:r>
              <a:t>Lock L1: Solvency Invariant (Tested)</a:t>
            </a:r>
            <a:endParaRPr lang="en-US" sz="1200" dirty="0"/>
          </a:p>
        </p:txBody>
      </p:sp>
      <p:sp>
        <p:nvSpPr>
          <p:cNvPr id="9" name="Text 7"/>
          <p:cNvSpPr/>
          <p:nvPr/>
        </p:nvSpPr>
        <p:spPr>
          <a:xfrm>
            <a:off x="3108960" y="2432304"/>
            <a:ext cx="2743200" cy="640080"/>
          </a:xfrm>
          <a:prstGeom prst="rect">
            <a:avLst/>
          </a:prstGeom>
          <a:noFill/>
          <a:ln/>
        </p:spPr>
        <p:txBody>
          <a:bodyPr wrap="square" lIns="0" tIns="0" rIns="0" bIns="0" rtlCol="0" anchor="t"/>
          <a:lstStyle/>
          <a:p>
            <a:pPr indent="0" marL="0">
              <a:buNone/>
            </a:pPr>
            <a:r>
              <a:t>Continuously monitors the system-wide outflow-to-inflow ratio (outflow / inflow).</a:t>
            </a:r>
            <a:endParaRPr lang="en-US" sz="1000" dirty="0"/>
          </a:p>
        </p:txBody>
      </p:sp>
      <p:sp>
        <p:nvSpPr>
          <p:cNvPr id="10" name="Text 8"/>
          <p:cNvSpPr/>
          <p:nvPr/>
        </p:nvSpPr>
        <p:spPr>
          <a:xfrm>
            <a:off x="5943600" y="2432304"/>
            <a:ext cx="2468880" cy="640080"/>
          </a:xfrm>
          <a:prstGeom prst="rect">
            <a:avLst/>
          </a:prstGeom>
          <a:noFill/>
          <a:ln/>
        </p:spPr>
        <p:txBody>
          <a:bodyPr wrap="square" lIns="0" tIns="0" rIns="0" bIns="0" rtlCol="0" anchor="t"/>
          <a:lstStyle/>
          <a:p>
            <a:pPr indent="0" marL="0">
              <a:buNone/>
            </a:pPr>
            <a:r>
              <a:t>Blocks any operational drift that pushes the ratio above 1.0; baseline runs passed at 95%, while fixed-SR adversarial runs failed.</a:t>
            </a:r>
            <a:endParaRPr lang="en-US" sz="1000" dirty="0"/>
          </a:p>
        </p:txBody>
      </p:sp>
      <p:sp>
        <p:nvSpPr>
          <p:cNvPr id="11" name="Shape 9"/>
          <p:cNvSpPr/>
          <p:nvPr/>
        </p:nvSpPr>
        <p:spPr>
          <a:xfrm>
            <a:off x="548640" y="32461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777240" y="3300984"/>
            <a:ext cx="2286000" cy="274320"/>
          </a:xfrm>
          <a:prstGeom prst="rect">
            <a:avLst/>
          </a:prstGeom>
          <a:noFill/>
          <a:ln/>
        </p:spPr>
        <p:txBody>
          <a:bodyPr wrap="square" lIns="0" tIns="0" rIns="0" bIns="0" rtlCol="0" anchor="ctr"/>
          <a:lstStyle/>
          <a:p>
            <a:pPr indent="0" marL="0">
              <a:buNone/>
            </a:pPr>
            <a:r>
              <a:t>Lock L3: Brand Inflow Floor (Scale-Calibrated)</a:t>
            </a:r>
            <a:endParaRPr lang="en-US" sz="1200" dirty="0"/>
          </a:p>
        </p:txBody>
      </p:sp>
      <p:sp>
        <p:nvSpPr>
          <p:cNvPr id="13" name="Text 11"/>
          <p:cNvSpPr/>
          <p:nvPr/>
        </p:nvSpPr>
        <p:spPr>
          <a:xfrm>
            <a:off x="3108960" y="3300984"/>
            <a:ext cx="2743200" cy="640080"/>
          </a:xfrm>
          <a:prstGeom prst="rect">
            <a:avLst/>
          </a:prstGeom>
          <a:noFill/>
          <a:ln/>
        </p:spPr>
        <p:txBody>
          <a:bodyPr wrap="square" lIns="0" tIns="0" rIns="0" bIns="0" rtlCol="0" anchor="t"/>
          <a:lstStyle/>
          <a:p>
            <a:pPr indent="0" marL="0">
              <a:buNone/>
            </a:pPr>
            <a:r>
              <a:t>Enforces that epoch brand inflows must represent &gt;= 1.0% of the initial Audience Reserve (calibrated for simulation scale).</a:t>
            </a:r>
            <a:endParaRPr lang="en-US" sz="1000" dirty="0"/>
          </a:p>
        </p:txBody>
      </p:sp>
      <p:sp>
        <p:nvSpPr>
          <p:cNvPr id="14" name="Text 12"/>
          <p:cNvSpPr/>
          <p:nvPr/>
        </p:nvSpPr>
        <p:spPr>
          <a:xfrm>
            <a:off x="5943600" y="3300984"/>
            <a:ext cx="2468880" cy="640080"/>
          </a:xfrm>
          <a:prstGeom prst="rect">
            <a:avLst/>
          </a:prstGeom>
          <a:noFill/>
          <a:ln/>
        </p:spPr>
        <p:txBody>
          <a:bodyPr wrap="square" lIns="0" tIns="0" rIns="0" bIns="0" rtlCol="0" anchor="t"/>
          <a:lstStyle/>
          <a:p>
            <a:pPr indent="0" marL="0">
              <a:buNone/>
            </a:pPr>
            <a:r>
              <a:t>Guarantees the reserve maintains a continuous liquidity buffer to prevent starvation under stress.</a:t>
            </a:r>
            <a:endParaRPr lang="en-US" sz="1000" dirty="0"/>
          </a:p>
        </p:txBody>
      </p:sp>
      <p:sp>
        <p:nvSpPr>
          <p:cNvPr id="15" name="Shape 13"/>
          <p:cNvSpPr/>
          <p:nvPr/>
        </p:nvSpPr>
        <p:spPr>
          <a:xfrm>
            <a:off x="548640" y="411480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6" name="Text 14"/>
          <p:cNvSpPr/>
          <p:nvPr/>
        </p:nvSpPr>
        <p:spPr>
          <a:xfrm>
            <a:off x="777240" y="4169664"/>
            <a:ext cx="2286000" cy="274320"/>
          </a:xfrm>
          <a:prstGeom prst="rect">
            <a:avLst/>
          </a:prstGeom>
          <a:noFill/>
          <a:ln/>
        </p:spPr>
        <p:txBody>
          <a:bodyPr wrap="square" lIns="0" tIns="0" rIns="0" bIns="0" rtlCol="0" anchor="ctr"/>
          <a:lstStyle/>
          <a:p>
            <a:pPr indent="0" marL="0">
              <a:buNone/>
            </a:pPr>
            <a:r>
              <a:t>Formal Economic Invariants</a:t>
            </a:r>
            <a:endParaRPr lang="en-US" sz="1200" dirty="0"/>
          </a:p>
        </p:txBody>
      </p:sp>
      <p:sp>
        <p:nvSpPr>
          <p:cNvPr id="17" name="Text 15"/>
          <p:cNvSpPr/>
          <p:nvPr/>
        </p:nvSpPr>
        <p:spPr>
          <a:xfrm>
            <a:off x="3108960" y="4169664"/>
            <a:ext cx="2743200" cy="640080"/>
          </a:xfrm>
          <a:prstGeom prst="rect">
            <a:avLst/>
          </a:prstGeom>
          <a:noFill/>
          <a:ln/>
        </p:spPr>
        <p:txBody>
          <a:bodyPr wrap="square" lIns="0" tIns="0" rIns="0" bIns="0" rtlCol="0" anchor="t"/>
          <a:lstStyle/>
          <a:p>
            <a:pPr indent="0" marL="0">
              <a:buNone/>
            </a:pPr>
            <a:r>
              <a:t>Locks are coded directly into the system runtime and verified as economic invariants every epoch.</a:t>
            </a:r>
            <a:endParaRPr lang="en-US" sz="1000" dirty="0"/>
          </a:p>
        </p:txBody>
      </p:sp>
      <p:sp>
        <p:nvSpPr>
          <p:cNvPr id="18" name="Text 16"/>
          <p:cNvSpPr/>
          <p:nvPr/>
        </p:nvSpPr>
        <p:spPr>
          <a:xfrm>
            <a:off x="5943600" y="4169664"/>
            <a:ext cx="2468880" cy="640080"/>
          </a:xfrm>
          <a:prstGeom prst="rect">
            <a:avLst/>
          </a:prstGeom>
          <a:noFill/>
          <a:ln/>
        </p:spPr>
        <p:txBody>
          <a:bodyPr wrap="square" lIns="0" tIns="0" rIns="0" bIns="0" rtlCol="0" anchor="t"/>
          <a:lstStyle/>
          <a:p>
            <a:pPr indent="0" marL="0">
              <a:buNone/>
            </a:pPr>
            <a:r>
              <a:t>Ensures that tested parameter adjustments cannot trigger an economic collapse under baseline conditions.</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v2 Simulation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09728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16128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Broader sensitivity analysis and parameter sweeps</a:t>
            </a:r>
            <a:endParaRPr lang="en-US" sz="1200" dirty="0"/>
          </a:p>
        </p:txBody>
      </p:sp>
      <p:sp>
        <p:nvSpPr>
          <p:cNvPr id="7" name="Text 5"/>
          <p:cNvSpPr/>
          <p:nvPr/>
        </p:nvSpPr>
        <p:spPr>
          <a:xfrm>
            <a:off x="777240" y="144475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Target all high-sensitivity control points independently and in combination. Map the full safe operating region, not just the optimizer's single point.</a:t>
            </a:r>
            <a:endParaRPr lang="en-US" sz="1050" dirty="0"/>
          </a:p>
        </p:txBody>
      </p:sp>
      <p:sp>
        <p:nvSpPr>
          <p:cNvPr id="8" name="Shape 6"/>
          <p:cNvSpPr/>
          <p:nvPr/>
        </p:nvSpPr>
        <p:spPr>
          <a:xfrm>
            <a:off x="548640" y="196596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9" name="Text 7"/>
          <p:cNvSpPr/>
          <p:nvPr/>
        </p:nvSpPr>
        <p:spPr>
          <a:xfrm>
            <a:off x="777240" y="2029968"/>
            <a:ext cx="7589520" cy="256032"/>
          </a:xfrm>
          <a:prstGeom prst="rect">
            <a:avLst/>
          </a:prstGeom>
          <a:noFill/>
          <a:ln/>
        </p:spPr>
        <p:txBody>
          <a:bodyPr wrap="square" lIns="0" tIns="0" rIns="0" bIns="0"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Behavioral calibration from Zee audience data</a:t>
            </a:r>
            <a:endParaRPr lang="en-US" sz="1200" dirty="0"/>
          </a:p>
        </p:txBody>
      </p:sp>
      <p:sp>
        <p:nvSpPr>
          <p:cNvPr id="10" name="Text 8"/>
          <p:cNvSpPr/>
          <p:nvPr/>
        </p:nvSpPr>
        <p:spPr>
          <a:xfrm>
            <a:off x="777240" y="231343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Replace placeholder agent profiles with empirically grounded archetypes. Zee's engagement history provides direct proxies for claim, settlement, and spending behavior.</a:t>
            </a:r>
            <a:endParaRPr lang="en-US" sz="1050" dirty="0"/>
          </a:p>
        </p:txBody>
      </p:sp>
      <p:sp>
        <p:nvSpPr>
          <p:cNvPr id="11" name="Shape 9"/>
          <p:cNvSpPr/>
          <p:nvPr/>
        </p:nvSpPr>
        <p:spPr>
          <a:xfrm>
            <a:off x="548640" y="283464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2" name="Text 10"/>
          <p:cNvSpPr/>
          <p:nvPr/>
        </p:nvSpPr>
        <p:spPr>
          <a:xfrm>
            <a:off x="777240" y="2898648"/>
            <a:ext cx="7589520" cy="256032"/>
          </a:xfrm>
          <a:prstGeom prst="rect">
            <a:avLst/>
          </a:prstGeom>
          <a:noFill/>
          <a:ln/>
        </p:spPr>
        <p:txBody>
          <a:bodyPr wrap="square" lIns="0" tIns="0" rIns="0" bIns="0" rtlCol="0" anchor="ctr"/>
          <a:lstStyle/>
          <a:p>
            <a:pPr indent="0" marL="0">
              <a:buNone/>
            </a:pPr>
            <a:r>
              <a:t>Advanced stress-testing and resilience mapping</a:t>
            </a:r>
            <a:endParaRPr lang="en-US" sz="1200" dirty="0"/>
          </a:p>
        </p:txBody>
      </p:sp>
      <p:sp>
        <p:nvSpPr>
          <p:cNvPr id="13" name="Text 11"/>
          <p:cNvSpPr/>
          <p:nvPr/>
        </p:nvSpPr>
        <p:spPr>
          <a:xfrm>
            <a:off x="777240" y="3182112"/>
            <a:ext cx="7589520" cy="347472"/>
          </a:xfrm>
          <a:prstGeom prst="rect">
            <a:avLst/>
          </a:prstGeom>
          <a:noFill/>
          <a:ln/>
        </p:spPr>
        <p:txBody>
          <a:bodyPr wrap="square" lIns="0" tIns="0" rIns="0" bIns="0" rtlCol="0" anchor="ctr"/>
          <a:lstStyle/>
          <a:p>
            <a:pPr indent="0" marL="0">
              <a:buNone/>
            </a:pPr>
            <a:r>
              <a:rPr lang="en-US" sz="1050" dirty="0">
                <a:solidFill>
                  <a:srgbClr val="888888"/>
                </a:solidFill>
                <a:latin typeface="Calibri" pitchFamily="34" charset="0"/>
                <a:ea typeface="Calibri" pitchFamily="34" charset="-122"/>
                <a:cs typeface="Calibri" pitchFamily="34" charset="-120"/>
              </a:rPr>
              <a:t>Bank runs at scale, coordinated governance attacks, multi-vector adversarial campaigns. Scenarios designed to find the breaking point, not confirm the happy path.</a:t>
            </a:r>
            <a:endParaRPr lang="en-US" sz="1050" dirty="0"/>
          </a:p>
        </p:txBody>
      </p:sp>
      <p:sp>
        <p:nvSpPr>
          <p:cNvPr id="14" name="Shape 12"/>
          <p:cNvSpPr/>
          <p:nvPr/>
        </p:nvSpPr>
        <p:spPr>
          <a:xfrm>
            <a:off x="548640" y="3703320"/>
            <a:ext cx="8046720" cy="777240"/>
          </a:xfrm>
          <a:prstGeom prst="roundRect">
            <a:avLst>
              <a:gd name="adj" fmla="val 9412"/>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5" name="Text 13"/>
          <p:cNvSpPr/>
          <p:nvPr/>
        </p:nvSpPr>
        <p:spPr>
          <a:xfrm>
            <a:off x="777240" y="3767328"/>
            <a:ext cx="7589520" cy="256032"/>
          </a:xfrm>
          <a:prstGeom prst="rect">
            <a:avLst/>
          </a:prstGeom>
          <a:noFill/>
          <a:ln/>
        </p:spPr>
        <p:txBody>
          <a:bodyPr wrap="square" lIns="0" tIns="0" rIns="0" bIns="0" rtlCol="0" anchor="ctr"/>
          <a:lstStyle/>
          <a:p>
            <a:pPr indent="0" marL="0">
              <a:buNone/>
            </a:pPr>
            <a:r>
              <a:t>Refining and Calibrating Mechanisms</a:t>
            </a:r>
            <a:endParaRPr lang="en-US" sz="1200" dirty="0"/>
          </a:p>
        </p:txBody>
      </p:sp>
      <p:sp>
        <p:nvSpPr>
          <p:cNvPr id="16" name="Text 14"/>
          <p:cNvSpPr/>
          <p:nvPr/>
        </p:nvSpPr>
        <p:spPr>
          <a:xfrm>
            <a:off x="777240" y="4050792"/>
            <a:ext cx="7589520" cy="347472"/>
          </a:xfrm>
          <a:prstGeom prst="rect">
            <a:avLst/>
          </a:prstGeom>
          <a:noFill/>
          <a:ln/>
        </p:spPr>
        <p:txBody>
          <a:bodyPr wrap="square" lIns="0" tIns="0" rIns="0" bIns="0" rtlCol="0" anchor="ctr"/>
          <a:lstStyle/>
          <a:p>
            <a:pPr indent="0" marL="0">
              <a:buNone/>
            </a:pPr>
            <a:r>
              <a:t>v1 established the solvency baseline. v2 will deepen and calibrate governance capture, utility pricing, campaign marketplace, and creator incentive dynamics.</a:t>
            </a:r>
            <a:endParaRPr lang="en-US" sz="1050" dirty="0"/>
          </a:p>
        </p:txBody>
      </p:sp>
      <p:sp>
        <p:nvSpPr>
          <p:cNvPr id="17" name="Text 15"/>
          <p:cNvSpPr/>
          <p:nvPr/>
        </p:nvSpPr>
        <p:spPr>
          <a:xfrm>
            <a:off x="548640" y="4617720"/>
            <a:ext cx="8046720" cy="274320"/>
          </a:xfrm>
          <a:prstGeom prst="rect">
            <a:avLst/>
          </a:prstGeom>
          <a:noFill/>
          <a:ln/>
        </p:spPr>
        <p:txBody>
          <a:bodyPr wrap="square" lIns="0" tIns="0" rIns="0" bIns="0" rtlCol="0" anchor="ctr"/>
          <a:lstStyle/>
          <a:p>
            <a:pPr indent="0" marL="0">
              <a:buNone/>
            </a:pPr>
            <a:r>
              <a:rPr lang="en-US" sz="1000" i="1" dirty="0">
                <a:solidFill>
                  <a:srgbClr val="888888"/>
                </a:solidFill>
                <a:latin typeface="Calibri" pitchFamily="34" charset="0"/>
                <a:ea typeface="Calibri" pitchFamily="34" charset="-122"/>
                <a:cs typeface="Calibri" pitchFamily="34" charset="-120"/>
              </a:rPr>
              <a:t>Adversarial testing will be handled internally by Provecto Labs, giving tighter integration between specification and attack design.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0F0"/>
        </a:solidFill>
      </p:bgPr>
    </p:bg>
    <p:spTree>
      <p:nvGrpSpPr>
        <p:cNvPr id="1" name=""/>
        <p:cNvGrpSpPr/>
        <p:nvPr/>
      </p:nvGrpSpPr>
      <p:grpSpPr>
        <a:xfrm>
          <a:off x="0" y="0"/>
          <a:ext cx="0" cy="0"/>
          <a:chOff x="0" y="0"/>
          <a:chExt cx="0" cy="0"/>
        </a:xfrm>
      </p:grpSpPr>
      <p:sp>
        <p:nvSpPr>
          <p:cNvPr id="2" name="Text 0"/>
          <p:cNvSpPr/>
          <p:nvPr/>
        </p:nvSpPr>
        <p:spPr>
          <a:xfrm>
            <a:off x="548640" y="320040"/>
            <a:ext cx="8046720" cy="502920"/>
          </a:xfrm>
          <a:prstGeom prst="rect">
            <a:avLst/>
          </a:prstGeom>
          <a:noFill/>
          <a:ln/>
        </p:spPr>
        <p:txBody>
          <a:bodyPr wrap="square" lIns="0" tIns="0" rIns="0" bIns="0" rtlCol="0" anchor="ctr"/>
          <a:lstStyle/>
          <a:p>
            <a:pPr indent="0" marL="0">
              <a:buNone/>
            </a:pPr>
            <a:r>
              <a:rPr lang="en-US" sz="2200" b="1" dirty="0">
                <a:solidFill>
                  <a:srgbClr val="2D2D2D"/>
                </a:solidFill>
                <a:latin typeface="Calibri" pitchFamily="34" charset="0"/>
                <a:ea typeface="Calibri" pitchFamily="34" charset="-122"/>
                <a:cs typeface="Calibri" pitchFamily="34" charset="-120"/>
              </a:rPr>
              <a:t>Next Steps: Academic Publication</a:t>
            </a:r>
            <a:endParaRPr lang="en-US" sz="2200" dirty="0"/>
          </a:p>
        </p:txBody>
      </p:sp>
      <p:sp>
        <p:nvSpPr>
          <p:cNvPr id="3" name="Shape 1"/>
          <p:cNvSpPr/>
          <p:nvPr/>
        </p:nvSpPr>
        <p:spPr>
          <a:xfrm>
            <a:off x="548640" y="868680"/>
            <a:ext cx="1097280" cy="0"/>
          </a:xfrm>
          <a:prstGeom prst="line">
            <a:avLst/>
          </a:prstGeom>
          <a:noFill/>
          <a:ln w="31750">
            <a:solidFill>
              <a:srgbClr val="2EAA56"/>
            </a:solidFill>
            <a:prstDash val="solid"/>
          </a:ln>
        </p:spPr>
        <p:txBody>
          <a:bodyPr/>
          <a:p/>
        </p:txBody>
      </p:sp>
      <p:sp>
        <p:nvSpPr>
          <p:cNvPr id="4" name="Text 2"/>
          <p:cNvSpPr/>
          <p:nvPr/>
        </p:nvSpPr>
        <p:spPr>
          <a:xfrm>
            <a:off x="6949440" y="4709160"/>
            <a:ext cx="1828800" cy="320040"/>
          </a:xfrm>
          <a:prstGeom prst="rect">
            <a:avLst/>
          </a:prstGeom>
          <a:noFill/>
          <a:ln/>
        </p:spPr>
        <p:txBody>
          <a:bodyPr wrap="square" lIns="0" tIns="0" rIns="0" bIns="0" rtlCol="0" anchor="ctr"/>
          <a:lstStyle/>
          <a:p>
            <a:pPr algn="r" indent="0" marL="0">
              <a:buNone/>
            </a:pPr>
            <a:r>
              <a:rPr lang="en-US" sz="900" i="1" dirty="0">
                <a:solidFill>
                  <a:srgbClr val="888888"/>
                </a:solidFill>
                <a:latin typeface="Calibri" pitchFamily="34" charset="0"/>
                <a:ea typeface="Calibri" pitchFamily="34" charset="-122"/>
                <a:cs typeface="Calibri" pitchFamily="34" charset="-120"/>
              </a:rPr>
              <a:t>provecto labs.</a:t>
            </a:r>
            <a:endParaRPr lang="en-US" sz="900" dirty="0"/>
          </a:p>
        </p:txBody>
      </p:sp>
      <p:sp>
        <p:nvSpPr>
          <p:cNvPr id="5" name="Shape 3"/>
          <p:cNvSpPr/>
          <p:nvPr/>
        </p:nvSpPr>
        <p:spPr>
          <a:xfrm>
            <a:off x="548640" y="1143000"/>
            <a:ext cx="8046720" cy="1463040"/>
          </a:xfrm>
          <a:prstGeom prst="roundRect">
            <a:avLst>
              <a:gd name="adj" fmla="val 5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6" name="Text 4"/>
          <p:cNvSpPr/>
          <p:nvPr/>
        </p:nvSpPr>
        <p:spPr>
          <a:xfrm>
            <a:off x="777240" y="1234440"/>
            <a:ext cx="7589520" cy="365760"/>
          </a:xfrm>
          <a:prstGeom prst="rect">
            <a:avLst/>
          </a:prstGeom>
          <a:noFill/>
          <a:ln/>
        </p:spPr>
        <p:txBody>
          <a:bodyPr wrap="square" lIns="0" tIns="0" rIns="0" bIns="0" rtlCol="0" anchor="ctr"/>
          <a:lstStyle/>
          <a:p>
            <a:pPr indent="0" marL="0">
              <a:buNone/>
            </a:pPr>
            <a:r>
              <a:rPr lang="en-US" sz="1600" b="1" dirty="0">
                <a:solidFill>
                  <a:srgbClr val="2D2D2D"/>
                </a:solidFill>
                <a:latin typeface="Calibri" pitchFamily="34" charset="0"/>
                <a:ea typeface="Calibri" pitchFamily="34" charset="-122"/>
                <a:cs typeface="Calibri" pitchFamily="34" charset="-120"/>
              </a:rPr>
              <a:t>Parameter Locks in Token Economic Systems</a:t>
            </a:r>
            <a:endParaRPr lang="en-US" sz="1600" dirty="0"/>
          </a:p>
        </p:txBody>
      </p:sp>
      <p:sp>
        <p:nvSpPr>
          <p:cNvPr id="7" name="Text 5"/>
          <p:cNvSpPr/>
          <p:nvPr/>
        </p:nvSpPr>
        <p:spPr>
          <a:xfrm>
            <a:off x="777240" y="1600200"/>
            <a:ext cx="7589520" cy="274320"/>
          </a:xfrm>
          <a:prstGeom prst="rect">
            <a:avLst/>
          </a:prstGeom>
          <a:noFill/>
          <a:ln/>
        </p:spPr>
        <p:txBody>
          <a:bodyPr wrap="square" lIns="0" tIns="0" rIns="0" bIns="0" rtlCol="0" anchor="ctr"/>
          <a:lstStyle/>
          <a:p>
            <a:pPr indent="0" marL="0">
              <a:buNone/>
            </a:pPr>
            <a:r>
              <a:rPr lang="en-US" sz="1100" dirty="0">
                <a:solidFill>
                  <a:srgbClr val="2EAA56"/>
                </a:solidFill>
                <a:latin typeface="Calibri" pitchFamily="34" charset="0"/>
                <a:ea typeface="Calibri" pitchFamily="34" charset="-122"/>
                <a:cs typeface="Calibri" pitchFamily="34" charset="-120"/>
              </a:rPr>
              <a:t>Journal of The British Blockchain Association (JBBA)</a:t>
            </a:r>
            <a:endParaRPr lang="en-US" sz="1100" dirty="0"/>
          </a:p>
        </p:txBody>
      </p:sp>
      <p:sp>
        <p:nvSpPr>
          <p:cNvPr id="8" name="Text 6"/>
          <p:cNvSpPr/>
          <p:nvPr/>
        </p:nvSpPr>
        <p:spPr>
          <a:xfrm>
            <a:off x="777240" y="1965960"/>
            <a:ext cx="7589520" cy="502920"/>
          </a:xfrm>
          <a:prstGeom prst="rect">
            <a:avLst/>
          </a:prstGeom>
          <a:noFill/>
          <a:ln/>
        </p:spPr>
        <p:txBody>
          <a:bodyPr wrap="square" lIns="0" tIns="0" rIns="0" bIns="0" rtlCol="0" anchor="ctr"/>
          <a:lstStyle/>
          <a:p>
            <a:pPr indent="0" marL="0">
              <a:buNone/>
            </a:pPr>
            <a:r>
              <a:rPr lang="en-US" sz="1200" dirty="0">
                <a:solidFill>
                  <a:srgbClr val="2D2D2D"/>
                </a:solidFill>
                <a:latin typeface="Calibri" pitchFamily="34" charset="0"/>
                <a:ea typeface="Calibri" pitchFamily="34" charset="-122"/>
                <a:cs typeface="Calibri" pitchFamily="34" charset="-120"/>
              </a:rPr>
              <a:t>Formalizing the Z1 three-tier parameter governance hierarchy as a generalizable framework for token economic design. The paper will demonstrate how treating parameter mutability as a first-class design primitive creates measurable governance attack resistance.</a:t>
            </a:r>
            <a:endParaRPr lang="en-US" sz="1200" dirty="0"/>
          </a:p>
        </p:txBody>
      </p:sp>
      <p:sp>
        <p:nvSpPr>
          <p:cNvPr id="9" name="Shape 7"/>
          <p:cNvSpPr/>
          <p:nvPr/>
        </p:nvSpPr>
        <p:spPr>
          <a:xfrm>
            <a:off x="54864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0" name="Text 8"/>
          <p:cNvSpPr/>
          <p:nvPr/>
        </p:nvSpPr>
        <p:spPr>
          <a:xfrm>
            <a:off x="77724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Why this is publishable</a:t>
            </a:r>
            <a:endParaRPr lang="en-US" sz="1200" dirty="0"/>
          </a:p>
        </p:txBody>
      </p:sp>
      <p:sp>
        <p:nvSpPr>
          <p:cNvPr id="11" name="Text 9"/>
          <p:cNvSpPr/>
          <p:nvPr/>
        </p:nvSpPr>
        <p:spPr>
          <a:xfrm>
            <a:off x="777240" y="3246120"/>
            <a:ext cx="3383280" cy="1280160"/>
          </a:xfrm>
          <a:prstGeom prst="rect">
            <a:avLst/>
          </a:prstGeom>
          <a:noFill/>
          <a:ln/>
        </p:spPr>
        <p:txBody>
          <a:bodyPr wrap="square" rtlCol="0" anchor="t"/>
          <a:lstStyle/>
          <a:p>
            <a:pPr marL="342900" indent="-342900">
              <a:spcAft>
                <a:spcPts val="400"/>
              </a:spcAft>
              <a:buSzPct val="100000"/>
              <a:buChar char="•"/>
            </a:pPr>
            <a:r>
              <a:t>Treating parameter mutability as a first-class design dimension is a novel approach</a:t>
            </a:r>
            <a:endParaRPr lang="en-US" sz="1100" dirty="0"/>
          </a:p>
          <a:p>
            <a:pPr marL="342900" indent="-342900">
              <a:spcAft>
                <a:spcPts val="400"/>
              </a:spcAft>
              <a:buSzPct val="100000"/>
              <a:buChar char="•"/>
            </a:pPr>
            <a:r>
              <a:rPr lang="en-US" sz="1100" dirty="0">
                <a:solidFill>
                  <a:srgbClr val="2D2D2D"/>
                </a:solidFill>
              </a:rPr>
              <a:t>Combines game theory, formal verification, and mechanism design</a:t>
            </a:r>
            <a:endParaRPr lang="en-US" sz="1100" dirty="0"/>
          </a:p>
          <a:p>
            <a:pPr marL="342900" indent="-342900">
              <a:spcAft>
                <a:spcPts val="400"/>
              </a:spcAft>
              <a:buSzPct val="100000"/>
              <a:buChar char="•"/>
            </a:pPr>
            <a:r>
              <a:rPr lang="en-US" sz="1100" dirty="0">
                <a:solidFill>
                  <a:srgbClr val="2D2D2D"/>
                </a:solidFill>
              </a:rPr>
              <a:t>Real case study (Z1) with simulation evidence, not just theory</a:t>
            </a:r>
            <a:endParaRPr lang="en-US" sz="1100" dirty="0"/>
          </a:p>
          <a:p>
            <a:pPr marL="342900" indent="-342900">
              <a:spcAft>
                <a:spcPts val="400"/>
              </a:spcAft>
              <a:buSzPct val="100000"/>
              <a:buChar char="•"/>
            </a:pPr>
            <a:r>
              <a:rPr lang="en-US" sz="1100" dirty="0">
                <a:solidFill>
                  <a:srgbClr val="2D2D2D"/>
                </a:solidFill>
              </a:rPr>
              <a:t>Directly addresses the governance capture problem plaguing DeFi</a:t>
            </a:r>
            <a:endParaRPr lang="en-US" sz="1100" dirty="0"/>
          </a:p>
        </p:txBody>
      </p:sp>
      <p:sp>
        <p:nvSpPr>
          <p:cNvPr id="12" name="Shape 10"/>
          <p:cNvSpPr/>
          <p:nvPr/>
        </p:nvSpPr>
        <p:spPr>
          <a:xfrm>
            <a:off x="4800600" y="2834640"/>
            <a:ext cx="3794760" cy="1828800"/>
          </a:xfrm>
          <a:prstGeom prst="roundRect">
            <a:avLst>
              <a:gd name="adj" fmla="val 4000"/>
            </a:avLst>
          </a:prstGeom>
          <a:solidFill>
            <a:srgbClr val="FFFFFF"/>
          </a:solidFill>
          <a:ln/>
          <a:effectLst>
            <a:outerShdw sx="100000" sy="100000" kx="0" ky="0" algn="bl" rotWithShape="0" blurRad="50800" dist="12700" dir="2700000">
              <a:srgbClr val="000000">
                <a:alpha val="8000"/>
              </a:srgbClr>
            </a:outerShdw>
          </a:effectLst>
        </p:spPr>
        <p:txBody>
          <a:bodyPr/>
          <a:p/>
        </p:txBody>
      </p:sp>
      <p:sp>
        <p:nvSpPr>
          <p:cNvPr id="13" name="Text 11"/>
          <p:cNvSpPr/>
          <p:nvPr/>
        </p:nvSpPr>
        <p:spPr>
          <a:xfrm>
            <a:off x="5029200" y="2926080"/>
            <a:ext cx="3383280" cy="274320"/>
          </a:xfrm>
          <a:prstGeom prst="rect">
            <a:avLst/>
          </a:prstGeom>
          <a:noFill/>
          <a:ln/>
        </p:spPr>
        <p:txBody>
          <a:bodyPr wrap="square" lIns="0" tIns="0" rIns="0" bIns="0" rtlCol="0" anchor="ctr"/>
          <a:lstStyle/>
          <a:p>
            <a:pPr indent="0" marL="0">
              <a:buNone/>
            </a:pPr>
            <a:r>
              <a:rPr lang="en-US" sz="1200" b="1" dirty="0">
                <a:solidFill>
                  <a:srgbClr val="2EAA56"/>
                </a:solidFill>
                <a:latin typeface="Calibri" pitchFamily="34" charset="0"/>
                <a:ea typeface="Calibri" pitchFamily="34" charset="-122"/>
                <a:cs typeface="Calibri" pitchFamily="34" charset="-120"/>
              </a:rPr>
              <a:t>Contributors</a:t>
            </a:r>
            <a:endParaRPr lang="en-US" sz="1200" dirty="0"/>
          </a:p>
        </p:txBody>
      </p:sp>
      <p:sp>
        <p:nvSpPr>
          <p:cNvPr id="14" name="Text 12"/>
          <p:cNvSpPr/>
          <p:nvPr/>
        </p:nvSpPr>
        <p:spPr>
          <a:xfrm>
            <a:off x="5029200" y="3246120"/>
            <a:ext cx="3383280" cy="1280160"/>
          </a:xfrm>
          <a:prstGeom prst="rect">
            <a:avLst/>
          </a:prstGeom>
          <a:noFill/>
          <a:ln/>
        </p:spPr>
        <p:txBody>
          <a:bodyPr wrap="square" rtlCol="0" anchor="t"/>
          <a:lstStyle/>
          <a:p>
            <a:pPr indent="0" marL="0">
              <a:spcAft>
                <a:spcPts val="200"/>
              </a:spcAft>
              <a:buNone/>
            </a:pPr>
            <a:r>
              <a:rPr lang="en-US" sz="1100" b="1" dirty="0">
                <a:solidFill>
                  <a:srgbClr val="2D2D2D"/>
                </a:solidFill>
              </a:rPr>
              <a:t>Linas Stankevicius  </a:t>
            </a:r>
            <a:pPr indent="0" marL="0">
              <a:spcAft>
                <a:spcPts val="200"/>
              </a:spcAft>
              <a:buNone/>
            </a:pPr>
            <a:r>
              <a:rPr lang="en-US" sz="950" dirty="0">
                <a:solidFill>
                  <a:srgbClr val="888888"/>
                </a:solidFill>
              </a:rPr>
              <a:t>2 prior publications with TokenLab</a:t>
            </a:r>
            <a:endParaRPr lang="en-US" sz="1100" dirty="0"/>
          </a:p>
          <a:p>
            <a:pPr indent="0" marL="0">
              <a:spcAft>
                <a:spcPts val="200"/>
              </a:spcAft>
              <a:buNone/>
            </a:pPr>
            <a:r>
              <a:rPr lang="en-US" sz="1100" b="1" dirty="0">
                <a:solidFill>
                  <a:srgbClr val="2D2D2D"/>
                </a:solidFill>
              </a:rPr>
              <a:t>Nik Pletikos  </a:t>
            </a:r>
            <a:pPr indent="0" marL="0">
              <a:spcAft>
                <a:spcPts val="200"/>
              </a:spcAft>
              <a:buNone/>
            </a:pPr>
            <a:r>
              <a:rPr lang="en-US" sz="950" dirty="0">
                <a:solidFill>
                  <a:srgbClr val="888888"/>
                </a:solidFill>
              </a:rPr>
              <a:t>Provecto Labs</a:t>
            </a:r>
            <a:endParaRPr lang="en-US" sz="1100" dirty="0"/>
          </a:p>
          <a:p>
            <a:pPr indent="0" marL="0">
              <a:spcAft>
                <a:spcPts val="200"/>
              </a:spcAft>
              <a:buNone/>
            </a:pPr>
            <a:r>
              <a:rPr lang="en-US" sz="1100" b="1" dirty="0">
                <a:solidFill>
                  <a:srgbClr val="2D2D2D"/>
                </a:solidFill>
              </a:rPr>
              <a:t>Dr. Stylianos Kampakis  </a:t>
            </a:r>
            <a:pPr indent="0" marL="0">
              <a:spcAft>
                <a:spcPts val="200"/>
              </a:spcAft>
              <a:buNone/>
            </a:pPr>
            <a:r>
              <a:rPr lang="en-US" sz="950" dirty="0">
                <a:solidFill>
                  <a:srgbClr val="888888"/>
                </a:solidFill>
              </a:rPr>
              <a:t>TokenLab, simulation engineering</a:t>
            </a:r>
            <a:endParaRPr lang="en-US" sz="1100" dirty="0"/>
          </a:p>
          <a:p>
            <a:pPr indent="0" marL="0">
              <a:spcAft>
                <a:spcPts val="200"/>
              </a:spcAft>
              <a:buNone/>
            </a:pPr>
            <a:pPr indent="0" marL="0">
              <a:spcAft>
                <a:spcPts val="200"/>
              </a:spcAft>
              <a:buNone/>
            </a:pPr>
            <a:r>
              <a:t>Academic Cryptography Advisor (PhD, 2011)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D2D2D"/>
        </a:solidFill>
      </p:bgPr>
    </p:bg>
    <p:spTree>
      <p:nvGrpSpPr>
        <p:cNvPr id="1" name=""/>
        <p:cNvGrpSpPr/>
        <p:nvPr/>
      </p:nvGrpSpPr>
      <p:grpSpPr>
        <a:xfrm>
          <a:off x="0" y="0"/>
          <a:ext cx="0" cy="0"/>
          <a:chOff x="0" y="0"/>
          <a:chExt cx="0" cy="0"/>
        </a:xfrm>
      </p:grpSpPr>
      <p:sp>
        <p:nvSpPr>
          <p:cNvPr id="2" name="Text 0"/>
          <p:cNvSpPr/>
          <p:nvPr/>
        </p:nvSpPr>
        <p:spPr>
          <a:xfrm>
            <a:off x="548640" y="1645920"/>
            <a:ext cx="8046720" cy="548640"/>
          </a:xfrm>
          <a:prstGeom prst="rect">
            <a:avLst/>
          </a:prstGeom>
          <a:noFill/>
          <a:ln/>
        </p:spPr>
        <p:txBody>
          <a:bodyPr wrap="square" lIns="0" tIns="0" rIns="0" bIns="0" rtlCol="0" anchor="ctr"/>
          <a:lstStyle/>
          <a:p>
            <a:pPr algn="ctr" indent="0" marL="0">
              <a:buNone/>
            </a:pPr>
            <a:r>
              <a:rPr lang="en-US" sz="2800" i="1" dirty="0">
                <a:solidFill>
                  <a:srgbClr val="FFFFFF"/>
                </a:solidFill>
                <a:latin typeface="Calibri" pitchFamily="34" charset="0"/>
                <a:ea typeface="Calibri" pitchFamily="34" charset="-122"/>
                <a:cs typeface="Calibri" pitchFamily="34" charset="-120"/>
              </a:rPr>
              <a:t>provecto labs.</a:t>
            </a:r>
            <a:endParaRPr lang="en-US" sz="2800" dirty="0"/>
          </a:p>
        </p:txBody>
      </p:sp>
      <p:sp>
        <p:nvSpPr>
          <p:cNvPr id="3" name="Shape 1"/>
          <p:cNvSpPr/>
          <p:nvPr/>
        </p:nvSpPr>
        <p:spPr>
          <a:xfrm>
            <a:off x="3657600" y="2377440"/>
            <a:ext cx="1828800" cy="0"/>
          </a:xfrm>
          <a:prstGeom prst="line">
            <a:avLst/>
          </a:prstGeom>
          <a:noFill/>
          <a:ln w="25400">
            <a:solidFill>
              <a:srgbClr val="2EAA56"/>
            </a:solidFill>
            <a:prstDash val="solid"/>
          </a:ln>
        </p:spPr>
        <p:txBody>
          <a:bodyPr/>
          <a:p/>
        </p:txBody>
      </p:sp>
      <p:sp>
        <p:nvSpPr>
          <p:cNvPr id="4" name="Text 2"/>
          <p:cNvSpPr/>
          <p:nvPr/>
        </p:nvSpPr>
        <p:spPr>
          <a:xfrm>
            <a:off x="548640" y="2606040"/>
            <a:ext cx="8046720" cy="320040"/>
          </a:xfrm>
          <a:prstGeom prst="rect">
            <a:avLst/>
          </a:prstGeom>
          <a:noFill/>
          <a:ln/>
        </p:spPr>
        <p:txBody>
          <a:bodyPr wrap="square" lIns="0" tIns="0" rIns="0" bIns="0" rtlCol="0" anchor="ctr"/>
          <a:lstStyle/>
          <a:p>
            <a:pPr algn="ctr" indent="0" marL="0">
              <a:buNone/>
            </a:pPr>
            <a:r>
              <a:rPr lang="en-US" sz="1200" dirty="0">
                <a:solidFill>
                  <a:srgbClr val="888888"/>
                </a:solidFill>
                <a:latin typeface="Calibri" pitchFamily="34" charset="0"/>
                <a:ea typeface="Calibri" pitchFamily="34" charset="-122"/>
                <a:cs typeface="Calibri" pitchFamily="34" charset="-120"/>
              </a:rPr>
              <a:t>linas@provecto.io</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Z1 Simulation v1 — Key Findings &amp; Next Steps</dc:title>
  <dc:subject>PptxGenJS Presentation</dc:subject>
  <dc:creator>Provecto Labs</dc:creator>
  <cp:lastModifiedBy>Provecto Labs</cp:lastModifiedBy>
  <cp:revision>1</cp:revision>
  <dcterms:created xsi:type="dcterms:W3CDTF">2026-06-24T14:21:28Z</dcterms:created>
  <dcterms:modified xsi:type="dcterms:W3CDTF">2026-06-24T14:21:28Z</dcterms:modified>
</cp:coreProperties>
</file>