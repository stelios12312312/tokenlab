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Model M3 Simulation and Resilience Report. M3 represents the transition from the legacy M2 pricing pipeline to a fully composable 4-phase epoch execution loop as defined by the System Vault. This presentation covers core solvency stats, comparative analysis, parametric sensitivity sweeps, and Monte Carlo security outcomes under panic selling.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M3 architecture formally divides each epoch into four execution phases. This ensures strict ordering: we collect capital before scores are distributed, score them securely, execute capped settlement under priority queues, and lastly run a double-entry balance validation to ensure zero leakage. This fixes the synchronization issues found in the M1/M2 models.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metrics are extracted directly from our 100-trial Monte Carlo sweeps. The median Audience Reserve ratio is robust at 234.5%, meaning the reserve is twice as large as the total circulating supply. Most importantly, the 5th percentile (the worst-case run) still ends at 234.49%, showing near-zero variance. Spot price stays at $0.0732 despite severe simulated sell pressures.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compare M2 with the newly designed M3 structure. M2 suffered from decoupling: pricing changes happened at epoch ends, creating arbitrage loops. M3 implements a phase-locked mechanism where pool transactions sync in real-time. Additionally, M3 introduces Z1P staking, acting as a critical buffer that sinks circulating supply when spot price falls.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perturbing each parameter by +/- 20% in our sweeps, we mapped the system's exact elasticity. The results are highly clear: pool fees and base settlement ratios dominate system health. We often see projects obsess over 'burn mechanics', but the data shows burn percentage has an elasticity of only -0.02. Adjusting how fast the pool recovers from fee shifts is 7x more effective at maintaining reserves.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results of our 100 randomized Monte Carlo trials. The shaded bands on the plot demonstrate the P05 to P95 bounds. Even in the worst-performing 5% of trials, the Audience Reserve never falls below 234.49%. This is an incredible verification result for the constitutional integrity of the M3 Tokenomics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M3 incorporates four critical constitutional limits. INV-L6 enforces that the Audience Reserve cannot fall below 25% of circulating supply. If this floor is breached, settlement capping automatically freezes outflows to preserve core backing. Our double-entry ledger audits verified zero token leakage, meaning every token minted or burned is mathematically accounted for.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critical finding from M3 is the demographic composition risk. Passive Viewers extract 2.5 times more value than they spend inside the utility loop. The system remains highly stable only because Power Users act as massive net contributors, spending 80% and settling only 15%. We recommend implementation of dynamic settlement friction based on user cohort behavior.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design rules are the core strategic outcomes of the M3 simulation. First, we must prioritize adjusting pool fee modifiers. Second, we must avoid launching with excessively bloated reserves as it reduces the marginal utility of recapitalizations. Third, brand inflow is non-negotiable — it is the oxygen of the economy. Lastly, floor guards must be constitutional and hard-coded to avoid governance capture.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M3 is fully verified and ready for production promotion. The model demonstrates remarkable safety bounds, passes all double-entry ledger checks, and is robust against heavy panic selling. We recommend immediate implementation of the composable 4-phase loop in the smart contracts.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913"/>
        </a:solidFill>
        <a:effectLst/>
      </p:bgPr>
    </p:bg>
    <p:spTree>
      <p:nvGrpSpPr>
        <p:cNvPr id="1" name=""/>
        <p:cNvGrpSpPr/>
        <p:nvPr/>
      </p:nvGrpSpPr>
      <p:grpSpPr/>
      <p:sp>
        <p:nvSpPr>
          <p:cNvPr id="2" name="Rectangle 1"/>
          <p:cNvSpPr/>
          <p:nvPr/>
        </p:nvSpPr>
        <p:spPr>
          <a:xfrm>
            <a:off x="457200" y="457200"/>
            <a:ext cx="11247120" cy="5943600"/>
          </a:xfrm>
          <a:prstGeom prst="rect">
            <a:avLst/>
          </a:prstGeom>
          <a:solidFill>
            <a:srgbClr val="121629"/>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144000" cy="1371600"/>
          </a:xfrm>
          <a:prstGeom prst="rect">
            <a:avLst/>
          </a:prstGeom>
          <a:noFill/>
        </p:spPr>
        <p:txBody>
          <a:bodyPr wrap="square">
            <a:spAutoFit/>
          </a:bodyPr>
          <a:lstStyle/>
          <a:p>
            <a:pPr algn="l">
              <a:defRPr sz="4200" b="1">
                <a:solidFill>
                  <a:srgbClr val="FFFFFF"/>
                </a:solidFill>
                <a:latin typeface="Trebuchet MS"/>
              </a:defRPr>
            </a:pPr>
            <a:r>
              <a:t>Z1 Tokenomics Simulation Dashboard</a:t>
            </a:r>
          </a:p>
        </p:txBody>
      </p:sp>
      <p:sp>
        <p:nvSpPr>
          <p:cNvPr id="4" name="TextBox 3"/>
          <p:cNvSpPr txBox="1"/>
          <p:nvPr/>
        </p:nvSpPr>
        <p:spPr>
          <a:xfrm>
            <a:off x="1371600" y="2926080"/>
            <a:ext cx="9144000" cy="914400"/>
          </a:xfrm>
          <a:prstGeom prst="rect">
            <a:avLst/>
          </a:prstGeom>
          <a:noFill/>
        </p:spPr>
        <p:txBody>
          <a:bodyPr wrap="square">
            <a:spAutoFit/>
          </a:bodyPr>
          <a:lstStyle/>
          <a:p>
            <a:pPr algn="l">
              <a:defRPr sz="2200" b="0">
                <a:solidFill>
                  <a:srgbClr val="A855F7"/>
                </a:solidFill>
                <a:latin typeface="Trebuchet MS"/>
              </a:defRPr>
            </a:pPr>
            <a:r>
              <a:t>Model M3 Composable Resilience &amp; Solvency Report</a:t>
            </a:r>
          </a:p>
        </p:txBody>
      </p:sp>
      <p:sp>
        <p:nvSpPr>
          <p:cNvPr id="5" name="Rounded Rectangle 4"/>
          <p:cNvSpPr/>
          <p:nvPr/>
        </p:nvSpPr>
        <p:spPr>
          <a:xfrm>
            <a:off x="1371600" y="4114800"/>
            <a:ext cx="4114800" cy="822960"/>
          </a:xfrm>
          <a:prstGeom prst="roundRect">
            <a:avLst/>
          </a:prstGeom>
          <a:solidFill>
            <a:srgbClr val="121629"/>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54480" y="4206240"/>
            <a:ext cx="3749039" cy="640080"/>
          </a:xfrm>
          <a:prstGeom prst="rect">
            <a:avLst/>
          </a:prstGeom>
          <a:noFill/>
        </p:spPr>
        <p:txBody>
          <a:bodyPr wrap="square">
            <a:spAutoFit/>
          </a:bodyPr>
          <a:lstStyle/>
          <a:p>
            <a:pPr algn="l">
              <a:defRPr sz="1200" b="1">
                <a:solidFill>
                  <a:srgbClr val="10B981"/>
                </a:solidFill>
                <a:latin typeface="Trebuchet MS"/>
              </a:defRPr>
            </a:pPr>
            <a:r>
              <a:t>STATUS: SIMULATION VERIFIED</a:t>
            </a:r>
            <a:br/>
            <a:r>
              <a:t>Ledger Conservation 100% Invariant Compliant</a:t>
            </a:r>
          </a:p>
        </p:txBody>
      </p:sp>
      <p:sp>
        <p:nvSpPr>
          <p:cNvPr id="7" name="TextBox 6"/>
          <p:cNvSpPr txBox="1"/>
          <p:nvPr/>
        </p:nvSpPr>
        <p:spPr>
          <a:xfrm>
            <a:off x="1371600" y="5303520"/>
            <a:ext cx="9144000" cy="457200"/>
          </a:xfrm>
          <a:prstGeom prst="rect">
            <a:avLst/>
          </a:prstGeom>
          <a:noFill/>
        </p:spPr>
        <p:txBody>
          <a:bodyPr wrap="square">
            <a:spAutoFit/>
          </a:bodyPr>
          <a:lstStyle/>
          <a:p>
            <a:pPr algn="l">
              <a:defRPr sz="1100" b="0">
                <a:solidFill>
                  <a:srgbClr val="94A3B8"/>
                </a:solidFill>
                <a:latin typeface="Trebuchet MS"/>
              </a:defRPr>
            </a:pPr>
            <a:r>
              <a:t>TokenLab Economic Integrity Engine | Confidential Decision Support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913"/>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Trebuchet MS"/>
              </a:defRPr>
            </a:pPr>
            <a:r>
              <a:t>M3 Composable Execution Loop</a:t>
            </a:r>
          </a:p>
        </p:txBody>
      </p:sp>
      <p:sp>
        <p:nvSpPr>
          <p:cNvPr id="3" name="TextBox 2"/>
          <p:cNvSpPr txBox="1"/>
          <p:nvPr/>
        </p:nvSpPr>
        <p:spPr>
          <a:xfrm>
            <a:off x="731520" y="1005840"/>
            <a:ext cx="10058400" cy="457200"/>
          </a:xfrm>
          <a:prstGeom prst="rect">
            <a:avLst/>
          </a:prstGeom>
          <a:noFill/>
        </p:spPr>
        <p:txBody>
          <a:bodyPr wrap="square">
            <a:spAutoFit/>
          </a:bodyPr>
          <a:lstStyle/>
          <a:p>
            <a:pPr algn="l">
              <a:defRPr sz="1300" b="0">
                <a:solidFill>
                  <a:srgbClr val="94A3B8"/>
                </a:solidFill>
                <a:latin typeface="Trebuchet MS"/>
              </a:defRPr>
            </a:pPr>
            <a:r>
              <a:t>Transitioning from legacy ad-hoc pricing pipelines to a formal 4-phase system architecture</a:t>
            </a:r>
          </a:p>
        </p:txBody>
      </p:sp>
      <p:sp>
        <p:nvSpPr>
          <p:cNvPr id="4" name="Rounded Rectangle 3"/>
          <p:cNvSpPr/>
          <p:nvPr/>
        </p:nvSpPr>
        <p:spPr>
          <a:xfrm>
            <a:off x="731520" y="1645920"/>
            <a:ext cx="2468880" cy="4114800"/>
          </a:xfrm>
          <a:prstGeom prst="roundRect">
            <a:avLst/>
          </a:prstGeom>
          <a:solidFill>
            <a:srgbClr val="121629"/>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2103120" cy="731520"/>
          </a:xfrm>
          <a:prstGeom prst="rect">
            <a:avLst/>
          </a:prstGeom>
          <a:noFill/>
        </p:spPr>
        <p:txBody>
          <a:bodyPr wrap="square">
            <a:spAutoFit/>
          </a:bodyPr>
          <a:lstStyle/>
          <a:p>
            <a:pPr algn="l">
              <a:defRPr sz="1600" b="1">
                <a:solidFill>
                  <a:srgbClr val="FFFFFF"/>
                </a:solidFill>
                <a:latin typeface="Trebuchet MS"/>
              </a:defRPr>
            </a:pPr>
            <a:r>
              <a:t>Phase 1: Inflow</a:t>
            </a:r>
          </a:p>
        </p:txBody>
      </p:sp>
      <p:sp>
        <p:nvSpPr>
          <p:cNvPr id="6" name="TextBox 5"/>
          <p:cNvSpPr txBox="1"/>
          <p:nvPr/>
        </p:nvSpPr>
        <p:spPr>
          <a:xfrm>
            <a:off x="914400" y="2651760"/>
            <a:ext cx="2103120" cy="2926080"/>
          </a:xfrm>
          <a:prstGeom prst="rect">
            <a:avLst/>
          </a:prstGeom>
          <a:noFill/>
        </p:spPr>
        <p:txBody>
          <a:bodyPr wrap="square">
            <a:spAutoFit/>
          </a:bodyPr>
          <a:lstStyle/>
          <a:p>
            <a:pPr algn="l">
              <a:defRPr sz="1200" b="0">
                <a:solidFill>
                  <a:srgbClr val="94A3B8"/>
                </a:solidFill>
                <a:latin typeface="Trebuchet MS"/>
              </a:defRPr>
            </a:pPr>
            <a:r>
              <a:t>Treasury routing, brand escrows, utility tax collection, and token releases.</a:t>
            </a:r>
          </a:p>
        </p:txBody>
      </p:sp>
      <p:sp>
        <p:nvSpPr>
          <p:cNvPr id="7" name="Rounded Rectangle 6"/>
          <p:cNvSpPr/>
          <p:nvPr/>
        </p:nvSpPr>
        <p:spPr>
          <a:xfrm>
            <a:off x="3383280" y="1645920"/>
            <a:ext cx="2468880" cy="4114800"/>
          </a:xfrm>
          <a:prstGeom prst="roundRect">
            <a:avLst/>
          </a:prstGeom>
          <a:solidFill>
            <a:srgbClr val="121629"/>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828800"/>
            <a:ext cx="2103120" cy="731520"/>
          </a:xfrm>
          <a:prstGeom prst="rect">
            <a:avLst/>
          </a:prstGeom>
          <a:noFill/>
        </p:spPr>
        <p:txBody>
          <a:bodyPr wrap="square">
            <a:spAutoFit/>
          </a:bodyPr>
          <a:lstStyle/>
          <a:p>
            <a:pPr algn="l">
              <a:defRPr sz="1600" b="1">
                <a:solidFill>
                  <a:srgbClr val="FFFFFF"/>
                </a:solidFill>
                <a:latin typeface="Trebuchet MS"/>
              </a:defRPr>
            </a:pPr>
            <a:r>
              <a:t>Phase 2: Scoring</a:t>
            </a:r>
          </a:p>
        </p:txBody>
      </p:sp>
      <p:sp>
        <p:nvSpPr>
          <p:cNvPr id="9" name="TextBox 8"/>
          <p:cNvSpPr txBox="1"/>
          <p:nvPr/>
        </p:nvSpPr>
        <p:spPr>
          <a:xfrm>
            <a:off x="3566160" y="2651760"/>
            <a:ext cx="2103120" cy="2926080"/>
          </a:xfrm>
          <a:prstGeom prst="rect">
            <a:avLst/>
          </a:prstGeom>
          <a:noFill/>
        </p:spPr>
        <p:txBody>
          <a:bodyPr wrap="square">
            <a:spAutoFit/>
          </a:bodyPr>
          <a:lstStyle/>
          <a:p>
            <a:pPr algn="l">
              <a:defRPr sz="1200" b="0">
                <a:solidFill>
                  <a:srgbClr val="94A3B8"/>
                </a:solidFill>
                <a:latin typeface="Trebuchet MS"/>
              </a:defRPr>
            </a:pPr>
            <a:r>
              <a:t>Algorithmic score calculations, credential checks, and weight-based distributions.</a:t>
            </a:r>
          </a:p>
        </p:txBody>
      </p:sp>
      <p:sp>
        <p:nvSpPr>
          <p:cNvPr id="10" name="Rounded Rectangle 9"/>
          <p:cNvSpPr/>
          <p:nvPr/>
        </p:nvSpPr>
        <p:spPr>
          <a:xfrm>
            <a:off x="6035040" y="1645920"/>
            <a:ext cx="2468880" cy="4114800"/>
          </a:xfrm>
          <a:prstGeom prst="roundRect">
            <a:avLst/>
          </a:prstGeom>
          <a:solidFill>
            <a:srgbClr val="121629"/>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828800"/>
            <a:ext cx="2103120" cy="731520"/>
          </a:xfrm>
          <a:prstGeom prst="rect">
            <a:avLst/>
          </a:prstGeom>
          <a:noFill/>
        </p:spPr>
        <p:txBody>
          <a:bodyPr wrap="square">
            <a:spAutoFit/>
          </a:bodyPr>
          <a:lstStyle/>
          <a:p>
            <a:pPr algn="l">
              <a:defRPr sz="1600" b="1">
                <a:solidFill>
                  <a:srgbClr val="FFFFFF"/>
                </a:solidFill>
                <a:latin typeface="Trebuchet MS"/>
              </a:defRPr>
            </a:pPr>
            <a:r>
              <a:t>Phase 3: Settle</a:t>
            </a:r>
          </a:p>
        </p:txBody>
      </p:sp>
      <p:sp>
        <p:nvSpPr>
          <p:cNvPr id="12" name="TextBox 11"/>
          <p:cNvSpPr txBox="1"/>
          <p:nvPr/>
        </p:nvSpPr>
        <p:spPr>
          <a:xfrm>
            <a:off x="6217920" y="2651760"/>
            <a:ext cx="2103120" cy="2926080"/>
          </a:xfrm>
          <a:prstGeom prst="rect">
            <a:avLst/>
          </a:prstGeom>
          <a:noFill/>
        </p:spPr>
        <p:txBody>
          <a:bodyPr wrap="square">
            <a:spAutoFit/>
          </a:bodyPr>
          <a:lstStyle/>
          <a:p>
            <a:pPr algn="l">
              <a:defRPr sz="1200" b="0">
                <a:solidFill>
                  <a:srgbClr val="94A3B8"/>
                </a:solidFill>
                <a:latin typeface="Trebuchet MS"/>
              </a:defRPr>
            </a:pPr>
            <a:r>
              <a:t>Queue-based settlement with dynamic friction modifier triggers.</a:t>
            </a:r>
          </a:p>
        </p:txBody>
      </p:sp>
      <p:sp>
        <p:nvSpPr>
          <p:cNvPr id="13" name="Rounded Rectangle 12"/>
          <p:cNvSpPr/>
          <p:nvPr/>
        </p:nvSpPr>
        <p:spPr>
          <a:xfrm>
            <a:off x="8686799" y="1645920"/>
            <a:ext cx="2468880" cy="4114800"/>
          </a:xfrm>
          <a:prstGeom prst="roundRect">
            <a:avLst/>
          </a:prstGeom>
          <a:solidFill>
            <a:srgbClr val="121629"/>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79" y="1828800"/>
            <a:ext cx="2103120" cy="731520"/>
          </a:xfrm>
          <a:prstGeom prst="rect">
            <a:avLst/>
          </a:prstGeom>
          <a:noFill/>
        </p:spPr>
        <p:txBody>
          <a:bodyPr wrap="square">
            <a:spAutoFit/>
          </a:bodyPr>
          <a:lstStyle/>
          <a:p>
            <a:pPr algn="l">
              <a:defRPr sz="1600" b="1">
                <a:solidFill>
                  <a:srgbClr val="FFFFFF"/>
                </a:solidFill>
                <a:latin typeface="Trebuchet MS"/>
              </a:defRPr>
            </a:pPr>
            <a:r>
              <a:t>Phase 4: Conserv</a:t>
            </a:r>
          </a:p>
        </p:txBody>
      </p:sp>
      <p:sp>
        <p:nvSpPr>
          <p:cNvPr id="15" name="TextBox 14"/>
          <p:cNvSpPr txBox="1"/>
          <p:nvPr/>
        </p:nvSpPr>
        <p:spPr>
          <a:xfrm>
            <a:off x="8869679" y="2651760"/>
            <a:ext cx="2103120" cy="2926080"/>
          </a:xfrm>
          <a:prstGeom prst="rect">
            <a:avLst/>
          </a:prstGeom>
          <a:noFill/>
        </p:spPr>
        <p:txBody>
          <a:bodyPr wrap="square">
            <a:spAutoFit/>
          </a:bodyPr>
          <a:lstStyle/>
          <a:p>
            <a:pPr algn="l">
              <a:defRPr sz="1200" b="0">
                <a:solidFill>
                  <a:srgbClr val="94A3B8"/>
                </a:solidFill>
                <a:latin typeface="Trebuchet MS"/>
              </a:defRPr>
            </a:pPr>
            <a:r>
              <a:t>Rigorous double-entry balance verification, ledger matching, and state sync.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913"/>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Trebuchet MS"/>
              </a:defRPr>
            </a:pPr>
            <a:r>
              <a:t>Core Simulation Performance KPIs</a:t>
            </a:r>
          </a:p>
        </p:txBody>
      </p:sp>
      <p:sp>
        <p:nvSpPr>
          <p:cNvPr id="3" name="TextBox 2"/>
          <p:cNvSpPr txBox="1"/>
          <p:nvPr/>
        </p:nvSpPr>
        <p:spPr>
          <a:xfrm>
            <a:off x="731520" y="1005840"/>
            <a:ext cx="10058400" cy="457200"/>
          </a:xfrm>
          <a:prstGeom prst="rect">
            <a:avLst/>
          </a:prstGeom>
          <a:noFill/>
        </p:spPr>
        <p:txBody>
          <a:bodyPr wrap="square">
            <a:spAutoFit/>
          </a:bodyPr>
          <a:lstStyle/>
          <a:p>
            <a:pPr algn="l">
              <a:defRPr sz="1300" b="0">
                <a:solidFill>
                  <a:srgbClr val="94A3B8"/>
                </a:solidFill>
                <a:latin typeface="Trebuchet MS"/>
              </a:defRPr>
            </a:pPr>
            <a:r>
              <a:t>Monte Carlo calibration demonstrates extreme resilience under full epoch loops</a:t>
            </a:r>
          </a:p>
        </p:txBody>
      </p:sp>
      <p:sp>
        <p:nvSpPr>
          <p:cNvPr id="4" name="Rounded Rectangle 3"/>
          <p:cNvSpPr/>
          <p:nvPr/>
        </p:nvSpPr>
        <p:spPr>
          <a:xfrm>
            <a:off x="731520" y="1645920"/>
            <a:ext cx="2468880" cy="2011680"/>
          </a:xfrm>
          <a:prstGeom prst="roundRect">
            <a:avLst/>
          </a:prstGeom>
          <a:solidFill>
            <a:srgbClr val="121629"/>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2103120" cy="365760"/>
          </a:xfrm>
          <a:prstGeom prst="rect">
            <a:avLst/>
          </a:prstGeom>
          <a:noFill/>
        </p:spPr>
        <p:txBody>
          <a:bodyPr wrap="square">
            <a:spAutoFit/>
          </a:bodyPr>
          <a:lstStyle/>
          <a:p>
            <a:pPr algn="l">
              <a:defRPr sz="1200" b="1">
                <a:solidFill>
                  <a:srgbClr val="94A3B8"/>
                </a:solidFill>
                <a:latin typeface="Trebuchet MS"/>
              </a:defRPr>
            </a:pPr>
            <a:r>
              <a:t>Audience Reserve Ratio</a:t>
            </a:r>
          </a:p>
        </p:txBody>
      </p:sp>
      <p:sp>
        <p:nvSpPr>
          <p:cNvPr id="6" name="TextBox 5"/>
          <p:cNvSpPr txBox="1"/>
          <p:nvPr/>
        </p:nvSpPr>
        <p:spPr>
          <a:xfrm>
            <a:off x="914400" y="2194560"/>
            <a:ext cx="2103120" cy="731520"/>
          </a:xfrm>
          <a:prstGeom prst="rect">
            <a:avLst/>
          </a:prstGeom>
          <a:noFill/>
        </p:spPr>
        <p:txBody>
          <a:bodyPr wrap="square">
            <a:spAutoFit/>
          </a:bodyPr>
          <a:lstStyle/>
          <a:p>
            <a:pPr algn="l">
              <a:defRPr sz="3200" b="1">
                <a:solidFill>
                  <a:srgbClr val="FFFFFF"/>
                </a:solidFill>
                <a:latin typeface="Trebuchet MS"/>
              </a:defRPr>
            </a:pPr>
            <a:r>
              <a:t>234.50%</a:t>
            </a:r>
          </a:p>
        </p:txBody>
      </p:sp>
      <p:sp>
        <p:nvSpPr>
          <p:cNvPr id="7" name="TextBox 6"/>
          <p:cNvSpPr txBox="1"/>
          <p:nvPr/>
        </p:nvSpPr>
        <p:spPr>
          <a:xfrm>
            <a:off x="914400" y="3017520"/>
            <a:ext cx="2103120" cy="457200"/>
          </a:xfrm>
          <a:prstGeom prst="rect">
            <a:avLst/>
          </a:prstGeom>
          <a:noFill/>
        </p:spPr>
        <p:txBody>
          <a:bodyPr wrap="square">
            <a:spAutoFit/>
          </a:bodyPr>
          <a:lstStyle/>
          <a:p>
            <a:pPr algn="l">
              <a:defRPr sz="1000" b="0">
                <a:solidFill>
                  <a:srgbClr val="10B981"/>
                </a:solidFill>
                <a:latin typeface="Trebuchet MS"/>
              </a:defRPr>
            </a:pPr>
            <a:r>
              <a:t>Extremely Safe (p05: 234.49%)</a:t>
            </a:r>
          </a:p>
        </p:txBody>
      </p:sp>
      <p:sp>
        <p:nvSpPr>
          <p:cNvPr id="8" name="Rounded Rectangle 7"/>
          <p:cNvSpPr/>
          <p:nvPr/>
        </p:nvSpPr>
        <p:spPr>
          <a:xfrm>
            <a:off x="3383280" y="1645920"/>
            <a:ext cx="2468880" cy="2011680"/>
          </a:xfrm>
          <a:prstGeom prst="roundRect">
            <a:avLst/>
          </a:prstGeom>
          <a:solidFill>
            <a:srgbClr val="121629"/>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1828800"/>
            <a:ext cx="2103120" cy="365760"/>
          </a:xfrm>
          <a:prstGeom prst="rect">
            <a:avLst/>
          </a:prstGeom>
          <a:noFill/>
        </p:spPr>
        <p:txBody>
          <a:bodyPr wrap="square">
            <a:spAutoFit/>
          </a:bodyPr>
          <a:lstStyle/>
          <a:p>
            <a:pPr algn="l">
              <a:defRPr sz="1200" b="1">
                <a:solidFill>
                  <a:srgbClr val="94A3B8"/>
                </a:solidFill>
                <a:latin typeface="Trebuchet MS"/>
              </a:defRPr>
            </a:pPr>
            <a:r>
              <a:t>Median Spot Price (Z1U)</a:t>
            </a:r>
          </a:p>
        </p:txBody>
      </p:sp>
      <p:sp>
        <p:nvSpPr>
          <p:cNvPr id="10" name="TextBox 9"/>
          <p:cNvSpPr txBox="1"/>
          <p:nvPr/>
        </p:nvSpPr>
        <p:spPr>
          <a:xfrm>
            <a:off x="3566160" y="2194560"/>
            <a:ext cx="2103120" cy="731520"/>
          </a:xfrm>
          <a:prstGeom prst="rect">
            <a:avLst/>
          </a:prstGeom>
          <a:noFill/>
        </p:spPr>
        <p:txBody>
          <a:bodyPr wrap="square">
            <a:spAutoFit/>
          </a:bodyPr>
          <a:lstStyle/>
          <a:p>
            <a:pPr algn="l">
              <a:defRPr sz="3200" b="1">
                <a:solidFill>
                  <a:srgbClr val="FFFFFF"/>
                </a:solidFill>
                <a:latin typeface="Trebuchet MS"/>
              </a:defRPr>
            </a:pPr>
            <a:r>
              <a:t>$0.0732</a:t>
            </a:r>
          </a:p>
        </p:txBody>
      </p:sp>
      <p:sp>
        <p:nvSpPr>
          <p:cNvPr id="11" name="TextBox 10"/>
          <p:cNvSpPr txBox="1"/>
          <p:nvPr/>
        </p:nvSpPr>
        <p:spPr>
          <a:xfrm>
            <a:off x="3566160" y="3017520"/>
            <a:ext cx="2103120" cy="457200"/>
          </a:xfrm>
          <a:prstGeom prst="rect">
            <a:avLst/>
          </a:prstGeom>
          <a:noFill/>
        </p:spPr>
        <p:txBody>
          <a:bodyPr wrap="square">
            <a:spAutoFit/>
          </a:bodyPr>
          <a:lstStyle/>
          <a:p>
            <a:pPr algn="l">
              <a:defRPr sz="1000" b="0">
                <a:solidFill>
                  <a:srgbClr val="10B981"/>
                </a:solidFill>
                <a:latin typeface="Trebuchet MS"/>
              </a:defRPr>
            </a:pPr>
            <a:r>
              <a:t>Resilient to multi-epoch dump cycles</a:t>
            </a:r>
          </a:p>
        </p:txBody>
      </p:sp>
      <p:sp>
        <p:nvSpPr>
          <p:cNvPr id="12" name="Rounded Rectangle 11"/>
          <p:cNvSpPr/>
          <p:nvPr/>
        </p:nvSpPr>
        <p:spPr>
          <a:xfrm>
            <a:off x="6035040" y="1645920"/>
            <a:ext cx="2468880" cy="2011680"/>
          </a:xfrm>
          <a:prstGeom prst="roundRect">
            <a:avLst/>
          </a:prstGeom>
          <a:solidFill>
            <a:srgbClr val="121629"/>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828800"/>
            <a:ext cx="2103120" cy="365760"/>
          </a:xfrm>
          <a:prstGeom prst="rect">
            <a:avLst/>
          </a:prstGeom>
          <a:noFill/>
        </p:spPr>
        <p:txBody>
          <a:bodyPr wrap="square">
            <a:spAutoFit/>
          </a:bodyPr>
          <a:lstStyle/>
          <a:p>
            <a:pPr algn="l">
              <a:defRPr sz="1200" b="1">
                <a:solidFill>
                  <a:srgbClr val="94A3B8"/>
                </a:solidFill>
                <a:latin typeface="Trebuchet MS"/>
              </a:defRPr>
            </a:pPr>
            <a:r>
              <a:t>Simulation Horizon</a:t>
            </a:r>
          </a:p>
        </p:txBody>
      </p:sp>
      <p:sp>
        <p:nvSpPr>
          <p:cNvPr id="14" name="TextBox 13"/>
          <p:cNvSpPr txBox="1"/>
          <p:nvPr/>
        </p:nvSpPr>
        <p:spPr>
          <a:xfrm>
            <a:off x="6217920" y="2194560"/>
            <a:ext cx="2103120" cy="731520"/>
          </a:xfrm>
          <a:prstGeom prst="rect">
            <a:avLst/>
          </a:prstGeom>
          <a:noFill/>
        </p:spPr>
        <p:txBody>
          <a:bodyPr wrap="square">
            <a:spAutoFit/>
          </a:bodyPr>
          <a:lstStyle/>
          <a:p>
            <a:pPr algn="l">
              <a:defRPr sz="3200" b="1">
                <a:solidFill>
                  <a:srgbClr val="FFFFFF"/>
                </a:solidFill>
                <a:latin typeface="Trebuchet MS"/>
              </a:defRPr>
            </a:pPr>
            <a:r>
              <a:t>365 Days</a:t>
            </a:r>
          </a:p>
        </p:txBody>
      </p:sp>
      <p:sp>
        <p:nvSpPr>
          <p:cNvPr id="15" name="TextBox 14"/>
          <p:cNvSpPr txBox="1"/>
          <p:nvPr/>
        </p:nvSpPr>
        <p:spPr>
          <a:xfrm>
            <a:off x="6217920" y="3017520"/>
            <a:ext cx="2103120" cy="457200"/>
          </a:xfrm>
          <a:prstGeom prst="rect">
            <a:avLst/>
          </a:prstGeom>
          <a:noFill/>
        </p:spPr>
        <p:txBody>
          <a:bodyPr wrap="square">
            <a:spAutoFit/>
          </a:bodyPr>
          <a:lstStyle/>
          <a:p>
            <a:pPr algn="l">
              <a:defRPr sz="1000" b="0">
                <a:solidFill>
                  <a:srgbClr val="6366F1"/>
                </a:solidFill>
                <a:latin typeface="Trebuchet MS"/>
              </a:defRPr>
            </a:pPr>
            <a:r>
              <a:t>100 complete epochs modeled</a:t>
            </a:r>
          </a:p>
        </p:txBody>
      </p:sp>
      <p:sp>
        <p:nvSpPr>
          <p:cNvPr id="16" name="Rounded Rectangle 15"/>
          <p:cNvSpPr/>
          <p:nvPr/>
        </p:nvSpPr>
        <p:spPr>
          <a:xfrm>
            <a:off x="8686799" y="1645920"/>
            <a:ext cx="2468880" cy="2011680"/>
          </a:xfrm>
          <a:prstGeom prst="roundRect">
            <a:avLst/>
          </a:prstGeom>
          <a:solidFill>
            <a:srgbClr val="121629"/>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79" y="1828800"/>
            <a:ext cx="2103120" cy="365760"/>
          </a:xfrm>
          <a:prstGeom prst="rect">
            <a:avLst/>
          </a:prstGeom>
          <a:noFill/>
        </p:spPr>
        <p:txBody>
          <a:bodyPr wrap="square">
            <a:spAutoFit/>
          </a:bodyPr>
          <a:lstStyle/>
          <a:p>
            <a:pPr algn="l">
              <a:defRPr sz="1200" b="1">
                <a:solidFill>
                  <a:srgbClr val="94A3B8"/>
                </a:solidFill>
                <a:latin typeface="Trebuchet MS"/>
              </a:defRPr>
            </a:pPr>
            <a:r>
              <a:t>Double-Entry Conservation</a:t>
            </a:r>
          </a:p>
        </p:txBody>
      </p:sp>
      <p:sp>
        <p:nvSpPr>
          <p:cNvPr id="18" name="TextBox 17"/>
          <p:cNvSpPr txBox="1"/>
          <p:nvPr/>
        </p:nvSpPr>
        <p:spPr>
          <a:xfrm>
            <a:off x="8869679" y="2194560"/>
            <a:ext cx="2103120" cy="731520"/>
          </a:xfrm>
          <a:prstGeom prst="rect">
            <a:avLst/>
          </a:prstGeom>
          <a:noFill/>
        </p:spPr>
        <p:txBody>
          <a:bodyPr wrap="square">
            <a:spAutoFit/>
          </a:bodyPr>
          <a:lstStyle/>
          <a:p>
            <a:pPr algn="l">
              <a:defRPr sz="3200" b="1">
                <a:solidFill>
                  <a:srgbClr val="FFFFFF"/>
                </a:solidFill>
                <a:latin typeface="Trebuchet MS"/>
              </a:defRPr>
            </a:pPr>
            <a:r>
              <a:t>100.00%</a:t>
            </a:r>
          </a:p>
        </p:txBody>
      </p:sp>
      <p:sp>
        <p:nvSpPr>
          <p:cNvPr id="19" name="TextBox 18"/>
          <p:cNvSpPr txBox="1"/>
          <p:nvPr/>
        </p:nvSpPr>
        <p:spPr>
          <a:xfrm>
            <a:off x="8869679" y="3017520"/>
            <a:ext cx="2103120" cy="457200"/>
          </a:xfrm>
          <a:prstGeom prst="rect">
            <a:avLst/>
          </a:prstGeom>
          <a:noFill/>
        </p:spPr>
        <p:txBody>
          <a:bodyPr wrap="square">
            <a:spAutoFit/>
          </a:bodyPr>
          <a:lstStyle/>
          <a:p>
            <a:pPr algn="l">
              <a:defRPr sz="1000" b="0">
                <a:solidFill>
                  <a:srgbClr val="10B981"/>
                </a:solidFill>
                <a:latin typeface="Trebuchet MS"/>
              </a:defRPr>
            </a:pPr>
            <a:r>
              <a:t>Zero token leakage detected across runs</a:t>
            </a:r>
          </a:p>
        </p:txBody>
      </p:sp>
      <p:sp>
        <p:nvSpPr>
          <p:cNvPr id="20" name="TextBox 19"/>
          <p:cNvSpPr txBox="1"/>
          <p:nvPr/>
        </p:nvSpPr>
        <p:spPr>
          <a:xfrm>
            <a:off x="731520" y="3931920"/>
            <a:ext cx="10515600" cy="2286000"/>
          </a:xfrm>
          <a:prstGeom prst="rect">
            <a:avLst/>
          </a:prstGeom>
          <a:noFill/>
        </p:spPr>
        <p:txBody>
          <a:bodyPr wrap="square">
            <a:spAutoFit/>
          </a:bodyPr>
          <a:lstStyle/>
          <a:p>
            <a:pPr>
              <a:spcAft>
                <a:spcPts val="800"/>
              </a:spcAft>
              <a:defRPr sz="1400">
                <a:solidFill>
                  <a:srgbClr val="F8FAFC"/>
                </a:solidFill>
                <a:latin typeface="Calibri"/>
              </a:defRPr>
            </a:pPr>
            <a:r>
              <a:t>✦  The model promoted to production has a median AR ratio of 234.50%, far above the 30.00% critical collapse zone.</a:t>
            </a:r>
          </a:p>
          <a:p>
            <a:pPr>
              <a:spcAft>
                <a:spcPts val="800"/>
              </a:spcAft>
              <a:defRPr sz="1400">
                <a:solidFill>
                  <a:srgbClr val="F8FAFC"/>
                </a:solidFill>
                <a:latin typeface="Calibri"/>
              </a:defRPr>
            </a:pPr>
            <a:r>
              <a:t>✦  The final spot price remains stable at $0.0732, avoiding the $0.05 death spiral threshhold.</a:t>
            </a:r>
          </a:p>
          <a:p>
            <a:pPr>
              <a:spcAft>
                <a:spcPts val="800"/>
              </a:spcAft>
              <a:defRPr sz="1400">
                <a:solidFill>
                  <a:srgbClr val="F8FAFC"/>
                </a:solidFill>
                <a:latin typeface="Calibri"/>
              </a:defRPr>
            </a:pPr>
            <a:r>
              <a:t>✦  The system exhibits positive coinflow synchronization, proving that utility taxation effectively cushions supply expansion.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913"/>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Trebuchet MS"/>
              </a:defRPr>
            </a:pPr>
            <a:r>
              <a:t>Comparative Analysis: M2 vs M3</a:t>
            </a:r>
          </a:p>
        </p:txBody>
      </p:sp>
      <p:pic>
        <p:nvPicPr>
          <p:cNvPr id="3" name="Picture 2" descr="m2_m3_comparison.png"/>
          <p:cNvPicPr>
            <a:picLocks noChangeAspect="1"/>
          </p:cNvPicPr>
          <p:nvPr/>
        </p:nvPicPr>
        <p:blipFill>
          <a:blip r:embed="rId2"/>
          <a:stretch>
            <a:fillRect/>
          </a:stretch>
        </p:blipFill>
        <p:spPr>
          <a:xfrm>
            <a:off x="6217920" y="1188720"/>
            <a:ext cx="5212080" cy="4114800"/>
          </a:xfrm>
          <a:prstGeom prst="rect">
            <a:avLst/>
          </a:prstGeom>
        </p:spPr>
      </p:pic>
      <p:graphicFrame>
        <p:nvGraphicFramePr>
          <p:cNvPr id="4" name="Table 3"/>
          <p:cNvGraphicFramePr>
            <a:graphicFrameLocks noGrp="1"/>
          </p:cNvGraphicFramePr>
          <p:nvPr/>
        </p:nvGraphicFramePr>
        <p:xfrm>
          <a:off x="731520" y="1188720"/>
          <a:ext cx="5120640" cy="4114800"/>
        </p:xfrm>
        <a:graphic>
          <a:graphicData uri="http://schemas.openxmlformats.org/drawingml/2006/table">
            <a:tbl>
              <a:tblPr firstRow="1" bandRow="1">
                <a:tableStyleId>{5C22544A-7EE6-4342-B048-85BDC9FD1C3A}</a:tableStyleId>
              </a:tblPr>
              <a:tblGrid>
                <a:gridCol w="1706880"/>
                <a:gridCol w="1706880"/>
                <a:gridCol w="1706880"/>
              </a:tblGrid>
              <a:tr h="587828">
                <a:tc>
                  <a:txBody>
                    <a:bodyPr/>
                    <a:lstStyle/>
                    <a:p>
                      <a:pPr>
                        <a:defRPr sz="1200" b="1">
                          <a:solidFill>
                            <a:srgbClr val="FFFFFF"/>
                          </a:solidFill>
                          <a:latin typeface="Trebuchet MS"/>
                        </a:defRPr>
                      </a:pPr>
                      <a:r>
                        <a:t>Feature Metric</a:t>
                      </a:r>
                    </a:p>
                  </a:txBody>
                  <a:tcPr>
                    <a:solidFill>
                      <a:srgbClr val="A855F7"/>
                    </a:solidFill>
                  </a:tcPr>
                </a:tc>
                <a:tc>
                  <a:txBody>
                    <a:bodyPr/>
                    <a:lstStyle/>
                    <a:p>
                      <a:pPr>
                        <a:defRPr sz="1200" b="1">
                          <a:solidFill>
                            <a:srgbClr val="FFFFFF"/>
                          </a:solidFill>
                          <a:latin typeface="Trebuchet MS"/>
                        </a:defRPr>
                      </a:pPr>
                      <a:r>
                        <a:t>Legacy M2 Pipeline</a:t>
                      </a:r>
                    </a:p>
                  </a:txBody>
                  <a:tcPr>
                    <a:solidFill>
                      <a:srgbClr val="A855F7"/>
                    </a:solidFill>
                  </a:tcPr>
                </a:tc>
                <a:tc>
                  <a:txBody>
                    <a:bodyPr/>
                    <a:lstStyle/>
                    <a:p>
                      <a:pPr>
                        <a:defRPr sz="1200" b="1">
                          <a:solidFill>
                            <a:srgbClr val="FFFFFF"/>
                          </a:solidFill>
                          <a:latin typeface="Trebuchet MS"/>
                        </a:defRPr>
                      </a:pPr>
                      <a:r>
                        <a:t>Optimized M3 Loop</a:t>
                      </a:r>
                    </a:p>
                  </a:txBody>
                  <a:tcPr>
                    <a:solidFill>
                      <a:srgbClr val="A855F7"/>
                    </a:solidFill>
                  </a:tcPr>
                </a:tc>
              </a:tr>
              <a:tr h="587828">
                <a:tc>
                  <a:txBody>
                    <a:bodyPr/>
                    <a:lstStyle/>
                    <a:p>
                      <a:pPr>
                        <a:defRPr sz="1100">
                          <a:solidFill>
                            <a:srgbClr val="F8FAFC"/>
                          </a:solidFill>
                          <a:latin typeface="Calibri"/>
                        </a:defRPr>
                      </a:pPr>
                      <a:r>
                        <a:t>Staking Engine</a:t>
                      </a:r>
                    </a:p>
                  </a:txBody>
                  <a:tcPr>
                    <a:solidFill>
                      <a:srgbClr val="121629"/>
                    </a:solidFill>
                  </a:tcPr>
                </a:tc>
                <a:tc>
                  <a:txBody>
                    <a:bodyPr/>
                    <a:lstStyle/>
                    <a:p>
                      <a:pPr>
                        <a:defRPr sz="1100">
                          <a:solidFill>
                            <a:srgbClr val="F8FAFC"/>
                          </a:solidFill>
                          <a:latin typeface="Calibri"/>
                        </a:defRPr>
                      </a:pPr>
                      <a:r>
                        <a:t>None (Static Hold)</a:t>
                      </a:r>
                    </a:p>
                  </a:txBody>
                  <a:tcPr>
                    <a:solidFill>
                      <a:srgbClr val="121629"/>
                    </a:solidFill>
                  </a:tcPr>
                </a:tc>
                <a:tc>
                  <a:txBody>
                    <a:bodyPr/>
                    <a:lstStyle/>
                    <a:p>
                      <a:pPr>
                        <a:defRPr sz="1100">
                          <a:solidFill>
                            <a:srgbClr val="F8FAFC"/>
                          </a:solidFill>
                          <a:latin typeface="Calibri"/>
                        </a:defRPr>
                      </a:pPr>
                      <a:r>
                        <a:t>Dynamic Z1P Staking Active</a:t>
                      </a:r>
                    </a:p>
                  </a:txBody>
                  <a:tcPr>
                    <a:solidFill>
                      <a:srgbClr val="121629"/>
                    </a:solidFill>
                  </a:tcPr>
                </a:tc>
              </a:tr>
              <a:tr h="587828">
                <a:tc>
                  <a:txBody>
                    <a:bodyPr/>
                    <a:lstStyle/>
                    <a:p>
                      <a:pPr>
                        <a:defRPr sz="1100">
                          <a:solidFill>
                            <a:srgbClr val="F8FAFC"/>
                          </a:solidFill>
                          <a:latin typeface="Calibri"/>
                        </a:defRPr>
                      </a:pPr>
                      <a:r>
                        <a:t>Queue Friction</a:t>
                      </a:r>
                    </a:p>
                  </a:txBody>
                  <a:tcPr>
                    <a:solidFill>
                      <a:srgbClr val="070913"/>
                    </a:solidFill>
                  </a:tcPr>
                </a:tc>
                <a:tc>
                  <a:txBody>
                    <a:bodyPr/>
                    <a:lstStyle/>
                    <a:p>
                      <a:pPr>
                        <a:defRPr sz="1100">
                          <a:solidFill>
                            <a:srgbClr val="F8FAFC"/>
                          </a:solidFill>
                          <a:latin typeface="Calibri"/>
                        </a:defRPr>
                      </a:pPr>
                      <a:r>
                        <a:t>Ad-hoc Decay</a:t>
                      </a:r>
                    </a:p>
                  </a:txBody>
                  <a:tcPr>
                    <a:solidFill>
                      <a:srgbClr val="070913"/>
                    </a:solidFill>
                  </a:tcPr>
                </a:tc>
                <a:tc>
                  <a:txBody>
                    <a:bodyPr/>
                    <a:lstStyle/>
                    <a:p>
                      <a:pPr>
                        <a:defRPr sz="1100">
                          <a:solidFill>
                            <a:srgbClr val="F8FAFC"/>
                          </a:solidFill>
                          <a:latin typeface="Calibri"/>
                        </a:defRPr>
                      </a:pPr>
                      <a:r>
                        <a:t>Adaptive modifier thresholds</a:t>
                      </a:r>
                    </a:p>
                  </a:txBody>
                  <a:tcPr>
                    <a:solidFill>
                      <a:srgbClr val="070913"/>
                    </a:solidFill>
                  </a:tcPr>
                </a:tc>
              </a:tr>
              <a:tr h="587828">
                <a:tc>
                  <a:txBody>
                    <a:bodyPr/>
                    <a:lstStyle/>
                    <a:p>
                      <a:pPr>
                        <a:defRPr sz="1100">
                          <a:solidFill>
                            <a:srgbClr val="F8FAFC"/>
                          </a:solidFill>
                          <a:latin typeface="Calibri"/>
                        </a:defRPr>
                      </a:pPr>
                      <a:r>
                        <a:t>Panic Thresholds</a:t>
                      </a:r>
                    </a:p>
                  </a:txBody>
                  <a:tcPr>
                    <a:solidFill>
                      <a:srgbClr val="121629"/>
                    </a:solidFill>
                  </a:tcPr>
                </a:tc>
                <a:tc>
                  <a:txBody>
                    <a:bodyPr/>
                    <a:lstStyle/>
                    <a:p>
                      <a:pPr>
                        <a:defRPr sz="1100">
                          <a:solidFill>
                            <a:srgbClr val="F8FAFC"/>
                          </a:solidFill>
                          <a:latin typeface="Calibri"/>
                        </a:defRPr>
                      </a:pPr>
                      <a:r>
                        <a:t>10% sudden trigger</a:t>
                      </a:r>
                    </a:p>
                  </a:txBody>
                  <a:tcPr>
                    <a:solidFill>
                      <a:srgbClr val="121629"/>
                    </a:solidFill>
                  </a:tcPr>
                </a:tc>
                <a:tc>
                  <a:txBody>
                    <a:bodyPr/>
                    <a:lstStyle/>
                    <a:p>
                      <a:pPr>
                        <a:defRPr sz="1100">
                          <a:solidFill>
                            <a:srgbClr val="F8FAFC"/>
                          </a:solidFill>
                          <a:latin typeface="Calibri"/>
                        </a:defRPr>
                      </a:pPr>
                      <a:r>
                        <a:t>Smooth rate-of-change dynamic dampening</a:t>
                      </a:r>
                    </a:p>
                  </a:txBody>
                  <a:tcPr>
                    <a:solidFill>
                      <a:srgbClr val="121629"/>
                    </a:solidFill>
                  </a:tcPr>
                </a:tc>
              </a:tr>
              <a:tr h="587828">
                <a:tc>
                  <a:txBody>
                    <a:bodyPr/>
                    <a:lstStyle/>
                    <a:p>
                      <a:pPr>
                        <a:defRPr sz="1100">
                          <a:solidFill>
                            <a:srgbClr val="F8FAFC"/>
                          </a:solidFill>
                          <a:latin typeface="Calibri"/>
                        </a:defRPr>
                      </a:pPr>
                      <a:r>
                        <a:t>AMM Synchronization</a:t>
                      </a:r>
                    </a:p>
                  </a:txBody>
                  <a:tcPr>
                    <a:solidFill>
                      <a:srgbClr val="070913"/>
                    </a:solidFill>
                  </a:tcPr>
                </a:tc>
                <a:tc>
                  <a:txBody>
                    <a:bodyPr/>
                    <a:lstStyle/>
                    <a:p>
                      <a:pPr>
                        <a:defRPr sz="1100">
                          <a:solidFill>
                            <a:srgbClr val="F8FAFC"/>
                          </a:solidFill>
                          <a:latin typeface="Calibri"/>
                        </a:defRPr>
                      </a:pPr>
                      <a:r>
                        <a:t>Delayed epoch-end</a:t>
                      </a:r>
                    </a:p>
                  </a:txBody>
                  <a:tcPr>
                    <a:solidFill>
                      <a:srgbClr val="070913"/>
                    </a:solidFill>
                  </a:tcPr>
                </a:tc>
                <a:tc>
                  <a:txBody>
                    <a:bodyPr/>
                    <a:lstStyle/>
                    <a:p>
                      <a:pPr>
                        <a:defRPr sz="1100">
                          <a:solidFill>
                            <a:srgbClr val="F8FAFC"/>
                          </a:solidFill>
                          <a:latin typeface="Calibri"/>
                        </a:defRPr>
                      </a:pPr>
                      <a:r>
                        <a:t>Phase-locked continuous balances</a:t>
                      </a:r>
                    </a:p>
                  </a:txBody>
                  <a:tcPr>
                    <a:solidFill>
                      <a:srgbClr val="070913"/>
                    </a:solidFill>
                  </a:tcPr>
                </a:tc>
              </a:tr>
              <a:tr h="587828">
                <a:tc>
                  <a:txBody>
                    <a:bodyPr/>
                    <a:lstStyle/>
                    <a:p>
                      <a:pPr>
                        <a:defRPr sz="1100">
                          <a:solidFill>
                            <a:srgbClr val="F8FAFC"/>
                          </a:solidFill>
                          <a:latin typeface="Calibri"/>
                        </a:defRPr>
                      </a:pPr>
                      <a:r>
                        <a:t>Ledger Integrity</a:t>
                      </a:r>
                    </a:p>
                  </a:txBody>
                  <a:tcPr>
                    <a:solidFill>
                      <a:srgbClr val="121629"/>
                    </a:solidFill>
                  </a:tcPr>
                </a:tc>
                <a:tc>
                  <a:txBody>
                    <a:bodyPr/>
                    <a:lstStyle/>
                    <a:p>
                      <a:pPr>
                        <a:defRPr sz="1100">
                          <a:solidFill>
                            <a:srgbClr val="F8FAFC"/>
                          </a:solidFill>
                          <a:latin typeface="Calibri"/>
                        </a:defRPr>
                      </a:pPr>
                      <a:r>
                        <a:t>Loose verification</a:t>
                      </a:r>
                    </a:p>
                  </a:txBody>
                  <a:tcPr>
                    <a:solidFill>
                      <a:srgbClr val="121629"/>
                    </a:solidFill>
                  </a:tcPr>
                </a:tc>
                <a:tc>
                  <a:txBody>
                    <a:bodyPr/>
                    <a:lstStyle/>
                    <a:p>
                      <a:pPr>
                        <a:defRPr sz="1100">
                          <a:solidFill>
                            <a:srgbClr val="F8FAFC"/>
                          </a:solidFill>
                          <a:latin typeface="Calibri"/>
                        </a:defRPr>
                      </a:pPr>
                      <a:r>
                        <a:t>Strict Double-entry Conservation</a:t>
                      </a:r>
                    </a:p>
                  </a:txBody>
                  <a:tcPr>
                    <a:solidFill>
                      <a:srgbClr val="121629"/>
                    </a:solidFill>
                  </a:tcPr>
                </a:tc>
              </a:tr>
              <a:tr h="587832">
                <a:tc>
                  <a:txBody>
                    <a:bodyPr/>
                    <a:lstStyle/>
                    <a:p>
                      <a:pPr>
                        <a:defRPr sz="1100">
                          <a:solidFill>
                            <a:srgbClr val="F8FAFC"/>
                          </a:solidFill>
                          <a:latin typeface="Calibri"/>
                        </a:defRPr>
                      </a:pPr>
                      <a:r>
                        <a:t>Safety Status</a:t>
                      </a:r>
                    </a:p>
                  </a:txBody>
                  <a:tcPr>
                    <a:solidFill>
                      <a:srgbClr val="070913"/>
                    </a:solidFill>
                  </a:tcPr>
                </a:tc>
                <a:tc>
                  <a:txBody>
                    <a:bodyPr/>
                    <a:lstStyle/>
                    <a:p>
                      <a:pPr>
                        <a:defRPr sz="1100">
                          <a:solidFill>
                            <a:srgbClr val="F8FAFC"/>
                          </a:solidFill>
                          <a:latin typeface="Calibri"/>
                        </a:defRPr>
                      </a:pPr>
                      <a:r>
                        <a:t>Vulnerable to rapid panic</a:t>
                      </a:r>
                    </a:p>
                  </a:txBody>
                  <a:tcPr>
                    <a:solidFill>
                      <a:srgbClr val="070913"/>
                    </a:solidFill>
                  </a:tcPr>
                </a:tc>
                <a:tc>
                  <a:txBody>
                    <a:bodyPr/>
                    <a:lstStyle/>
                    <a:p>
                      <a:pPr>
                        <a:defRPr sz="1100">
                          <a:solidFill>
                            <a:srgbClr val="F8FAFC"/>
                          </a:solidFill>
                          <a:latin typeface="Calibri"/>
                        </a:defRPr>
                      </a:pPr>
                      <a:r>
                        <a:t>Robust resilience to 10x spikes</a:t>
                      </a:r>
                    </a:p>
                  </a:txBody>
                  <a:tcPr>
                    <a:solidFill>
                      <a:srgbClr val="070913"/>
                    </a:solidFill>
                  </a:tcPr>
                </a:tc>
              </a:tr>
            </a:tbl>
          </a:graphicData>
        </a:graphic>
      </p:graphicFrame>
      <p:sp>
        <p:nvSpPr>
          <p:cNvPr id="5" name="TextBox 4"/>
          <p:cNvSpPr txBox="1"/>
          <p:nvPr/>
        </p:nvSpPr>
        <p:spPr>
          <a:xfrm>
            <a:off x="731520" y="5486400"/>
            <a:ext cx="10515600" cy="731520"/>
          </a:xfrm>
          <a:prstGeom prst="rect">
            <a:avLst/>
          </a:prstGeom>
          <a:noFill/>
        </p:spPr>
        <p:txBody>
          <a:bodyPr wrap="square">
            <a:spAutoFit/>
          </a:bodyPr>
          <a:lstStyle/>
          <a:p>
            <a:pPr algn="l">
              <a:defRPr sz="1300" b="1">
                <a:solidFill>
                  <a:srgbClr val="6366F1"/>
                </a:solidFill>
                <a:latin typeface="Trebuchet MS"/>
              </a:defRPr>
            </a:pPr>
            <a:r>
              <a:t>Takeaway: Transitioning to continuous state tracking and dynamic Z1P sinks reduces peak volatility by 42%.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913"/>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Trebuchet MS"/>
              </a:defRPr>
            </a:pPr>
            <a:r>
              <a:t>Parametric Sensitivity Sweeps</a:t>
            </a:r>
          </a:p>
        </p:txBody>
      </p:sp>
      <p:pic>
        <p:nvPicPr>
          <p:cNvPr id="3" name="Picture 2" descr="parameter_sensitivity_heatmaps.png"/>
          <p:cNvPicPr>
            <a:picLocks noChangeAspect="1"/>
          </p:cNvPicPr>
          <p:nvPr/>
        </p:nvPicPr>
        <p:blipFill>
          <a:blip r:embed="rId2"/>
          <a:stretch>
            <a:fillRect/>
          </a:stretch>
        </p:blipFill>
        <p:spPr>
          <a:xfrm>
            <a:off x="6217920" y="1188720"/>
            <a:ext cx="5212080" cy="4114800"/>
          </a:xfrm>
          <a:prstGeom prst="rect">
            <a:avLst/>
          </a:prstGeom>
        </p:spPr>
      </p:pic>
      <p:graphicFrame>
        <p:nvGraphicFramePr>
          <p:cNvPr id="4" name="Table 3"/>
          <p:cNvGraphicFramePr>
            <a:graphicFrameLocks noGrp="1"/>
          </p:cNvGraphicFramePr>
          <p:nvPr/>
        </p:nvGraphicFramePr>
        <p:xfrm>
          <a:off x="731520" y="1188720"/>
          <a:ext cx="5120640" cy="4114800"/>
        </p:xfrm>
        <a:graphic>
          <a:graphicData uri="http://schemas.openxmlformats.org/drawingml/2006/table">
            <a:tbl>
              <a:tblPr firstRow="1" bandRow="1">
                <a:tableStyleId>{5C22544A-7EE6-4342-B048-85BDC9FD1C3A}</a:tableStyleId>
              </a:tblPr>
              <a:tblGrid>
                <a:gridCol w="1280160"/>
                <a:gridCol w="1280160"/>
                <a:gridCol w="1280160"/>
                <a:gridCol w="1280160"/>
              </a:tblGrid>
              <a:tr h="587828">
                <a:tc>
                  <a:txBody>
                    <a:bodyPr/>
                    <a:lstStyle/>
                    <a:p>
                      <a:pPr>
                        <a:defRPr sz="1200" b="1">
                          <a:solidFill>
                            <a:srgbClr val="FFFFFF"/>
                          </a:solidFill>
                          <a:latin typeface="Trebuchet MS"/>
                        </a:defRPr>
                      </a:pPr>
                      <a:r>
                        <a:t>Rank</a:t>
                      </a:r>
                    </a:p>
                  </a:txBody>
                  <a:tcPr>
                    <a:solidFill>
                      <a:srgbClr val="6366F1"/>
                    </a:solidFill>
                  </a:tcPr>
                </a:tc>
                <a:tc>
                  <a:txBody>
                    <a:bodyPr/>
                    <a:lstStyle/>
                    <a:p>
                      <a:pPr>
                        <a:defRPr sz="1200" b="1">
                          <a:solidFill>
                            <a:srgbClr val="FFFFFF"/>
                          </a:solidFill>
                          <a:latin typeface="Trebuchet MS"/>
                        </a:defRPr>
                      </a:pPr>
                      <a:r>
                        <a:t>Parameter Swept</a:t>
                      </a:r>
                    </a:p>
                  </a:txBody>
                  <a:tcPr>
                    <a:solidFill>
                      <a:srgbClr val="6366F1"/>
                    </a:solidFill>
                  </a:tcPr>
                </a:tc>
                <a:tc>
                  <a:txBody>
                    <a:bodyPr/>
                    <a:lstStyle/>
                    <a:p>
                      <a:pPr>
                        <a:defRPr sz="1200" b="1">
                          <a:solidFill>
                            <a:srgbClr val="FFFFFF"/>
                          </a:solidFill>
                          <a:latin typeface="Trebuchet MS"/>
                        </a:defRPr>
                      </a:pPr>
                      <a:r>
                        <a:t>AR Elasticity</a:t>
                      </a:r>
                    </a:p>
                  </a:txBody>
                  <a:tcPr>
                    <a:solidFill>
                      <a:srgbClr val="6366F1"/>
                    </a:solidFill>
                  </a:tcPr>
                </a:tc>
                <a:tc>
                  <a:txBody>
                    <a:bodyPr/>
                    <a:lstStyle/>
                    <a:p>
                      <a:pPr>
                        <a:defRPr sz="1200" b="1">
                          <a:solidFill>
                            <a:srgbClr val="FFFFFF"/>
                          </a:solidFill>
                          <a:latin typeface="Trebuchet MS"/>
                        </a:defRPr>
                      </a:pPr>
                      <a:r>
                        <a:t>Impact Status</a:t>
                      </a:r>
                    </a:p>
                  </a:txBody>
                  <a:tcPr>
                    <a:solidFill>
                      <a:srgbClr val="6366F1"/>
                    </a:solidFill>
                  </a:tcPr>
                </a:tc>
              </a:tr>
              <a:tr h="587828">
                <a:tc>
                  <a:txBody>
                    <a:bodyPr/>
                    <a:lstStyle/>
                    <a:p>
                      <a:pPr>
                        <a:defRPr sz="1100">
                          <a:solidFill>
                            <a:srgbClr val="F8FAFC"/>
                          </a:solidFill>
                          <a:latin typeface="Calibri"/>
                        </a:defRPr>
                      </a:pPr>
                      <a:r>
                        <a:t>1</a:t>
                      </a:r>
                    </a:p>
                  </a:txBody>
                  <a:tcPr>
                    <a:solidFill>
                      <a:srgbClr val="121629"/>
                    </a:solidFill>
                  </a:tcPr>
                </a:tc>
                <a:tc>
                  <a:txBody>
                    <a:bodyPr/>
                    <a:lstStyle/>
                    <a:p>
                      <a:pPr>
                        <a:defRPr sz="1100">
                          <a:solidFill>
                            <a:srgbClr val="F8FAFC"/>
                          </a:solidFill>
                          <a:latin typeface="Calibri"/>
                        </a:defRPr>
                      </a:pPr>
                      <a:r>
                        <a:t>pool_fee_modifier</a:t>
                      </a:r>
                    </a:p>
                  </a:txBody>
                  <a:tcPr>
                    <a:solidFill>
                      <a:srgbClr val="121629"/>
                    </a:solidFill>
                  </a:tcPr>
                </a:tc>
                <a:tc>
                  <a:txBody>
                    <a:bodyPr/>
                    <a:lstStyle/>
                    <a:p>
                      <a:pPr>
                        <a:defRPr sz="1100">
                          <a:solidFill>
                            <a:srgbClr val="F8FAFC"/>
                          </a:solidFill>
                          <a:latin typeface="Calibri"/>
                        </a:defRPr>
                      </a:pPr>
                      <a:r>
                        <a:t>+3.14</a:t>
                      </a:r>
                    </a:p>
                  </a:txBody>
                  <a:tcPr>
                    <a:solidFill>
                      <a:srgbClr val="121629"/>
                    </a:solidFill>
                  </a:tcPr>
                </a:tc>
                <a:tc>
                  <a:txBody>
                    <a:bodyPr/>
                    <a:lstStyle/>
                    <a:p>
                      <a:pPr>
                        <a:defRPr sz="1100">
                          <a:solidFill>
                            <a:srgbClr val="F8FAFC"/>
                          </a:solidFill>
                          <a:latin typeface="Calibri"/>
                        </a:defRPr>
                      </a:pPr>
                      <a:r>
                        <a:t>Highly critical trigger speed</a:t>
                      </a:r>
                    </a:p>
                  </a:txBody>
                  <a:tcPr>
                    <a:solidFill>
                      <a:srgbClr val="121629"/>
                    </a:solidFill>
                  </a:tcPr>
                </a:tc>
              </a:tr>
              <a:tr h="587828">
                <a:tc>
                  <a:txBody>
                    <a:bodyPr/>
                    <a:lstStyle/>
                    <a:p>
                      <a:pPr>
                        <a:defRPr sz="1100">
                          <a:solidFill>
                            <a:srgbClr val="F8FAFC"/>
                          </a:solidFill>
                          <a:latin typeface="Calibri"/>
                        </a:defRPr>
                      </a:pPr>
                      <a:r>
                        <a:t>2</a:t>
                      </a:r>
                    </a:p>
                  </a:txBody>
                  <a:tcPr>
                    <a:solidFill>
                      <a:srgbClr val="070913"/>
                    </a:solidFill>
                  </a:tcPr>
                </a:tc>
                <a:tc>
                  <a:txBody>
                    <a:bodyPr/>
                    <a:lstStyle/>
                    <a:p>
                      <a:pPr>
                        <a:defRPr sz="1100">
                          <a:solidFill>
                            <a:srgbClr val="F8FAFC"/>
                          </a:solidFill>
                          <a:latin typeface="Calibri"/>
                        </a:defRPr>
                      </a:pPr>
                      <a:r>
                        <a:t>base_settle_ratio</a:t>
                      </a:r>
                    </a:p>
                  </a:txBody>
                  <a:tcPr>
                    <a:solidFill>
                      <a:srgbClr val="070913"/>
                    </a:solidFill>
                  </a:tcPr>
                </a:tc>
                <a:tc>
                  <a:txBody>
                    <a:bodyPr/>
                    <a:lstStyle/>
                    <a:p>
                      <a:pPr>
                        <a:defRPr sz="1100">
                          <a:solidFill>
                            <a:srgbClr val="F8FAFC"/>
                          </a:solidFill>
                          <a:latin typeface="Calibri"/>
                        </a:defRPr>
                      </a:pPr>
                      <a:r>
                        <a:t>-0.85</a:t>
                      </a:r>
                    </a:p>
                  </a:txBody>
                  <a:tcPr>
                    <a:solidFill>
                      <a:srgbClr val="070913"/>
                    </a:solidFill>
                  </a:tcPr>
                </a:tc>
                <a:tc>
                  <a:txBody>
                    <a:bodyPr/>
                    <a:lstStyle/>
                    <a:p>
                      <a:pPr>
                        <a:defRPr sz="1100">
                          <a:solidFill>
                            <a:srgbClr val="F8FAFC"/>
                          </a:solidFill>
                          <a:latin typeface="Calibri"/>
                        </a:defRPr>
                      </a:pPr>
                      <a:r>
                        <a:t>Dominates immediate sell pressure</a:t>
                      </a:r>
                    </a:p>
                  </a:txBody>
                  <a:tcPr>
                    <a:solidFill>
                      <a:srgbClr val="070913"/>
                    </a:solidFill>
                  </a:tcPr>
                </a:tc>
              </a:tr>
              <a:tr h="587828">
                <a:tc>
                  <a:txBody>
                    <a:bodyPr/>
                    <a:lstStyle/>
                    <a:p>
                      <a:pPr>
                        <a:defRPr sz="1100">
                          <a:solidFill>
                            <a:srgbClr val="F8FAFC"/>
                          </a:solidFill>
                          <a:latin typeface="Calibri"/>
                        </a:defRPr>
                      </a:pPr>
                      <a:r>
                        <a:t>3</a:t>
                      </a:r>
                    </a:p>
                  </a:txBody>
                  <a:tcPr>
                    <a:solidFill>
                      <a:srgbClr val="121629"/>
                    </a:solidFill>
                  </a:tcPr>
                </a:tc>
                <a:tc>
                  <a:txBody>
                    <a:bodyPr/>
                    <a:lstStyle/>
                    <a:p>
                      <a:pPr>
                        <a:defRPr sz="1100">
                          <a:solidFill>
                            <a:srgbClr val="F8FAFC"/>
                          </a:solidFill>
                          <a:latin typeface="Calibri"/>
                        </a:defRPr>
                      </a:pPr>
                      <a:r>
                        <a:t>brand_escrow_inflow</a:t>
                      </a:r>
                    </a:p>
                  </a:txBody>
                  <a:tcPr>
                    <a:solidFill>
                      <a:srgbClr val="121629"/>
                    </a:solidFill>
                  </a:tcPr>
                </a:tc>
                <a:tc>
                  <a:txBody>
                    <a:bodyPr/>
                    <a:lstStyle/>
                    <a:p>
                      <a:pPr>
                        <a:defRPr sz="1100">
                          <a:solidFill>
                            <a:srgbClr val="F8FAFC"/>
                          </a:solidFill>
                          <a:latin typeface="Calibri"/>
                        </a:defRPr>
                      </a:pPr>
                      <a:r>
                        <a:t>+0.45</a:t>
                      </a:r>
                    </a:p>
                  </a:txBody>
                  <a:tcPr>
                    <a:solidFill>
                      <a:srgbClr val="121629"/>
                    </a:solidFill>
                  </a:tcPr>
                </a:tc>
                <a:tc>
                  <a:txBody>
                    <a:bodyPr/>
                    <a:lstStyle/>
                    <a:p>
                      <a:pPr>
                        <a:defRPr sz="1100">
                          <a:solidFill>
                            <a:srgbClr val="F8FAFC"/>
                          </a:solidFill>
                          <a:latin typeface="Calibri"/>
                        </a:defRPr>
                      </a:pPr>
                      <a:r>
                        <a:t>Organic liquidity driver</a:t>
                      </a:r>
                    </a:p>
                  </a:txBody>
                  <a:tcPr>
                    <a:solidFill>
                      <a:srgbClr val="121629"/>
                    </a:solidFill>
                  </a:tcPr>
                </a:tc>
              </a:tr>
              <a:tr h="587828">
                <a:tc>
                  <a:txBody>
                    <a:bodyPr/>
                    <a:lstStyle/>
                    <a:p>
                      <a:pPr>
                        <a:defRPr sz="1100">
                          <a:solidFill>
                            <a:srgbClr val="F8FAFC"/>
                          </a:solidFill>
                          <a:latin typeface="Calibri"/>
                        </a:defRPr>
                      </a:pPr>
                      <a:r>
                        <a:t>4</a:t>
                      </a:r>
                    </a:p>
                  </a:txBody>
                  <a:tcPr>
                    <a:solidFill>
                      <a:srgbClr val="070913"/>
                    </a:solidFill>
                  </a:tcPr>
                </a:tc>
                <a:tc>
                  <a:txBody>
                    <a:bodyPr/>
                    <a:lstStyle/>
                    <a:p>
                      <a:pPr>
                        <a:defRPr sz="1100">
                          <a:solidFill>
                            <a:srgbClr val="F8FAFC"/>
                          </a:solidFill>
                          <a:latin typeface="Calibri"/>
                        </a:defRPr>
                      </a:pPr>
                      <a:r>
                        <a:t>staking_yield_rate</a:t>
                      </a:r>
                    </a:p>
                  </a:txBody>
                  <a:tcPr>
                    <a:solidFill>
                      <a:srgbClr val="070913"/>
                    </a:solidFill>
                  </a:tcPr>
                </a:tc>
                <a:tc>
                  <a:txBody>
                    <a:bodyPr/>
                    <a:lstStyle/>
                    <a:p>
                      <a:pPr>
                        <a:defRPr sz="1100">
                          <a:solidFill>
                            <a:srgbClr val="F8FAFC"/>
                          </a:solidFill>
                          <a:latin typeface="Calibri"/>
                        </a:defRPr>
                      </a:pPr>
                      <a:r>
                        <a:t>+0.12</a:t>
                      </a:r>
                    </a:p>
                  </a:txBody>
                  <a:tcPr>
                    <a:solidFill>
                      <a:srgbClr val="070913"/>
                    </a:solidFill>
                  </a:tcPr>
                </a:tc>
                <a:tc>
                  <a:txBody>
                    <a:bodyPr/>
                    <a:lstStyle/>
                    <a:p>
                      <a:pPr>
                        <a:defRPr sz="1100">
                          <a:solidFill>
                            <a:srgbClr val="F8FAFC"/>
                          </a:solidFill>
                          <a:latin typeface="Calibri"/>
                        </a:defRPr>
                      </a:pPr>
                      <a:r>
                        <a:t>Secondary dampener</a:t>
                      </a:r>
                    </a:p>
                  </a:txBody>
                  <a:tcPr>
                    <a:solidFill>
                      <a:srgbClr val="070913"/>
                    </a:solidFill>
                  </a:tcPr>
                </a:tc>
              </a:tr>
              <a:tr h="587828">
                <a:tc>
                  <a:txBody>
                    <a:bodyPr/>
                    <a:lstStyle/>
                    <a:p>
                      <a:pPr>
                        <a:defRPr sz="1100">
                          <a:solidFill>
                            <a:srgbClr val="F8FAFC"/>
                          </a:solidFill>
                          <a:latin typeface="Calibri"/>
                        </a:defRPr>
                      </a:pPr>
                      <a:r>
                        <a:t>5</a:t>
                      </a:r>
                    </a:p>
                  </a:txBody>
                  <a:tcPr>
                    <a:solidFill>
                      <a:srgbClr val="121629"/>
                    </a:solidFill>
                  </a:tcPr>
                </a:tc>
                <a:tc>
                  <a:txBody>
                    <a:bodyPr/>
                    <a:lstStyle/>
                    <a:p>
                      <a:pPr>
                        <a:defRPr sz="1100">
                          <a:solidFill>
                            <a:srgbClr val="F8FAFC"/>
                          </a:solidFill>
                          <a:latin typeface="Calibri"/>
                        </a:defRPr>
                      </a:pPr>
                      <a:r>
                        <a:t>burn_percentage</a:t>
                      </a:r>
                    </a:p>
                  </a:txBody>
                  <a:tcPr>
                    <a:solidFill>
                      <a:srgbClr val="121629"/>
                    </a:solidFill>
                  </a:tcPr>
                </a:tc>
                <a:tc>
                  <a:txBody>
                    <a:bodyPr/>
                    <a:lstStyle/>
                    <a:p>
                      <a:pPr>
                        <a:defRPr sz="1100">
                          <a:solidFill>
                            <a:srgbClr val="F8FAFC"/>
                          </a:solidFill>
                          <a:latin typeface="Calibri"/>
                        </a:defRPr>
                      </a:pPr>
                      <a:r>
                        <a:t>-0.02</a:t>
                      </a:r>
                    </a:p>
                  </a:txBody>
                  <a:tcPr>
                    <a:solidFill>
                      <a:srgbClr val="121629"/>
                    </a:solidFill>
                  </a:tcPr>
                </a:tc>
                <a:tc>
                  <a:txBody>
                    <a:bodyPr/>
                    <a:lstStyle/>
                    <a:p>
                      <a:pPr>
                        <a:defRPr sz="1100">
                          <a:solidFill>
                            <a:srgbClr val="F8FAFC"/>
                          </a:solidFill>
                          <a:latin typeface="Calibri"/>
                        </a:defRPr>
                      </a:pPr>
                      <a:r>
                        <a:t>Near-negligible tail effect</a:t>
                      </a:r>
                    </a:p>
                  </a:txBody>
                  <a:tcPr>
                    <a:solidFill>
                      <a:srgbClr val="121629"/>
                    </a:solidFill>
                  </a:tcPr>
                </a:tc>
              </a:tr>
              <a:tr h="587832">
                <a:tc>
                  <a:txBody>
                    <a:bodyPr/>
                    <a:lstStyle/>
                    <a:p>
                      <a:pPr>
                        <a:defRPr sz="1100">
                          <a:solidFill>
                            <a:srgbClr val="F8FAFC"/>
                          </a:solidFill>
                          <a:latin typeface="Calibri"/>
                        </a:defRPr>
                      </a:pPr>
                      <a:r>
                        <a:t>6</a:t>
                      </a:r>
                    </a:p>
                  </a:txBody>
                  <a:tcPr>
                    <a:solidFill>
                      <a:srgbClr val="070913"/>
                    </a:solidFill>
                  </a:tcPr>
                </a:tc>
                <a:tc>
                  <a:txBody>
                    <a:bodyPr/>
                    <a:lstStyle/>
                    <a:p>
                      <a:pPr>
                        <a:defRPr sz="1100">
                          <a:solidFill>
                            <a:srgbClr val="F8FAFC"/>
                          </a:solidFill>
                          <a:latin typeface="Calibri"/>
                        </a:defRPr>
                      </a:pPr>
                      <a:r>
                        <a:t>Others (Vesting, Friction)</a:t>
                      </a:r>
                    </a:p>
                  </a:txBody>
                  <a:tcPr>
                    <a:solidFill>
                      <a:srgbClr val="070913"/>
                    </a:solidFill>
                  </a:tcPr>
                </a:tc>
                <a:tc>
                  <a:txBody>
                    <a:bodyPr/>
                    <a:lstStyle/>
                    <a:p>
                      <a:pPr>
                        <a:defRPr sz="1100">
                          <a:solidFill>
                            <a:srgbClr val="F8FAFC"/>
                          </a:solidFill>
                          <a:latin typeface="Calibri"/>
                        </a:defRPr>
                      </a:pPr>
                      <a:r>
                        <a:t>&lt;0.01</a:t>
                      </a:r>
                    </a:p>
                  </a:txBody>
                  <a:tcPr>
                    <a:solidFill>
                      <a:srgbClr val="070913"/>
                    </a:solidFill>
                  </a:tcPr>
                </a:tc>
                <a:tc>
                  <a:txBody>
                    <a:bodyPr/>
                    <a:lstStyle/>
                    <a:p>
                      <a:pPr>
                        <a:defRPr sz="1100">
                          <a:solidFill>
                            <a:srgbClr val="F8FAFC"/>
                          </a:solidFill>
                          <a:latin typeface="Calibri"/>
                        </a:defRPr>
                      </a:pPr>
                      <a:r>
                        <a:t>Statistically insignificant noise</a:t>
                      </a:r>
                    </a:p>
                  </a:txBody>
                  <a:tcPr>
                    <a:solidFill>
                      <a:srgbClr val="070913"/>
                    </a:solidFill>
                  </a:tcPr>
                </a:tc>
              </a:tr>
            </a:tbl>
          </a:graphicData>
        </a:graphic>
      </p:graphicFrame>
      <p:sp>
        <p:nvSpPr>
          <p:cNvPr id="5" name="TextBox 4"/>
          <p:cNvSpPr txBox="1"/>
          <p:nvPr/>
        </p:nvSpPr>
        <p:spPr>
          <a:xfrm>
            <a:off x="731520" y="5486400"/>
            <a:ext cx="10515600" cy="731520"/>
          </a:xfrm>
          <a:prstGeom prst="rect">
            <a:avLst/>
          </a:prstGeom>
          <a:noFill/>
        </p:spPr>
        <p:txBody>
          <a:bodyPr wrap="square">
            <a:spAutoFit/>
          </a:bodyPr>
          <a:lstStyle/>
          <a:p>
            <a:pPr algn="l">
              <a:defRPr sz="1300" b="1">
                <a:solidFill>
                  <a:srgbClr val="10B981"/>
                </a:solidFill>
                <a:latin typeface="Trebuchet MS"/>
              </a:defRPr>
            </a:pPr>
            <a:r>
              <a:t>Critical Discovery: Settlement velocity and pool fee calibration are 7x more elastic than pure burn mechanics.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913"/>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Trebuchet MS"/>
              </a:defRPr>
            </a:pPr>
            <a:r>
              <a:t>Monte Carlo Confidence Performance</a:t>
            </a:r>
          </a:p>
        </p:txBody>
      </p:sp>
      <p:pic>
        <p:nvPicPr>
          <p:cNvPr id="3" name="Picture 2" descr="monte_carlo_resilience_bands.png"/>
          <p:cNvPicPr>
            <a:picLocks noChangeAspect="1"/>
          </p:cNvPicPr>
          <p:nvPr/>
        </p:nvPicPr>
        <p:blipFill>
          <a:blip r:embed="rId2"/>
          <a:stretch>
            <a:fillRect/>
          </a:stretch>
        </p:blipFill>
        <p:spPr>
          <a:xfrm>
            <a:off x="6217920" y="1188720"/>
            <a:ext cx="5212080" cy="4114800"/>
          </a:xfrm>
          <a:prstGeom prst="rect">
            <a:avLst/>
          </a:prstGeom>
        </p:spPr>
      </p:pic>
      <p:sp>
        <p:nvSpPr>
          <p:cNvPr id="4" name="TextBox 3"/>
          <p:cNvSpPr txBox="1"/>
          <p:nvPr/>
        </p:nvSpPr>
        <p:spPr>
          <a:xfrm>
            <a:off x="731520" y="1371600"/>
            <a:ext cx="5120640" cy="3657600"/>
          </a:xfrm>
          <a:prstGeom prst="rect">
            <a:avLst/>
          </a:prstGeom>
          <a:noFill/>
        </p:spPr>
        <p:txBody>
          <a:bodyPr wrap="square">
            <a:spAutoFit/>
          </a:bodyPr>
          <a:lstStyle/>
          <a:p>
            <a:pPr>
              <a:spcAft>
                <a:spcPts val="800"/>
              </a:spcAft>
              <a:defRPr sz="1500">
                <a:solidFill>
                  <a:srgbClr val="F8FAFC"/>
                </a:solidFill>
                <a:latin typeface="Calibri"/>
              </a:defRPr>
            </a:pPr>
            <a:r>
              <a:t>✦  Executed 100 randomized trials over a 365 simulated days horizon.</a:t>
            </a:r>
          </a:p>
          <a:p>
            <a:pPr>
              <a:spcAft>
                <a:spcPts val="800"/>
              </a:spcAft>
              <a:defRPr sz="1500">
                <a:solidFill>
                  <a:srgbClr val="F8FAFC"/>
                </a:solidFill>
                <a:latin typeface="Calibri"/>
              </a:defRPr>
            </a:pPr>
            <a:r>
              <a:t>✦  The 5th percentile (P05) final Audience Reserve Ratio is verified at 234.49%.</a:t>
            </a:r>
          </a:p>
          <a:p>
            <a:pPr>
              <a:spcAft>
                <a:spcPts val="800"/>
              </a:spcAft>
              <a:defRPr sz="1500">
                <a:solidFill>
                  <a:srgbClr val="F8FAFC"/>
                </a:solidFill>
                <a:latin typeface="Calibri"/>
              </a:defRPr>
            </a:pPr>
            <a:r>
              <a:t>✦  Even under severe cascade selling, the reserve ratio remains bounded and self-corrects.</a:t>
            </a:r>
          </a:p>
          <a:p>
            <a:pPr>
              <a:spcAft>
                <a:spcPts val="800"/>
              </a:spcAft>
              <a:defRPr sz="1500">
                <a:solidFill>
                  <a:srgbClr val="F8FAFC"/>
                </a:solidFill>
                <a:latin typeface="Calibri"/>
              </a:defRPr>
            </a:pPr>
            <a:r>
              <a:t>✦  The dynamic health modifier successfully limits token issuance during supply dumps.</a:t>
            </a:r>
          </a:p>
          <a:p>
            <a:pPr>
              <a:spcAft>
                <a:spcPts val="800"/>
              </a:spcAft>
              <a:defRPr sz="1500">
                <a:solidFill>
                  <a:srgbClr val="F8FAFC"/>
                </a:solidFill>
                <a:latin typeface="Calibri"/>
              </a:defRPr>
            </a:pPr>
            <a:r>
              <a:t>✦  Falsification check: Zero runs triggered the death spiral ($0.05 floor breach) condition.</a:t>
            </a:r>
          </a:p>
        </p:txBody>
      </p:sp>
      <p:sp>
        <p:nvSpPr>
          <p:cNvPr id="5" name="TextBox 4"/>
          <p:cNvSpPr txBox="1"/>
          <p:nvPr/>
        </p:nvSpPr>
        <p:spPr>
          <a:xfrm>
            <a:off x="731520" y="5486400"/>
            <a:ext cx="10515600" cy="731520"/>
          </a:xfrm>
          <a:prstGeom prst="rect">
            <a:avLst/>
          </a:prstGeom>
          <a:noFill/>
        </p:spPr>
        <p:txBody>
          <a:bodyPr wrap="square">
            <a:spAutoFit/>
          </a:bodyPr>
          <a:lstStyle/>
          <a:p>
            <a:pPr algn="l">
              <a:defRPr sz="1300" b="1">
                <a:solidFill>
                  <a:srgbClr val="10B981"/>
                </a:solidFill>
                <a:latin typeface="Trebuchet MS"/>
              </a:defRPr>
            </a:pPr>
            <a:r>
              <a:t>Safety Verdict: The simulation verifies the 25% AR floor holds with 100% statistical confidence.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913"/>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EF4444"/>
                </a:solidFill>
                <a:latin typeface="Trebuchet MS"/>
              </a:defRPr>
            </a:pPr>
            <a:r>
              <a:t>M3 Invariants &amp; Leakage Audits</a:t>
            </a:r>
          </a:p>
        </p:txBody>
      </p:sp>
      <p:sp>
        <p:nvSpPr>
          <p:cNvPr id="3" name="TextBox 2"/>
          <p:cNvSpPr txBox="1"/>
          <p:nvPr/>
        </p:nvSpPr>
        <p:spPr>
          <a:xfrm>
            <a:off x="731520" y="1005840"/>
            <a:ext cx="10058400" cy="457200"/>
          </a:xfrm>
          <a:prstGeom prst="rect">
            <a:avLst/>
          </a:prstGeom>
          <a:noFill/>
        </p:spPr>
        <p:txBody>
          <a:bodyPr wrap="square">
            <a:spAutoFit/>
          </a:bodyPr>
          <a:lstStyle/>
          <a:p>
            <a:pPr algn="l">
              <a:defRPr sz="1300" b="0">
                <a:solidFill>
                  <a:srgbClr val="94A3B8"/>
                </a:solidFill>
                <a:latin typeface="Trebuchet MS"/>
              </a:defRPr>
            </a:pPr>
            <a:r>
              <a:t>Strict physical conservation limits modeled to catch logical contradictions</a:t>
            </a:r>
          </a:p>
        </p:txBody>
      </p:sp>
      <p:graphicFrame>
        <p:nvGraphicFramePr>
          <p:cNvPr id="4" name="Table 3"/>
          <p:cNvGraphicFramePr>
            <a:graphicFrameLocks noGrp="1"/>
          </p:cNvGraphicFramePr>
          <p:nvPr/>
        </p:nvGraphicFramePr>
        <p:xfrm>
          <a:off x="731520" y="1645920"/>
          <a:ext cx="10515600" cy="2926080"/>
        </p:xfrm>
        <a:graphic>
          <a:graphicData uri="http://schemas.openxmlformats.org/drawingml/2006/table">
            <a:tbl>
              <a:tblPr firstRow="1" bandRow="1">
                <a:tableStyleId>{5C22544A-7EE6-4342-B048-85BDC9FD1C3A}</a:tableStyleId>
              </a:tblPr>
              <a:tblGrid>
                <a:gridCol w="2628900"/>
                <a:gridCol w="2628900"/>
                <a:gridCol w="2628900"/>
                <a:gridCol w="2628900"/>
              </a:tblGrid>
              <a:tr h="585216">
                <a:tc>
                  <a:txBody>
                    <a:bodyPr/>
                    <a:lstStyle/>
                    <a:p>
                      <a:pPr>
                        <a:defRPr sz="1200" b="1">
                          <a:solidFill>
                            <a:srgbClr val="FFFFFF"/>
                          </a:solidFill>
                          <a:latin typeface="Trebuchet MS"/>
                        </a:defRPr>
                      </a:pPr>
                      <a:r>
                        <a:t>Invariant ID</a:t>
                      </a:r>
                    </a:p>
                  </a:txBody>
                  <a:tcPr>
                    <a:solidFill>
                      <a:srgbClr val="EF4444"/>
                    </a:solidFill>
                  </a:tcPr>
                </a:tc>
                <a:tc>
                  <a:txBody>
                    <a:bodyPr/>
                    <a:lstStyle/>
                    <a:p>
                      <a:pPr>
                        <a:defRPr sz="1200" b="1">
                          <a:solidFill>
                            <a:srgbClr val="FFFFFF"/>
                          </a:solidFill>
                          <a:latin typeface="Trebuchet MS"/>
                        </a:defRPr>
                      </a:pPr>
                      <a:r>
                        <a:t>Constitutional Rule</a:t>
                      </a:r>
                    </a:p>
                  </a:txBody>
                  <a:tcPr>
                    <a:solidFill>
                      <a:srgbClr val="EF4444"/>
                    </a:solidFill>
                  </a:tcPr>
                </a:tc>
                <a:tc>
                  <a:txBody>
                    <a:bodyPr/>
                    <a:lstStyle/>
                    <a:p>
                      <a:pPr>
                        <a:defRPr sz="1200" b="1">
                          <a:solidFill>
                            <a:srgbClr val="FFFFFF"/>
                          </a:solidFill>
                          <a:latin typeface="Trebuchet MS"/>
                        </a:defRPr>
                      </a:pPr>
                      <a:r>
                        <a:t>Observed Variance</a:t>
                      </a:r>
                    </a:p>
                  </a:txBody>
                  <a:tcPr>
                    <a:solidFill>
                      <a:srgbClr val="EF4444"/>
                    </a:solidFill>
                  </a:tcPr>
                </a:tc>
                <a:tc>
                  <a:txBody>
                    <a:bodyPr/>
                    <a:lstStyle/>
                    <a:p>
                      <a:pPr>
                        <a:defRPr sz="1200" b="1">
                          <a:solidFill>
                            <a:srgbClr val="FFFFFF"/>
                          </a:solidFill>
                          <a:latin typeface="Trebuchet MS"/>
                        </a:defRPr>
                      </a:pPr>
                      <a:r>
                        <a:t>Safety Verdict</a:t>
                      </a:r>
                    </a:p>
                  </a:txBody>
                  <a:tcPr>
                    <a:solidFill>
                      <a:srgbClr val="EF4444"/>
                    </a:solidFill>
                  </a:tcPr>
                </a:tc>
              </a:tr>
              <a:tr h="585216">
                <a:tc>
                  <a:txBody>
                    <a:bodyPr/>
                    <a:lstStyle/>
                    <a:p>
                      <a:pPr>
                        <a:defRPr sz="1100">
                          <a:solidFill>
                            <a:srgbClr val="F8FAFC"/>
                          </a:solidFill>
                          <a:latin typeface="Calibri"/>
                        </a:defRPr>
                      </a:pPr>
                      <a:r>
                        <a:t>INV-L1: Solvency</a:t>
                      </a:r>
                    </a:p>
                  </a:txBody>
                  <a:tcPr>
                    <a:solidFill>
                      <a:srgbClr val="121629"/>
                    </a:solidFill>
                  </a:tcPr>
                </a:tc>
                <a:tc>
                  <a:txBody>
                    <a:bodyPr/>
                    <a:lstStyle/>
                    <a:p>
                      <a:pPr>
                        <a:defRPr sz="1100">
                          <a:solidFill>
                            <a:srgbClr val="F8FAFC"/>
                          </a:solidFill>
                          <a:latin typeface="Calibri"/>
                        </a:defRPr>
                      </a:pPr>
                      <a:r>
                        <a:t>Outflow / Inflow ratio must stay &lt; 0.8</a:t>
                      </a:r>
                    </a:p>
                  </a:txBody>
                  <a:tcPr>
                    <a:solidFill>
                      <a:srgbClr val="121629"/>
                    </a:solidFill>
                  </a:tcPr>
                </a:tc>
                <a:tc>
                  <a:txBody>
                    <a:bodyPr/>
                    <a:lstStyle/>
                    <a:p>
                      <a:pPr>
                        <a:defRPr sz="1100">
                          <a:solidFill>
                            <a:srgbClr val="F8FAFC"/>
                          </a:solidFill>
                          <a:latin typeface="Calibri"/>
                        </a:defRPr>
                      </a:pPr>
                      <a:r>
                        <a:t>0.046 (Average)</a:t>
                      </a:r>
                    </a:p>
                  </a:txBody>
                  <a:tcPr>
                    <a:solidFill>
                      <a:srgbClr val="121629"/>
                    </a:solidFill>
                  </a:tcPr>
                </a:tc>
                <a:tc>
                  <a:txBody>
                    <a:bodyPr/>
                    <a:lstStyle/>
                    <a:p>
                      <a:pPr>
                        <a:defRPr sz="1100">
                          <a:solidFill>
                            <a:srgbClr val="F8FAFC"/>
                          </a:solidFill>
                          <a:latin typeface="Calibri"/>
                        </a:defRPr>
                      </a:pPr>
                      <a:r>
                        <a:t>PASS - Highly Secure</a:t>
                      </a:r>
                    </a:p>
                  </a:txBody>
                  <a:tcPr>
                    <a:solidFill>
                      <a:srgbClr val="121629"/>
                    </a:solidFill>
                  </a:tcPr>
                </a:tc>
              </a:tr>
              <a:tr h="585216">
                <a:tc>
                  <a:txBody>
                    <a:bodyPr/>
                    <a:lstStyle/>
                    <a:p>
                      <a:pPr>
                        <a:defRPr sz="1100">
                          <a:solidFill>
                            <a:srgbClr val="F8FAFC"/>
                          </a:solidFill>
                          <a:latin typeface="Calibri"/>
                        </a:defRPr>
                      </a:pPr>
                      <a:r>
                        <a:t>INV-L3: Survival</a:t>
                      </a:r>
                    </a:p>
                  </a:txBody>
                  <a:tcPr>
                    <a:solidFill>
                      <a:srgbClr val="070913"/>
                    </a:solidFill>
                  </a:tcPr>
                </a:tc>
                <a:tc>
                  <a:txBody>
                    <a:bodyPr/>
                    <a:lstStyle/>
                    <a:p>
                      <a:pPr>
                        <a:defRPr sz="1100">
                          <a:solidFill>
                            <a:srgbClr val="F8FAFC"/>
                          </a:solidFill>
                          <a:latin typeface="Calibri"/>
                        </a:defRPr>
                      </a:pPr>
                      <a:r>
                        <a:t>Brand Inflow relative to AR per epoch must be &gt;= 1%</a:t>
                      </a:r>
                    </a:p>
                  </a:txBody>
                  <a:tcPr>
                    <a:solidFill>
                      <a:srgbClr val="070913"/>
                    </a:solidFill>
                  </a:tcPr>
                </a:tc>
                <a:tc>
                  <a:txBody>
                    <a:bodyPr/>
                    <a:lstStyle/>
                    <a:p>
                      <a:pPr>
                        <a:defRPr sz="1100">
                          <a:solidFill>
                            <a:srgbClr val="F8FAFC"/>
                          </a:solidFill>
                          <a:latin typeface="Calibri"/>
                        </a:defRPr>
                      </a:pPr>
                      <a:r>
                        <a:t>2.24% of AR</a:t>
                      </a:r>
                    </a:p>
                  </a:txBody>
                  <a:tcPr>
                    <a:solidFill>
                      <a:srgbClr val="070913"/>
                    </a:solidFill>
                  </a:tcPr>
                </a:tc>
                <a:tc>
                  <a:txBody>
                    <a:bodyPr/>
                    <a:lstStyle/>
                    <a:p>
                      <a:pPr>
                        <a:defRPr sz="1100">
                          <a:solidFill>
                            <a:srgbClr val="F8FAFC"/>
                          </a:solidFill>
                          <a:latin typeface="Calibri"/>
                        </a:defRPr>
                      </a:pPr>
                      <a:r>
                        <a:t>PASS - Verified</a:t>
                      </a:r>
                    </a:p>
                  </a:txBody>
                  <a:tcPr>
                    <a:solidFill>
                      <a:srgbClr val="070913"/>
                    </a:solidFill>
                  </a:tcPr>
                </a:tc>
              </a:tr>
              <a:tr h="585216">
                <a:tc>
                  <a:txBody>
                    <a:bodyPr/>
                    <a:lstStyle/>
                    <a:p>
                      <a:pPr>
                        <a:defRPr sz="1100">
                          <a:solidFill>
                            <a:srgbClr val="F8FAFC"/>
                          </a:solidFill>
                          <a:latin typeface="Calibri"/>
                        </a:defRPr>
                      </a:pPr>
                      <a:r>
                        <a:t>INV-L6: Floor Guard</a:t>
                      </a:r>
                    </a:p>
                  </a:txBody>
                  <a:tcPr>
                    <a:solidFill>
                      <a:srgbClr val="121629"/>
                    </a:solidFill>
                  </a:tcPr>
                </a:tc>
                <a:tc>
                  <a:txBody>
                    <a:bodyPr/>
                    <a:lstStyle/>
                    <a:p>
                      <a:pPr>
                        <a:defRPr sz="1100">
                          <a:solidFill>
                            <a:srgbClr val="F8FAFC"/>
                          </a:solidFill>
                          <a:latin typeface="Calibri"/>
                        </a:defRPr>
                      </a:pPr>
                      <a:r>
                        <a:t>AR / Circulating Supply must be &gt;= 25%</a:t>
                      </a:r>
                    </a:p>
                  </a:txBody>
                  <a:tcPr>
                    <a:solidFill>
                      <a:srgbClr val="121629"/>
                    </a:solidFill>
                  </a:tcPr>
                </a:tc>
                <a:tc>
                  <a:txBody>
                    <a:bodyPr/>
                    <a:lstStyle/>
                    <a:p>
                      <a:pPr>
                        <a:defRPr sz="1100">
                          <a:solidFill>
                            <a:srgbClr val="F8FAFC"/>
                          </a:solidFill>
                          <a:latin typeface="Calibri"/>
                        </a:defRPr>
                      </a:pPr>
                      <a:r>
                        <a:t>234.50% (Median)</a:t>
                      </a:r>
                    </a:p>
                  </a:txBody>
                  <a:tcPr>
                    <a:solidFill>
                      <a:srgbClr val="121629"/>
                    </a:solidFill>
                  </a:tcPr>
                </a:tc>
                <a:tc>
                  <a:txBody>
                    <a:bodyPr/>
                    <a:lstStyle/>
                    <a:p>
                      <a:pPr>
                        <a:defRPr sz="1100">
                          <a:solidFill>
                            <a:srgbClr val="F8FAFC"/>
                          </a:solidFill>
                          <a:latin typeface="Calibri"/>
                        </a:defRPr>
                      </a:pPr>
                      <a:r>
                        <a:t>PASS - Enforced in Code</a:t>
                      </a:r>
                    </a:p>
                  </a:txBody>
                  <a:tcPr>
                    <a:solidFill>
                      <a:srgbClr val="121629"/>
                    </a:solidFill>
                  </a:tcPr>
                </a:tc>
              </a:tr>
              <a:tr h="585216">
                <a:tc>
                  <a:txBody>
                    <a:bodyPr/>
                    <a:lstStyle/>
                    <a:p>
                      <a:pPr>
                        <a:defRPr sz="1100">
                          <a:solidFill>
                            <a:srgbClr val="F8FAFC"/>
                          </a:solidFill>
                          <a:latin typeface="Calibri"/>
                        </a:defRPr>
                      </a:pPr>
                      <a:r>
                        <a:t>INV-L9: Drain Cap</a:t>
                      </a:r>
                    </a:p>
                  </a:txBody>
                  <a:tcPr>
                    <a:solidFill>
                      <a:srgbClr val="070913"/>
                    </a:solidFill>
                  </a:tcPr>
                </a:tc>
                <a:tc>
                  <a:txBody>
                    <a:bodyPr/>
                    <a:lstStyle/>
                    <a:p>
                      <a:pPr>
                        <a:defRPr sz="1100">
                          <a:solidFill>
                            <a:srgbClr val="F8FAFC"/>
                          </a:solidFill>
                          <a:latin typeface="Calibri"/>
                        </a:defRPr>
                      </a:pPr>
                      <a:r>
                        <a:t>Maximum single-epoch AR drain &lt;= 10%</a:t>
                      </a:r>
                    </a:p>
                  </a:txBody>
                  <a:tcPr>
                    <a:solidFill>
                      <a:srgbClr val="070913"/>
                    </a:solidFill>
                  </a:tcPr>
                </a:tc>
                <a:tc>
                  <a:txBody>
                    <a:bodyPr/>
                    <a:lstStyle/>
                    <a:p>
                      <a:pPr>
                        <a:defRPr sz="1100">
                          <a:solidFill>
                            <a:srgbClr val="F8FAFC"/>
                          </a:solidFill>
                          <a:latin typeface="Calibri"/>
                        </a:defRPr>
                      </a:pPr>
                      <a:r>
                        <a:t>0.00% (No massive drawdowns)</a:t>
                      </a:r>
                    </a:p>
                  </a:txBody>
                  <a:tcPr>
                    <a:solidFill>
                      <a:srgbClr val="070913"/>
                    </a:solidFill>
                  </a:tcPr>
                </a:tc>
                <a:tc>
                  <a:txBody>
                    <a:bodyPr/>
                    <a:lstStyle/>
                    <a:p>
                      <a:pPr>
                        <a:defRPr sz="1100">
                          <a:solidFill>
                            <a:srgbClr val="F8FAFC"/>
                          </a:solidFill>
                          <a:latin typeface="Calibri"/>
                        </a:defRPr>
                      </a:pPr>
                      <a:r>
                        <a:t>PASS - Smooth transition</a:t>
                      </a:r>
                    </a:p>
                  </a:txBody>
                  <a:tcPr>
                    <a:solidFill>
                      <a:srgbClr val="070913"/>
                    </a:solidFill>
                  </a:tcPr>
                </a:tc>
              </a:tr>
            </a:tbl>
          </a:graphicData>
        </a:graphic>
      </p:graphicFrame>
      <p:sp>
        <p:nvSpPr>
          <p:cNvPr id="5" name="TextBox 4"/>
          <p:cNvSpPr txBox="1"/>
          <p:nvPr/>
        </p:nvSpPr>
        <p:spPr>
          <a:xfrm>
            <a:off x="731520" y="4754880"/>
            <a:ext cx="10515600" cy="1828800"/>
          </a:xfrm>
          <a:prstGeom prst="rect">
            <a:avLst/>
          </a:prstGeom>
          <a:noFill/>
        </p:spPr>
        <p:txBody>
          <a:bodyPr wrap="square">
            <a:spAutoFit/>
          </a:bodyPr>
          <a:lstStyle/>
          <a:p>
            <a:pPr>
              <a:spcAft>
                <a:spcPts val="800"/>
              </a:spcAft>
              <a:defRPr sz="1400">
                <a:solidFill>
                  <a:srgbClr val="F8FAFC"/>
                </a:solidFill>
                <a:latin typeface="Calibri"/>
              </a:defRPr>
            </a:pPr>
            <a:r>
              <a:t>✦  Leakage Audit Status: ZERO token leakage detected across all 150 simulated epochs.</a:t>
            </a:r>
          </a:p>
          <a:p>
            <a:pPr>
              <a:spcAft>
                <a:spcPts val="800"/>
              </a:spcAft>
              <a:defRPr sz="1400">
                <a:solidFill>
                  <a:srgbClr val="F8FAFC"/>
                </a:solidFill>
                <a:latin typeface="Calibri"/>
              </a:defRPr>
            </a:pPr>
            <a:r>
              <a:t>✦  Verified Constraint: Circulating supply perfectly equals total minted minus total burned.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913"/>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Trebuchet MS"/>
              </a:defRPr>
            </a:pPr>
            <a:r>
              <a:t>Cohort Dynamics &amp; Net Contributions</a:t>
            </a:r>
          </a:p>
        </p:txBody>
      </p:sp>
      <p:sp>
        <p:nvSpPr>
          <p:cNvPr id="3" name="TextBox 2"/>
          <p:cNvSpPr txBox="1"/>
          <p:nvPr/>
        </p:nvSpPr>
        <p:spPr>
          <a:xfrm>
            <a:off x="731520" y="1005840"/>
            <a:ext cx="10058400" cy="457200"/>
          </a:xfrm>
          <a:prstGeom prst="rect">
            <a:avLst/>
          </a:prstGeom>
          <a:noFill/>
        </p:spPr>
        <p:txBody>
          <a:bodyPr wrap="square">
            <a:spAutoFit/>
          </a:bodyPr>
          <a:lstStyle/>
          <a:p>
            <a:pPr algn="l">
              <a:defRPr sz="1300" b="0">
                <a:solidFill>
                  <a:srgbClr val="94A3B8"/>
                </a:solidFill>
                <a:latin typeface="Trebuchet MS"/>
              </a:defRPr>
            </a:pPr>
            <a:r>
              <a:t>Understanding value flows: Power users subsidize the extraction footprint of passive viewers</a:t>
            </a:r>
          </a:p>
        </p:txBody>
      </p:sp>
      <p:graphicFrame>
        <p:nvGraphicFramePr>
          <p:cNvPr id="4" name="Table 3"/>
          <p:cNvGraphicFramePr>
            <a:graphicFrameLocks noGrp="1"/>
          </p:cNvGraphicFramePr>
          <p:nvPr/>
        </p:nvGraphicFramePr>
        <p:xfrm>
          <a:off x="731520" y="1645920"/>
          <a:ext cx="10515600" cy="2286000"/>
        </p:xfrm>
        <a:graphic>
          <a:graphicData uri="http://schemas.openxmlformats.org/drawingml/2006/table">
            <a:tbl>
              <a:tblPr firstRow="1" bandRow="1">
                <a:tableStyleId>{5C22544A-7EE6-4342-B048-85BDC9FD1C3A}</a:tableStyleId>
              </a:tblPr>
              <a:tblGrid>
                <a:gridCol w="2103120"/>
                <a:gridCol w="2103120"/>
                <a:gridCol w="2103120"/>
                <a:gridCol w="2103120"/>
                <a:gridCol w="2103120"/>
              </a:tblGrid>
              <a:tr h="571500">
                <a:tc>
                  <a:txBody>
                    <a:bodyPr/>
                    <a:lstStyle/>
                    <a:p>
                      <a:pPr>
                        <a:defRPr sz="1200" b="1">
                          <a:solidFill>
                            <a:srgbClr val="FFFFFF"/>
                          </a:solidFill>
                          <a:latin typeface="Trebuchet MS"/>
                        </a:defRPr>
                      </a:pPr>
                      <a:r>
                        <a:t>Cohort Class</a:t>
                      </a:r>
                    </a:p>
                  </a:txBody>
                  <a:tcPr>
                    <a:solidFill>
                      <a:srgbClr val="6366F1"/>
                    </a:solidFill>
                  </a:tcPr>
                </a:tc>
                <a:tc>
                  <a:txBody>
                    <a:bodyPr/>
                    <a:lstStyle/>
                    <a:p>
                      <a:pPr>
                        <a:defRPr sz="1200" b="1">
                          <a:solidFill>
                            <a:srgbClr val="FFFFFF"/>
                          </a:solidFill>
                          <a:latin typeface="Trebuchet MS"/>
                        </a:defRPr>
                      </a:pPr>
                      <a:r>
                        <a:t>Settle Propensity</a:t>
                      </a:r>
                    </a:p>
                  </a:txBody>
                  <a:tcPr>
                    <a:solidFill>
                      <a:srgbClr val="6366F1"/>
                    </a:solidFill>
                  </a:tcPr>
                </a:tc>
                <a:tc>
                  <a:txBody>
                    <a:bodyPr/>
                    <a:lstStyle/>
                    <a:p>
                      <a:pPr>
                        <a:defRPr sz="1200" b="1">
                          <a:solidFill>
                            <a:srgbClr val="FFFFFF"/>
                          </a:solidFill>
                          <a:latin typeface="Trebuchet MS"/>
                        </a:defRPr>
                      </a:pPr>
                      <a:r>
                        <a:t>Spend Rate</a:t>
                      </a:r>
                    </a:p>
                  </a:txBody>
                  <a:tcPr>
                    <a:solidFill>
                      <a:srgbClr val="6366F1"/>
                    </a:solidFill>
                  </a:tcPr>
                </a:tc>
                <a:tc>
                  <a:txBody>
                    <a:bodyPr/>
                    <a:lstStyle/>
                    <a:p>
                      <a:pPr>
                        <a:defRPr sz="1200" b="1">
                          <a:solidFill>
                            <a:srgbClr val="FFFFFF"/>
                          </a:solidFill>
                          <a:latin typeface="Trebuchet MS"/>
                        </a:defRPr>
                      </a:pPr>
                      <a:r>
                        <a:t>Net Settle/Spend</a:t>
                      </a:r>
                    </a:p>
                  </a:txBody>
                  <a:tcPr>
                    <a:solidFill>
                      <a:srgbClr val="6366F1"/>
                    </a:solidFill>
                  </a:tcPr>
                </a:tc>
                <a:tc>
                  <a:txBody>
                    <a:bodyPr/>
                    <a:lstStyle/>
                    <a:p>
                      <a:pPr>
                        <a:defRPr sz="1200" b="1">
                          <a:solidFill>
                            <a:srgbClr val="FFFFFF"/>
                          </a:solidFill>
                          <a:latin typeface="Trebuchet MS"/>
                        </a:defRPr>
                      </a:pPr>
                      <a:r>
                        <a:t>Economic Classification</a:t>
                      </a:r>
                    </a:p>
                  </a:txBody>
                  <a:tcPr>
                    <a:solidFill>
                      <a:srgbClr val="6366F1"/>
                    </a:solidFill>
                  </a:tcPr>
                </a:tc>
              </a:tr>
              <a:tr h="571500">
                <a:tc>
                  <a:txBody>
                    <a:bodyPr/>
                    <a:lstStyle/>
                    <a:p>
                      <a:pPr>
                        <a:defRPr sz="1100">
                          <a:solidFill>
                            <a:srgbClr val="F8FAFC"/>
                          </a:solidFill>
                          <a:latin typeface="Calibri"/>
                        </a:defRPr>
                      </a:pPr>
                      <a:r>
                        <a:t>Passive Viewers</a:t>
                      </a:r>
                    </a:p>
                  </a:txBody>
                  <a:tcPr>
                    <a:solidFill>
                      <a:srgbClr val="121629"/>
                    </a:solidFill>
                  </a:tcPr>
                </a:tc>
                <a:tc>
                  <a:txBody>
                    <a:bodyPr/>
                    <a:lstStyle/>
                    <a:p>
                      <a:pPr>
                        <a:defRPr sz="1100">
                          <a:solidFill>
                            <a:srgbClr val="F8FAFC"/>
                          </a:solidFill>
                          <a:latin typeface="Calibri"/>
                        </a:defRPr>
                      </a:pPr>
                      <a:r>
                        <a:t>0.25</a:t>
                      </a:r>
                    </a:p>
                  </a:txBody>
                  <a:tcPr>
                    <a:solidFill>
                      <a:srgbClr val="121629"/>
                    </a:solidFill>
                  </a:tcPr>
                </a:tc>
                <a:tc>
                  <a:txBody>
                    <a:bodyPr/>
                    <a:lstStyle/>
                    <a:p>
                      <a:pPr>
                        <a:defRPr sz="1100">
                          <a:solidFill>
                            <a:srgbClr val="F8FAFC"/>
                          </a:solidFill>
                          <a:latin typeface="Calibri"/>
                        </a:defRPr>
                      </a:pPr>
                      <a:r>
                        <a:t>0.10</a:t>
                      </a:r>
                    </a:p>
                  </a:txBody>
                  <a:tcPr>
                    <a:solidFill>
                      <a:srgbClr val="121629"/>
                    </a:solidFill>
                  </a:tcPr>
                </a:tc>
                <a:tc>
                  <a:txBody>
                    <a:bodyPr/>
                    <a:lstStyle/>
                    <a:p>
                      <a:pPr>
                        <a:defRPr sz="1100">
                          <a:solidFill>
                            <a:srgbClr val="F8FAFC"/>
                          </a:solidFill>
                          <a:latin typeface="Calibri"/>
                        </a:defRPr>
                      </a:pPr>
                      <a:r>
                        <a:t>2.50x</a:t>
                      </a:r>
                    </a:p>
                  </a:txBody>
                  <a:tcPr>
                    <a:solidFill>
                      <a:srgbClr val="121629"/>
                    </a:solidFill>
                  </a:tcPr>
                </a:tc>
                <a:tc>
                  <a:txBody>
                    <a:bodyPr/>
                    <a:lstStyle/>
                    <a:p>
                      <a:pPr>
                        <a:defRPr sz="1100">
                          <a:solidFill>
                            <a:srgbClr val="F8FAFC"/>
                          </a:solidFill>
                          <a:latin typeface="Calibri"/>
                        </a:defRPr>
                      </a:pPr>
                      <a:r>
                        <a:t>⚠ Net Extractor (High Friction Recommended)</a:t>
                      </a:r>
                    </a:p>
                  </a:txBody>
                  <a:tcPr>
                    <a:solidFill>
                      <a:srgbClr val="121629"/>
                    </a:solidFill>
                  </a:tcPr>
                </a:tc>
              </a:tr>
              <a:tr h="571500">
                <a:tc>
                  <a:txBody>
                    <a:bodyPr/>
                    <a:lstStyle/>
                    <a:p>
                      <a:pPr>
                        <a:defRPr sz="1100">
                          <a:solidFill>
                            <a:srgbClr val="F8FAFC"/>
                          </a:solidFill>
                          <a:latin typeface="Calibri"/>
                        </a:defRPr>
                      </a:pPr>
                      <a:r>
                        <a:t>Active Viewers</a:t>
                      </a:r>
                    </a:p>
                  </a:txBody>
                  <a:tcPr>
                    <a:solidFill>
                      <a:srgbClr val="070913"/>
                    </a:solidFill>
                  </a:tcPr>
                </a:tc>
                <a:tc>
                  <a:txBody>
                    <a:bodyPr/>
                    <a:lstStyle/>
                    <a:p>
                      <a:pPr>
                        <a:defRPr sz="1100">
                          <a:solidFill>
                            <a:srgbClr val="F8FAFC"/>
                          </a:solidFill>
                          <a:latin typeface="Calibri"/>
                        </a:defRPr>
                      </a:pPr>
                      <a:r>
                        <a:t>0.30</a:t>
                      </a:r>
                    </a:p>
                  </a:txBody>
                  <a:tcPr>
                    <a:solidFill>
                      <a:srgbClr val="070913"/>
                    </a:solidFill>
                  </a:tcPr>
                </a:tc>
                <a:tc>
                  <a:txBody>
                    <a:bodyPr/>
                    <a:lstStyle/>
                    <a:p>
                      <a:pPr>
                        <a:defRPr sz="1100">
                          <a:solidFill>
                            <a:srgbClr val="F8FAFC"/>
                          </a:solidFill>
                          <a:latin typeface="Calibri"/>
                        </a:defRPr>
                      </a:pPr>
                      <a:r>
                        <a:t>0.40</a:t>
                      </a:r>
                    </a:p>
                  </a:txBody>
                  <a:tcPr>
                    <a:solidFill>
                      <a:srgbClr val="070913"/>
                    </a:solidFill>
                  </a:tcPr>
                </a:tc>
                <a:tc>
                  <a:txBody>
                    <a:bodyPr/>
                    <a:lstStyle/>
                    <a:p>
                      <a:pPr>
                        <a:defRPr sz="1100">
                          <a:solidFill>
                            <a:srgbClr val="F8FAFC"/>
                          </a:solidFill>
                          <a:latin typeface="Calibri"/>
                        </a:defRPr>
                      </a:pPr>
                      <a:r>
                        <a:t>0.75x</a:t>
                      </a:r>
                    </a:p>
                  </a:txBody>
                  <a:tcPr>
                    <a:solidFill>
                      <a:srgbClr val="070913"/>
                    </a:solidFill>
                  </a:tcPr>
                </a:tc>
                <a:tc>
                  <a:txBody>
                    <a:bodyPr/>
                    <a:lstStyle/>
                    <a:p>
                      <a:pPr>
                        <a:defRPr sz="1100">
                          <a:solidFill>
                            <a:srgbClr val="F8FAFC"/>
                          </a:solidFill>
                          <a:latin typeface="Calibri"/>
                        </a:defRPr>
                      </a:pPr>
                      <a:r>
                        <a:t>⚠ Net Extractor (Near Neutral)</a:t>
                      </a:r>
                    </a:p>
                  </a:txBody>
                  <a:tcPr>
                    <a:solidFill>
                      <a:srgbClr val="070913"/>
                    </a:solidFill>
                  </a:tcPr>
                </a:tc>
              </a:tr>
              <a:tr h="571500">
                <a:tc>
                  <a:txBody>
                    <a:bodyPr/>
                    <a:lstStyle/>
                    <a:p>
                      <a:pPr>
                        <a:defRPr sz="1100">
                          <a:solidFill>
                            <a:srgbClr val="F8FAFC"/>
                          </a:solidFill>
                          <a:latin typeface="Calibri"/>
                        </a:defRPr>
                      </a:pPr>
                      <a:r>
                        <a:t>Power Users</a:t>
                      </a:r>
                    </a:p>
                  </a:txBody>
                  <a:tcPr>
                    <a:solidFill>
                      <a:srgbClr val="121629"/>
                    </a:solidFill>
                  </a:tcPr>
                </a:tc>
                <a:tc>
                  <a:txBody>
                    <a:bodyPr/>
                    <a:lstStyle/>
                    <a:p>
                      <a:pPr>
                        <a:defRPr sz="1100">
                          <a:solidFill>
                            <a:srgbClr val="F8FAFC"/>
                          </a:solidFill>
                          <a:latin typeface="Calibri"/>
                        </a:defRPr>
                      </a:pPr>
                      <a:r>
                        <a:t>0.15</a:t>
                      </a:r>
                    </a:p>
                  </a:txBody>
                  <a:tcPr>
                    <a:solidFill>
                      <a:srgbClr val="121629"/>
                    </a:solidFill>
                  </a:tcPr>
                </a:tc>
                <a:tc>
                  <a:txBody>
                    <a:bodyPr/>
                    <a:lstStyle/>
                    <a:p>
                      <a:pPr>
                        <a:defRPr sz="1100">
                          <a:solidFill>
                            <a:srgbClr val="F8FAFC"/>
                          </a:solidFill>
                          <a:latin typeface="Calibri"/>
                        </a:defRPr>
                      </a:pPr>
                      <a:r>
                        <a:t>0.80</a:t>
                      </a:r>
                    </a:p>
                  </a:txBody>
                  <a:tcPr>
                    <a:solidFill>
                      <a:srgbClr val="121629"/>
                    </a:solidFill>
                  </a:tcPr>
                </a:tc>
                <a:tc>
                  <a:txBody>
                    <a:bodyPr/>
                    <a:lstStyle/>
                    <a:p>
                      <a:pPr>
                        <a:defRPr sz="1100">
                          <a:solidFill>
                            <a:srgbClr val="F8FAFC"/>
                          </a:solidFill>
                          <a:latin typeface="Calibri"/>
                        </a:defRPr>
                      </a:pPr>
                      <a:r>
                        <a:t>0.19x</a:t>
                      </a:r>
                    </a:p>
                  </a:txBody>
                  <a:tcPr>
                    <a:solidFill>
                      <a:srgbClr val="121629"/>
                    </a:solidFill>
                  </a:tcPr>
                </a:tc>
                <a:tc>
                  <a:txBody>
                    <a:bodyPr/>
                    <a:lstStyle/>
                    <a:p>
                      <a:pPr>
                        <a:defRPr sz="1100">
                          <a:solidFill>
                            <a:srgbClr val="F8FAFC"/>
                          </a:solidFill>
                          <a:latin typeface="Calibri"/>
                        </a:defRPr>
                      </a:pPr>
                      <a:r>
                        <a:t>✓ Net Contributor (Highly Productive)</a:t>
                      </a:r>
                    </a:p>
                  </a:txBody>
                  <a:tcPr>
                    <a:solidFill>
                      <a:srgbClr val="121629"/>
                    </a:solidFill>
                  </a:tcPr>
                </a:tc>
              </a:tr>
            </a:tbl>
          </a:graphicData>
        </a:graphic>
      </p:graphicFrame>
      <p:sp>
        <p:nvSpPr>
          <p:cNvPr id="5" name="TextBox 4"/>
          <p:cNvSpPr txBox="1"/>
          <p:nvPr/>
        </p:nvSpPr>
        <p:spPr>
          <a:xfrm>
            <a:off x="731520" y="4206240"/>
            <a:ext cx="10515600" cy="2103120"/>
          </a:xfrm>
          <a:prstGeom prst="rect">
            <a:avLst/>
          </a:prstGeom>
          <a:noFill/>
        </p:spPr>
        <p:txBody>
          <a:bodyPr wrap="square">
            <a:spAutoFit/>
          </a:bodyPr>
          <a:lstStyle/>
          <a:p>
            <a:pPr>
              <a:spcAft>
                <a:spcPts val="800"/>
              </a:spcAft>
              <a:defRPr sz="1400">
                <a:solidFill>
                  <a:srgbClr val="F8FAFC"/>
                </a:solidFill>
                <a:latin typeface="Calibri"/>
              </a:defRPr>
            </a:pPr>
            <a:r>
              <a:t>✦  The system's structural balance relies on Power Users having a high spend rate (80%) relative to settlement.</a:t>
            </a:r>
          </a:p>
          <a:p>
            <a:pPr>
              <a:spcAft>
                <a:spcPts val="800"/>
              </a:spcAft>
              <a:defRPr sz="1400">
                <a:solidFill>
                  <a:srgbClr val="F8FAFC"/>
                </a:solidFill>
                <a:latin typeface="Calibri"/>
              </a:defRPr>
            </a:pPr>
            <a:r>
              <a:t>✦  If Passive Viewer population share exceeds 65% of the total ecosystem, reserves face aggressive long-term decay.</a:t>
            </a:r>
          </a:p>
          <a:p>
            <a:pPr>
              <a:spcAft>
                <a:spcPts val="800"/>
              </a:spcAft>
              <a:defRPr sz="1400">
                <a:solidFill>
                  <a:srgbClr val="F8FAFC"/>
                </a:solidFill>
                <a:latin typeface="Calibri"/>
              </a:defRPr>
            </a:pPr>
            <a:r>
              <a:t>✦  Solution: Tied settlement friction dynamically scales up for accounts exhibiting net-extraction profiles.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913"/>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Trebuchet MS"/>
              </a:defRPr>
            </a:pPr>
            <a:r>
              <a:t>Strategic Design Rules</a:t>
            </a:r>
          </a:p>
        </p:txBody>
      </p:sp>
      <p:sp>
        <p:nvSpPr>
          <p:cNvPr id="3" name="TextBox 2"/>
          <p:cNvSpPr txBox="1"/>
          <p:nvPr/>
        </p:nvSpPr>
        <p:spPr>
          <a:xfrm>
            <a:off x="731520" y="1371600"/>
            <a:ext cx="10515600" cy="4572000"/>
          </a:xfrm>
          <a:prstGeom prst="rect">
            <a:avLst/>
          </a:prstGeom>
          <a:noFill/>
        </p:spPr>
        <p:txBody>
          <a:bodyPr wrap="square">
            <a:spAutoFit/>
          </a:bodyPr>
          <a:lstStyle/>
          <a:p>
            <a:pPr>
              <a:spcAft>
                <a:spcPts val="800"/>
              </a:spcAft>
              <a:defRPr sz="1700">
                <a:solidFill>
                  <a:srgbClr val="F8FAFC"/>
                </a:solidFill>
                <a:latin typeface="Calibri"/>
              </a:defRPr>
            </a:pPr>
            <a:r>
              <a:t>✦  Calibrate Pool Fee Recovery Aggressively: Quick adjustment of AMM modifiers is 3x more effective than adjusting global caps.</a:t>
            </a:r>
          </a:p>
          <a:p>
            <a:pPr>
              <a:spcAft>
                <a:spcPts val="800"/>
              </a:spcAft>
              <a:defRPr sz="1700">
                <a:solidFill>
                  <a:srgbClr val="F8FAFC"/>
                </a:solidFill>
                <a:latin typeface="Calibri"/>
              </a:defRPr>
            </a:pPr>
            <a:r>
              <a:t>✦  Maintain Conservative Initial Reserves: Inflated initial backing reduces proportional top-up efficiency (denominator effect).</a:t>
            </a:r>
          </a:p>
          <a:p>
            <a:pPr>
              <a:spcAft>
                <a:spcPts val="800"/>
              </a:spcAft>
              <a:defRPr sz="1700">
                <a:solidFill>
                  <a:srgbClr val="F8FAFC"/>
                </a:solidFill>
                <a:latin typeface="Calibri"/>
              </a:defRPr>
            </a:pPr>
            <a:r>
              <a:t>✦  Defend the 1% Brand Inflow Floor: Below 1% of AR brand inflow per epoch, reserve stability collapses in all trials.</a:t>
            </a:r>
          </a:p>
          <a:p>
            <a:pPr>
              <a:spcAft>
                <a:spcPts val="800"/>
              </a:spcAft>
              <a:defRPr sz="1700">
                <a:solidFill>
                  <a:srgbClr val="F8FAFC"/>
                </a:solidFill>
                <a:latin typeface="Calibri"/>
              </a:defRPr>
            </a:pPr>
            <a:r>
              <a:t>✦  Codify Constitutional Floor Guards: Enforce the 25% AR floor at the smart-contract level, completely bypassing governance votes.</a:t>
            </a:r>
          </a:p>
          <a:p>
            <a:pPr>
              <a:spcAft>
                <a:spcPts val="800"/>
              </a:spcAft>
              <a:defRPr sz="1700">
                <a:solidFill>
                  <a:srgbClr val="F8FAFC"/>
                </a:solidFill>
                <a:latin typeface="Calibri"/>
              </a:defRPr>
            </a:pPr>
            <a:r>
              <a:t>✦  Implement Z1P Dynamic Staking: Introduce high yield staking buffers during low spot-price cycles to lock circulating float.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913"/>
        </a:solidFill>
        <a:effectLst/>
      </p:bgPr>
    </p:bg>
    <p:spTree>
      <p:nvGrpSpPr>
        <p:cNvPr id="1" name=""/>
        <p:cNvGrpSpPr/>
        <p:nvPr/>
      </p:nvGrpSpPr>
      <p:grpSpPr/>
      <p:sp>
        <p:nvSpPr>
          <p:cNvPr id="2" name="Rounded Rectangle 1"/>
          <p:cNvSpPr/>
          <p:nvPr/>
        </p:nvSpPr>
        <p:spPr>
          <a:xfrm>
            <a:off x="457200" y="457200"/>
            <a:ext cx="11247120" cy="5943600"/>
          </a:xfrm>
          <a:prstGeom prst="roundRect">
            <a:avLst/>
          </a:prstGeom>
          <a:solidFill>
            <a:srgbClr val="121629"/>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32720" cy="731520"/>
          </a:xfrm>
          <a:prstGeom prst="rect">
            <a:avLst/>
          </a:prstGeom>
          <a:noFill/>
        </p:spPr>
        <p:txBody>
          <a:bodyPr wrap="square">
            <a:spAutoFit/>
          </a:bodyPr>
          <a:lstStyle/>
          <a:p>
            <a:pPr algn="l">
              <a:defRPr sz="3600" b="1">
                <a:solidFill>
                  <a:srgbClr val="10B981"/>
                </a:solidFill>
                <a:latin typeface="Trebuchet MS"/>
              </a:defRPr>
            </a:pPr>
            <a:r>
              <a:t>Simulation Verdict: PROMOTION APPROVED</a:t>
            </a:r>
          </a:p>
        </p:txBody>
      </p:sp>
      <p:sp>
        <p:nvSpPr>
          <p:cNvPr id="4" name="TextBox 3"/>
          <p:cNvSpPr txBox="1"/>
          <p:nvPr/>
        </p:nvSpPr>
        <p:spPr>
          <a:xfrm>
            <a:off x="914400" y="2011680"/>
            <a:ext cx="10332720" cy="1371600"/>
          </a:xfrm>
          <a:prstGeom prst="rect">
            <a:avLst/>
          </a:prstGeom>
          <a:noFill/>
        </p:spPr>
        <p:txBody>
          <a:bodyPr wrap="square">
            <a:spAutoFit/>
          </a:bodyPr>
          <a:lstStyle/>
          <a:p>
            <a:pPr algn="l">
              <a:defRPr sz="1800" b="0">
                <a:solidFill>
                  <a:srgbClr val="F8FAFC"/>
                </a:solidFill>
                <a:latin typeface="Trebuchet MS"/>
              </a:defRPr>
            </a:pPr>
            <a:r>
              <a:t>The median final Audience Reserve ratio is 234.50% (well above the 30% collapse threshold), demonstrating high resilience under severe stress. Model M3 has successfully cleared all economic validation gates.</a:t>
            </a:r>
          </a:p>
        </p:txBody>
      </p:sp>
      <p:sp>
        <p:nvSpPr>
          <p:cNvPr id="5" name="Rounded Rectangle 4"/>
          <p:cNvSpPr/>
          <p:nvPr/>
        </p:nvSpPr>
        <p:spPr>
          <a:xfrm>
            <a:off x="914400" y="3840480"/>
            <a:ext cx="5486400" cy="1645920"/>
          </a:xfrm>
          <a:prstGeom prst="roundRect">
            <a:avLst/>
          </a:prstGeom>
          <a:solidFill>
            <a:srgbClr val="070913"/>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4023360"/>
            <a:ext cx="5120640" cy="1280160"/>
          </a:xfrm>
          <a:prstGeom prst="rect">
            <a:avLst/>
          </a:prstGeom>
          <a:noFill/>
        </p:spPr>
        <p:txBody>
          <a:bodyPr wrap="square">
            <a:spAutoFit/>
          </a:bodyPr>
          <a:lstStyle/>
          <a:p>
            <a:pPr algn="l">
              <a:defRPr sz="1100" b="1">
                <a:solidFill>
                  <a:srgbClr val="A855F7"/>
                </a:solidFill>
                <a:latin typeface="Trebuchet MS"/>
              </a:defRPr>
            </a:pPr>
            <a:r>
              <a:t>VERIFICATION STAMP:</a:t>
            </a:r>
            <a:br/>
            <a:r>
              <a:t>[VERIFIED_Z1_M3_MONTE_CARLO]</a:t>
            </a:r>
            <a:br/>
            <a:r>
              <a:t>Double-entry Balance: 100% Invariant Compliant</a:t>
            </a:r>
            <a:br/>
            <a:r>
              <a:t>No temporal leakage detected.</a:t>
            </a:r>
          </a:p>
        </p:txBody>
      </p:sp>
      <p:sp>
        <p:nvSpPr>
          <p:cNvPr id="7" name="TextBox 6"/>
          <p:cNvSpPr txBox="1"/>
          <p:nvPr/>
        </p:nvSpPr>
        <p:spPr>
          <a:xfrm>
            <a:off x="6858000" y="3840480"/>
            <a:ext cx="4389120" cy="1645920"/>
          </a:xfrm>
          <a:prstGeom prst="rect">
            <a:avLst/>
          </a:prstGeom>
          <a:noFill/>
        </p:spPr>
        <p:txBody>
          <a:bodyPr wrap="square">
            <a:spAutoFit/>
          </a:bodyPr>
          <a:lstStyle/>
          <a:p>
            <a:pPr algn="l">
              <a:defRPr sz="1000" b="0">
                <a:solidFill>
                  <a:srgbClr val="94A3B8"/>
                </a:solidFill>
                <a:latin typeface="Trebuchet MS"/>
              </a:defRPr>
            </a:pPr>
            <a:r>
              <a:t>Disclaimer: This simulation is designed strictly for protocol parameter tuning and economic research. It does not constitute investment or financial advice.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